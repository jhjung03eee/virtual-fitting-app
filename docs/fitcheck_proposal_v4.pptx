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7" r:id="rId6"/>
    <p:sldId id="262" r:id="rId7"/>
    <p:sldId id="264" r:id="rId8"/>
    <p:sldId id="274" r:id="rId9"/>
    <p:sldId id="278" r:id="rId10"/>
    <p:sldId id="263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6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15초  ·  누적 0:16]</a:t>
            </a:r>
          </a:p>
          <a:p>
            <a:endParaRPr/>
          </a:p>
          <a:p>
            <a:r>
              <a:t>안녕하십니까. 사이즈 정보를 반영한 가상 피팅 앱, FitCheck을 제안하는 [팀명]입니다. 온라인에서 옷을 살 때 겪는 사이즈 문제를 가상 피팅과 사이즈 추천으로 풀어보려고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30초  ·  누적 0:45]</a:t>
            </a:r>
          </a:p>
          <a:p>
            <a:endParaRPr/>
          </a:p>
          <a:p>
            <a:r>
              <a:t>먼저 제 이야기로 시작하겠습니다.</a:t>
            </a:r>
          </a:p>
          <a:p>
            <a:endParaRPr/>
          </a:p>
          <a:p>
            <a:r>
              <a:t>저는 옷을 주로 무신사에서 삽니다. 그런데 막상 받아 보면 사이즈나 핏이 저와 맞지 않아서 환불한 경험이 정말 많았습니다. 그때마다 돈도 시간도 아깝다는 생각이 들었습니다.</a:t>
            </a:r>
          </a:p>
          <a:p>
            <a:endParaRPr/>
          </a:p>
          <a:p>
            <a:r>
              <a:t>화면으로만 보고 고른 옷은 받아 보기 전까지 어떻게 맞을지 알 수 없습니다. 그리고 이건 저만의 문제가 아니었습니다.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[약 40초  ·  </a:t>
            </a:r>
            <a:r>
              <a:rPr dirty="0" err="1"/>
              <a:t>누적</a:t>
            </a:r>
            <a:r>
              <a:rPr dirty="0"/>
              <a:t> 1:25]</a:t>
            </a:r>
          </a:p>
          <a:p>
            <a:endParaRPr dirty="0"/>
          </a:p>
          <a:p>
            <a:r>
              <a:rPr dirty="0" err="1"/>
              <a:t>온라인에서는</a:t>
            </a:r>
            <a:r>
              <a:rPr dirty="0"/>
              <a:t> </a:t>
            </a:r>
            <a:r>
              <a:rPr dirty="0" err="1"/>
              <a:t>옷을</a:t>
            </a:r>
            <a:r>
              <a:rPr dirty="0"/>
              <a:t> </a:t>
            </a:r>
            <a:r>
              <a:rPr dirty="0" err="1"/>
              <a:t>입어볼</a:t>
            </a:r>
            <a:r>
              <a:rPr dirty="0"/>
              <a:t> 수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반품이</a:t>
            </a:r>
            <a:r>
              <a:rPr dirty="0"/>
              <a:t> </a:t>
            </a:r>
            <a:r>
              <a:rPr dirty="0" err="1"/>
              <a:t>생기는데</a:t>
            </a:r>
            <a:r>
              <a:rPr dirty="0"/>
              <a:t>, 그 1순위 </a:t>
            </a:r>
            <a:r>
              <a:rPr dirty="0" err="1"/>
              <a:t>원인이</a:t>
            </a:r>
            <a:r>
              <a:rPr dirty="0"/>
              <a:t> </a:t>
            </a:r>
            <a:r>
              <a:rPr dirty="0" err="1"/>
              <a:t>사이즈입니다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조사에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사이즈와</a:t>
            </a:r>
            <a:r>
              <a:rPr dirty="0"/>
              <a:t> </a:t>
            </a:r>
            <a:r>
              <a:rPr dirty="0" err="1"/>
              <a:t>핏이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</a:t>
            </a:r>
            <a:r>
              <a:rPr dirty="0" err="1"/>
              <a:t>사유의</a:t>
            </a:r>
            <a:r>
              <a:rPr dirty="0"/>
              <a:t> 45에서 53퍼센트를 </a:t>
            </a:r>
            <a:r>
              <a:rPr dirty="0" err="1"/>
              <a:t>차지합니다</a:t>
            </a:r>
            <a:r>
              <a:rPr dirty="0"/>
              <a:t>. 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연구에서도</a:t>
            </a:r>
            <a:r>
              <a:rPr dirty="0"/>
              <a:t> </a:t>
            </a:r>
            <a:r>
              <a:rPr dirty="0" err="1"/>
              <a:t>화면에서</a:t>
            </a:r>
            <a:r>
              <a:rPr dirty="0"/>
              <a:t> 본 </a:t>
            </a:r>
            <a:r>
              <a:rPr dirty="0" err="1"/>
              <a:t>사이즈와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치수의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</a:t>
            </a:r>
            <a:r>
              <a:rPr dirty="0" err="1"/>
              <a:t>사유로</a:t>
            </a:r>
            <a:r>
              <a:rPr dirty="0"/>
              <a:t> </a:t>
            </a:r>
            <a:r>
              <a:rPr dirty="0" err="1"/>
              <a:t>보고됐습니다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규모도</a:t>
            </a:r>
            <a:r>
              <a:rPr dirty="0"/>
              <a:t> </a:t>
            </a:r>
            <a:r>
              <a:rPr dirty="0" err="1"/>
              <a:t>큽니다</a:t>
            </a:r>
            <a:r>
              <a:rPr dirty="0"/>
              <a:t>. </a:t>
            </a: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패션의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반품률은</a:t>
            </a:r>
            <a:r>
              <a:rPr dirty="0"/>
              <a:t> 30퍼센트 </a:t>
            </a:r>
            <a:r>
              <a:rPr dirty="0" err="1"/>
              <a:t>수준으로</a:t>
            </a:r>
            <a:r>
              <a:rPr dirty="0"/>
              <a:t> </a:t>
            </a:r>
            <a:r>
              <a:rPr dirty="0" err="1"/>
              <a:t>오프라인</a:t>
            </a:r>
            <a:r>
              <a:rPr dirty="0"/>
              <a:t> </a:t>
            </a:r>
            <a:r>
              <a:rPr dirty="0" err="1"/>
              <a:t>매장의</a:t>
            </a:r>
            <a:r>
              <a:rPr dirty="0"/>
              <a:t> 세 </a:t>
            </a:r>
            <a:r>
              <a:rPr dirty="0" err="1"/>
              <a:t>배가</a:t>
            </a:r>
            <a:r>
              <a:rPr dirty="0"/>
              <a:t> </a:t>
            </a:r>
            <a:r>
              <a:rPr dirty="0" err="1"/>
              <a:t>넘고</a:t>
            </a:r>
            <a:r>
              <a:rPr dirty="0"/>
              <a:t>, 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이커머스에서</a:t>
            </a:r>
            <a:r>
              <a:rPr dirty="0"/>
              <a:t> </a:t>
            </a:r>
            <a:r>
              <a:rPr dirty="0" err="1"/>
              <a:t>반품을</a:t>
            </a:r>
            <a:r>
              <a:rPr dirty="0"/>
              <a:t>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데만</a:t>
            </a:r>
            <a:r>
              <a:rPr dirty="0"/>
              <a:t> 한 해 4조 </a:t>
            </a:r>
            <a:r>
              <a:rPr dirty="0" err="1"/>
              <a:t>원대의</a:t>
            </a:r>
            <a:r>
              <a:rPr dirty="0"/>
              <a:t> </a:t>
            </a:r>
            <a:r>
              <a:rPr dirty="0" err="1"/>
              <a:t>비용이</a:t>
            </a:r>
            <a:r>
              <a:rPr dirty="0"/>
              <a:t> </a:t>
            </a:r>
            <a:r>
              <a:rPr dirty="0" err="1"/>
              <a:t>드는</a:t>
            </a:r>
            <a:r>
              <a:rPr dirty="0"/>
              <a:t> </a:t>
            </a:r>
            <a:r>
              <a:rPr dirty="0" err="1"/>
              <a:t>것으로</a:t>
            </a:r>
            <a:r>
              <a:rPr dirty="0"/>
              <a:t> </a:t>
            </a:r>
            <a:r>
              <a:rPr dirty="0" err="1"/>
              <a:t>추정됩니다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--- </a:t>
            </a:r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---</a:t>
            </a:r>
          </a:p>
          <a:p>
            <a:r>
              <a:rPr dirty="0"/>
              <a:t>· 45~53%의 </a:t>
            </a:r>
            <a:r>
              <a:rPr dirty="0" err="1"/>
              <a:t>출처</a:t>
            </a:r>
            <a:r>
              <a:rPr dirty="0"/>
              <a:t> → 45%는 </a:t>
            </a:r>
            <a:r>
              <a:rPr dirty="0" err="1"/>
              <a:t>Narvar</a:t>
            </a:r>
            <a:r>
              <a:rPr dirty="0"/>
              <a:t> </a:t>
            </a:r>
            <a:r>
              <a:rPr dirty="0" err="1"/>
              <a:t>소비자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(</a:t>
            </a:r>
            <a:r>
              <a:rPr dirty="0" err="1"/>
              <a:t>물류신문</a:t>
            </a:r>
            <a:r>
              <a:rPr dirty="0"/>
              <a:t> 2024 </a:t>
            </a:r>
            <a:r>
              <a:rPr dirty="0" err="1"/>
              <a:t>인용</a:t>
            </a:r>
            <a:r>
              <a:rPr dirty="0"/>
              <a:t>)</a:t>
            </a:r>
            <a:r>
              <a:rPr dirty="0" err="1"/>
              <a:t>인데</a:t>
            </a:r>
            <a:r>
              <a:rPr dirty="0"/>
              <a:t> </a:t>
            </a:r>
            <a:r>
              <a:rPr dirty="0" err="1"/>
              <a:t>사이즈·핏에</a:t>
            </a:r>
            <a:r>
              <a:rPr dirty="0"/>
              <a:t> </a:t>
            </a:r>
            <a:r>
              <a:rPr dirty="0" err="1"/>
              <a:t>색상이</a:t>
            </a:r>
            <a:r>
              <a:rPr dirty="0"/>
              <a:t> </a:t>
            </a:r>
            <a:r>
              <a:rPr dirty="0" err="1"/>
              <a:t>포함된</a:t>
            </a:r>
            <a:r>
              <a:rPr dirty="0"/>
              <a:t> </a:t>
            </a:r>
            <a:r>
              <a:rPr dirty="0" err="1"/>
              <a:t>수치이고</a:t>
            </a:r>
            <a:r>
              <a:rPr dirty="0"/>
              <a:t>, 53%는 </a:t>
            </a:r>
            <a:r>
              <a:rPr dirty="0" err="1"/>
              <a:t>의류</a:t>
            </a:r>
            <a:r>
              <a:rPr dirty="0"/>
              <a:t> </a:t>
            </a:r>
            <a:r>
              <a:rPr dirty="0" err="1"/>
              <a:t>판매자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(</a:t>
            </a:r>
            <a:r>
              <a:rPr dirty="0" err="1"/>
              <a:t>Coresight</a:t>
            </a:r>
            <a:r>
              <a:rPr dirty="0"/>
              <a:t> Research 2023)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조사</a:t>
            </a:r>
            <a:r>
              <a:rPr dirty="0"/>
              <a:t> </a:t>
            </a:r>
            <a:r>
              <a:rPr dirty="0" err="1"/>
              <a:t>대상과</a:t>
            </a:r>
            <a:r>
              <a:rPr dirty="0"/>
              <a:t> </a:t>
            </a:r>
            <a:r>
              <a:rPr dirty="0" err="1"/>
              <a:t>정의가</a:t>
            </a:r>
            <a:r>
              <a:rPr dirty="0"/>
              <a:t> </a:t>
            </a:r>
            <a:r>
              <a:rPr dirty="0" err="1"/>
              <a:t>달라</a:t>
            </a:r>
            <a:r>
              <a:rPr dirty="0"/>
              <a:t> </a:t>
            </a:r>
            <a:r>
              <a:rPr dirty="0" err="1"/>
              <a:t>범위로</a:t>
            </a:r>
            <a:r>
              <a:rPr dirty="0"/>
              <a:t> </a:t>
            </a:r>
            <a:r>
              <a:rPr dirty="0" err="1"/>
              <a:t>제시했습니다</a:t>
            </a:r>
            <a:r>
              <a:rPr dirty="0"/>
              <a:t>.</a:t>
            </a:r>
          </a:p>
          <a:p>
            <a:r>
              <a:rPr dirty="0"/>
              <a:t>· 더 </a:t>
            </a:r>
            <a:r>
              <a:rPr dirty="0" err="1"/>
              <a:t>권위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수치가</a:t>
            </a:r>
            <a:r>
              <a:rPr dirty="0"/>
              <a:t> </a:t>
            </a:r>
            <a:r>
              <a:rPr dirty="0" err="1"/>
              <a:t>필요하면</a:t>
            </a:r>
            <a:r>
              <a:rPr dirty="0"/>
              <a:t> → </a:t>
            </a:r>
            <a:r>
              <a:rPr dirty="0" err="1"/>
              <a:t>미국소매협회</a:t>
            </a:r>
            <a:r>
              <a:rPr dirty="0"/>
              <a:t>(NRF)는 2025년 </a:t>
            </a: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판매의</a:t>
            </a:r>
            <a:r>
              <a:rPr dirty="0"/>
              <a:t> 19.3%가 </a:t>
            </a:r>
            <a:r>
              <a:rPr dirty="0" err="1"/>
              <a:t>반품될</a:t>
            </a:r>
            <a:r>
              <a:rPr dirty="0"/>
              <a:t> </a:t>
            </a:r>
            <a:r>
              <a:rPr dirty="0" err="1"/>
              <a:t>것으로</a:t>
            </a:r>
            <a:r>
              <a:rPr dirty="0"/>
              <a:t> </a:t>
            </a:r>
            <a:r>
              <a:rPr dirty="0" err="1"/>
              <a:t>전망했습니다</a:t>
            </a:r>
            <a:r>
              <a:rPr dirty="0"/>
              <a:t>(전 </a:t>
            </a:r>
            <a:r>
              <a:rPr dirty="0" err="1"/>
              <a:t>품목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).</a:t>
            </a:r>
          </a:p>
          <a:p>
            <a:r>
              <a:rPr dirty="0"/>
              <a:t>· 4조 </a:t>
            </a:r>
            <a:r>
              <a:rPr dirty="0" err="1"/>
              <a:t>원은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나온</a:t>
            </a:r>
            <a:r>
              <a:rPr dirty="0"/>
              <a:t> </a:t>
            </a:r>
            <a:r>
              <a:rPr dirty="0" err="1"/>
              <a:t>숫자인가</a:t>
            </a:r>
            <a:r>
              <a:rPr dirty="0"/>
              <a:t> →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통계가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언론</a:t>
            </a:r>
            <a:r>
              <a:rPr dirty="0"/>
              <a:t> </a:t>
            </a:r>
            <a:r>
              <a:rPr dirty="0" err="1"/>
              <a:t>추정치입니다</a:t>
            </a:r>
            <a:r>
              <a:rPr dirty="0"/>
              <a:t>. 2023년 </a:t>
            </a:r>
            <a:r>
              <a:rPr dirty="0" err="1"/>
              <a:t>택배</a:t>
            </a:r>
            <a:r>
              <a:rPr dirty="0"/>
              <a:t> </a:t>
            </a:r>
            <a:r>
              <a:rPr dirty="0" err="1"/>
              <a:t>물량</a:t>
            </a:r>
            <a:r>
              <a:rPr dirty="0"/>
              <a:t> 46억여 </a:t>
            </a:r>
            <a:r>
              <a:rPr dirty="0" err="1"/>
              <a:t>건에</a:t>
            </a:r>
            <a:r>
              <a:rPr dirty="0"/>
              <a:t> </a:t>
            </a:r>
            <a:r>
              <a:rPr dirty="0" err="1"/>
              <a:t>이커머스</a:t>
            </a:r>
            <a:r>
              <a:rPr dirty="0"/>
              <a:t> </a:t>
            </a:r>
            <a:r>
              <a:rPr dirty="0" err="1"/>
              <a:t>반품률</a:t>
            </a:r>
            <a:r>
              <a:rPr dirty="0"/>
              <a:t> 20%를 </a:t>
            </a:r>
            <a:r>
              <a:rPr dirty="0" err="1"/>
              <a:t>곱해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약 9억 3천만 </a:t>
            </a:r>
            <a:r>
              <a:rPr dirty="0" err="1"/>
              <a:t>건을</a:t>
            </a:r>
            <a:r>
              <a:rPr dirty="0"/>
              <a:t> </a:t>
            </a:r>
            <a:r>
              <a:rPr dirty="0" err="1"/>
              <a:t>잡고</a:t>
            </a:r>
            <a:r>
              <a:rPr dirty="0"/>
              <a:t> </a:t>
            </a:r>
            <a:r>
              <a:rPr dirty="0" err="1"/>
              <a:t>비용을</a:t>
            </a:r>
            <a:r>
              <a:rPr dirty="0"/>
              <a:t> </a:t>
            </a:r>
            <a:r>
              <a:rPr dirty="0" err="1"/>
              <a:t>추산했습니다</a:t>
            </a:r>
            <a:r>
              <a:rPr dirty="0"/>
              <a:t>.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금액보다</a:t>
            </a:r>
            <a:r>
              <a:rPr dirty="0"/>
              <a:t> "</a:t>
            </a:r>
            <a:r>
              <a:rPr dirty="0" err="1"/>
              <a:t>수조</a:t>
            </a:r>
            <a:r>
              <a:rPr dirty="0"/>
              <a:t> </a:t>
            </a:r>
            <a:r>
              <a:rPr dirty="0" err="1"/>
              <a:t>원대"라는</a:t>
            </a:r>
            <a:r>
              <a:rPr dirty="0"/>
              <a:t> </a:t>
            </a:r>
            <a:r>
              <a:rPr dirty="0" err="1"/>
              <a:t>규모를</a:t>
            </a:r>
            <a:r>
              <a:rPr dirty="0"/>
              <a:t> </a:t>
            </a:r>
            <a:r>
              <a:rPr dirty="0" err="1"/>
              <a:t>보여</a:t>
            </a:r>
            <a:r>
              <a:rPr dirty="0"/>
              <a:t> </a:t>
            </a:r>
            <a:r>
              <a:rPr dirty="0" err="1"/>
              <a:t>드리려는</a:t>
            </a:r>
            <a:r>
              <a:rPr dirty="0"/>
              <a:t> </a:t>
            </a:r>
            <a:r>
              <a:rPr dirty="0" err="1"/>
              <a:t>숫자입니다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2:00]</a:t>
            </a:r>
          </a:p>
          <a:p>
            <a:endParaRPr/>
          </a:p>
          <a:p>
            <a:r>
              <a:t>그래서 저희가 제안하는 것이 FitCheck입니다. 입어보기 전에, 어울리는지 그리고 맞는지까지 함께 확인하게 하는 앱입니다.</a:t>
            </a:r>
          </a:p>
          <a:p>
            <a:endParaRPr/>
          </a:p>
          <a:p>
            <a:r>
              <a:t>기능은 두 가지입니다. 하나는 가상 착용 이미지로, 내 사진에 옷을 합성해 어울리는지 먼저 봅니다. 다른 하나는 사이즈 추천으로, 신체 치수와 옷 치수표를 비교해 맞는 사이즈를 알려 줍니다.</a:t>
            </a:r>
          </a:p>
          <a:p>
            <a:endParaRPr/>
          </a:p>
          <a:p>
            <a:r>
              <a:t>기존 가상 피팅이 입은 모습만 보여 줬다면, 저희는 사이즈까지 함께 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[약 35초  ·  </a:t>
            </a:r>
            <a:r>
              <a:rPr dirty="0" err="1"/>
              <a:t>누적</a:t>
            </a:r>
            <a:r>
              <a:rPr dirty="0"/>
              <a:t> 3:00]</a:t>
            </a:r>
          </a:p>
          <a:p>
            <a:endParaRPr dirty="0"/>
          </a:p>
          <a:p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만드는지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흐름입니다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입력은</a:t>
            </a:r>
            <a:r>
              <a:rPr dirty="0"/>
              <a:t> </a:t>
            </a: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전신</a:t>
            </a:r>
            <a:r>
              <a:rPr dirty="0"/>
              <a:t> </a:t>
            </a:r>
            <a:r>
              <a:rPr dirty="0" err="1"/>
              <a:t>사진과</a:t>
            </a:r>
            <a:r>
              <a:rPr dirty="0"/>
              <a:t> </a:t>
            </a:r>
            <a:r>
              <a:rPr dirty="0" err="1"/>
              <a:t>신체</a:t>
            </a:r>
            <a:r>
              <a:rPr dirty="0"/>
              <a:t> </a:t>
            </a:r>
            <a:r>
              <a:rPr dirty="0" err="1"/>
              <a:t>치수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옷의</a:t>
            </a:r>
            <a:r>
              <a:rPr dirty="0"/>
              <a:t>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이미지와</a:t>
            </a:r>
            <a:r>
              <a:rPr dirty="0"/>
              <a:t> </a:t>
            </a:r>
            <a:r>
              <a:rPr dirty="0" err="1"/>
              <a:t>치수표입니다</a:t>
            </a:r>
            <a:r>
              <a:rPr dirty="0"/>
              <a:t>.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단계에서는</a:t>
            </a:r>
            <a:r>
              <a:rPr dirty="0"/>
              <a:t> AI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합성으로</a:t>
            </a:r>
            <a:r>
              <a:rPr dirty="0"/>
              <a:t> </a:t>
            </a:r>
            <a:r>
              <a:rPr dirty="0" err="1"/>
              <a:t>착용</a:t>
            </a:r>
            <a:r>
              <a:rPr dirty="0"/>
              <a:t> </a:t>
            </a:r>
            <a:r>
              <a:rPr dirty="0" err="1"/>
              <a:t>모습을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,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신체와</a:t>
            </a:r>
            <a:r>
              <a:rPr dirty="0"/>
              <a:t> 옷 </a:t>
            </a:r>
            <a:r>
              <a:rPr dirty="0" err="1"/>
              <a:t>치수의</a:t>
            </a:r>
            <a:r>
              <a:rPr dirty="0"/>
              <a:t> </a:t>
            </a:r>
            <a:r>
              <a:rPr dirty="0" err="1"/>
              <a:t>차이인</a:t>
            </a:r>
            <a:r>
              <a:rPr dirty="0"/>
              <a:t> </a:t>
            </a:r>
            <a:r>
              <a:rPr dirty="0" err="1"/>
              <a:t>여유분을</a:t>
            </a:r>
            <a:r>
              <a:rPr dirty="0"/>
              <a:t> </a:t>
            </a:r>
            <a:r>
              <a:rPr dirty="0" err="1"/>
              <a:t>계산합니다</a:t>
            </a:r>
            <a:r>
              <a:rPr dirty="0"/>
              <a:t>. </a:t>
            </a:r>
            <a:r>
              <a:rPr dirty="0" err="1"/>
              <a:t>출력은</a:t>
            </a:r>
            <a:r>
              <a:rPr dirty="0"/>
              <a:t> </a:t>
            </a:r>
            <a:r>
              <a:rPr dirty="0" err="1"/>
              <a:t>사이즈별</a:t>
            </a:r>
            <a:r>
              <a:rPr dirty="0"/>
              <a:t> </a:t>
            </a:r>
            <a:r>
              <a:rPr dirty="0" err="1"/>
              <a:t>착용</a:t>
            </a:r>
            <a:r>
              <a:rPr dirty="0"/>
              <a:t> </a:t>
            </a:r>
            <a:r>
              <a:rPr dirty="0" err="1"/>
              <a:t>모습과</a:t>
            </a:r>
            <a:r>
              <a:rPr dirty="0"/>
              <a:t> S·M·L </a:t>
            </a:r>
            <a:r>
              <a:rPr dirty="0" err="1"/>
              <a:t>추천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그 </a:t>
            </a:r>
            <a:r>
              <a:rPr dirty="0" err="1"/>
              <a:t>근거입니다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별도의</a:t>
            </a:r>
            <a:r>
              <a:rPr dirty="0"/>
              <a:t> </a:t>
            </a:r>
            <a:r>
              <a:rPr dirty="0" err="1"/>
              <a:t>실측</a:t>
            </a:r>
            <a:r>
              <a:rPr dirty="0"/>
              <a:t> </a:t>
            </a:r>
            <a:r>
              <a:rPr dirty="0" err="1"/>
              <a:t>장비나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, </a:t>
            </a:r>
            <a:r>
              <a:rPr dirty="0" err="1"/>
              <a:t>쇼핑몰이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가진</a:t>
            </a:r>
            <a:r>
              <a:rPr dirty="0"/>
              <a:t> </a:t>
            </a:r>
            <a:r>
              <a:rPr dirty="0" err="1"/>
              <a:t>정보만으로</a:t>
            </a:r>
            <a:r>
              <a:rPr dirty="0"/>
              <a:t> </a:t>
            </a:r>
            <a:r>
              <a:rPr dirty="0" err="1"/>
              <a:t>동작합니다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3:23]</a:t>
            </a:r>
          </a:p>
          <a:p>
            <a:endParaRPr/>
          </a:p>
          <a:p>
            <a:r>
              <a:t>첫 번째 구현은 가상 피팅입니다. 사용자 전신 사진과 옷 이미지 두 장을 받아, 그 사람이 그 옷을 입은 모습을 합성합니다.</a:t>
            </a:r>
          </a:p>
          <a:p>
            <a:endParaRPr/>
          </a:p>
          <a:p>
            <a:r>
              <a:t>상의, 하의, 원피스처럼 카테고리를 고르면 해당 부위만 바꿉니다. 사용자 사진은 조명과 배경이 제각각이라, 촬영 가이드도 함께 제공할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4:24]</a:t>
            </a:r>
          </a:p>
          <a:p>
            <a:endParaRPr/>
          </a:p>
          <a:p>
            <a:r>
              <a:t>두 번째는 사이즈 추천입니다. 키, 어깨너비, 가슴둘레, 허리둘레 중 아는 것만 넣어도 동작합니다.</a:t>
            </a:r>
          </a:p>
          <a:p>
            <a:endParaRPr/>
          </a:p>
          <a:p>
            <a:r>
              <a:t>사용자가 아는 둘레 값과 쇼핑몰 치수표의 단면 값은 기준이 달라서, 앱이 자동으로 변환해 비교합니다. 그다음 여유분을 계산해 S, M, L 중 맞는 사이즈를 추천하고, 어느 부위가 왜 그런지도 함께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2:26]</a:t>
            </a:r>
          </a:p>
          <a:p>
            <a:endParaRPr/>
          </a:p>
          <a:p>
            <a:r>
              <a:t>기대 효과는 세 가지입니다.</a:t>
            </a:r>
          </a:p>
          <a:p>
            <a:endParaRPr/>
          </a:p>
          <a:p>
            <a:r>
              <a:t>소비자는 사기 전에 맞는 사이즈로 입은 모습을 확인해, 사이즈 실패로 인한 반품을 줄일 수 있습니다. 판매 기업은 반품 물류와 재고 비용, 사이즈 문의 응대 부담을 줄일 수 있습니다.</a:t>
            </a:r>
          </a:p>
          <a:p>
            <a:endParaRPr/>
          </a:p>
          <a:p>
            <a:r>
              <a:t>그리고 치수표와 상품 이미지만 있으면 동작하기 때문에, 어떤 상품에도 바로 적용할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35초]</a:t>
            </a:r>
          </a:p>
          <a:p>
            <a:endParaRPr/>
          </a:p>
          <a:p>
            <a:r>
              <a:t>합성에는 diffusion 모델을 씁니다. 왼쪽 그림처럼 노이즈에서 시작해 조금씩 다듬어 사진을 완성하는 AI입니다.</a:t>
            </a:r>
          </a:p>
          <a:p>
            <a:endParaRPr/>
          </a:p>
          <a:p>
            <a:r>
              <a:t>기존 방식과 비교하면, 옷 사진을 늘려 붙이던 예전 방식보다 주름이나 그림자가 훨씬 자연스럽고, 흰 배경 스튜디오 사진이 아닌 휴대폰 사진에서도 비교적 안정적입니다.</a:t>
            </a:r>
          </a:p>
          <a:p>
            <a:endParaRPr/>
          </a:p>
          <a:p>
            <a:r>
              <a:t>대신 속도는 느린데, 여러 장을 만들어 가장 자연스러운 한 장을 고르는 방식으로 보완합니다.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50초]</a:t>
            </a:r>
          </a:p>
          <a:p>
            <a:endParaRPr/>
          </a:p>
          <a:p>
            <a:r>
              <a:t>합성 모델은 네 후보를 같은 조건에서 비교해 고릅니다. 세 개는 diffusion 모델이고, 마지막 HR-VITON은 비교를 위해 넣은 GAN 모델입니다.</a:t>
            </a:r>
          </a:p>
          <a:p>
            <a:endParaRPr/>
          </a:p>
          <a:p>
            <a:r>
              <a:t>CatVTON은 2024년에 공개돼 ICLR에 채택됐고, 가벼워서 적은 메모리로 돌아가지만 작은 프린트가 흐려질 수 있습니다. IDM-VTON은 ECCV 2024 모델로 옷 디테일을 잘 살리지만 무겁습니다.</a:t>
            </a:r>
          </a:p>
          <a:p>
            <a:endParaRPr/>
          </a:p>
          <a:p>
            <a:r>
              <a:t>FASHN VTON은 올해 공개돼 상업적으로 쓸 수 있지만 결과 해상도가 낮고, HR-VITON은 빠르지만 흰 배경 사진 위주로 학습됐습니다.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5:46]</a:t>
            </a:r>
          </a:p>
          <a:p>
            <a:endParaRPr/>
          </a:p>
          <a:p>
            <a:r>
              <a:t>전체 일정입니다.</a:t>
            </a:r>
          </a:p>
          <a:p>
            <a:endParaRPr/>
          </a:p>
          <a:p>
            <a:r>
              <a:t>9월에 조사와 설계를 하고, 10월까지 모델 비교 실험을 마칩니다. 10월 중순부터는 품질 개선과 사이즈 추천 구현을 함께 진행합니다. 11월 초 중간발표에서 각 기능이 동작하는 모습을 보여 드리고, 12월까지 두 기능을 통합해 평가한 뒤 최종발표에서 시연하겠습니다.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15초  ·  누적 6:01]</a:t>
            </a:r>
          </a:p>
          <a:p>
            <a:endParaRPr/>
          </a:p>
          <a:p>
            <a:r>
              <a:t>역할은 AI 합성, 사이즈 추천, 앱 개발, 데이터와 평가 네 갈래로 나눠 동시에 진행합니다. 담당자는 팀 구성이 확정되면 채우고, 품질 판정과 평가는 전원이 함께 참여합니다.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5초  ·  누적 6:06]</a:t>
            </a:r>
          </a:p>
          <a:p>
            <a:endParaRPr/>
          </a:p>
          <a:p>
            <a:r>
              <a:t>이상으로 발표를 마치겠습니다. 감사합니다.</a:t>
            </a:r>
          </a:p>
          <a:p>
            <a:endParaRPr/>
          </a:p>
          <a:p>
            <a:r>
              <a:t>--- 예상 질문 ---</a:t>
            </a:r>
          </a:p>
          <a:p>
            <a:r>
              <a:t>· 가상 피팅 모델을 직접 학습하나? → 아니요. 공개된 사전학습 모델을 비교해 고르고, 사이즈 반영과 두 기능의 연결에 집중합니다.</a:t>
            </a:r>
          </a:p>
          <a:p>
            <a:r>
              <a:t>· 왜 CatVTON이 주력 후보인가? → 학생 팀이 쓸 수 있는 장비로도 돌아가는 가벼운 모델이기 때문입니다. 다만 실험 계획의 판정 기준 결과로 최종 확정합니다.</a:t>
            </a:r>
          </a:p>
          <a:p>
            <a:r>
              <a:t>· 신체 치수를 사진으로 자동 측정하지 않는 이유는? → 정확도를 신뢰하기 어려워 사용자 직접 입력을 기본으로 두고, 자동 측정은 보조 수단으로 검토합니다.</a:t>
            </a:r>
          </a:p>
          <a:p>
            <a:r>
              <a:t>· 치수표 형식이 쇼핑몰마다 다른데? → 항목 이름과 단위를 정규화하는 처리를 두고, 없는 항목은 판정에서 제외합니다.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tcheck_lockup_v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585" y="1234440"/>
            <a:ext cx="2250525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703320"/>
            <a:ext cx="10545775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900" dirty="0">
                <a:solidFill>
                  <a:srgbClr val="FFFFFF"/>
                </a:solidFill>
                <a:latin typeface="Noto Sans KR Light"/>
                <a:ea typeface="Noto Sans KR Light"/>
              </a:rPr>
              <a:t>Diffusion </a:t>
            </a:r>
            <a:r>
              <a:rPr lang="ko-KR" altLang="en-US" sz="2900" dirty="0">
                <a:solidFill>
                  <a:srgbClr val="FFFFFF"/>
                </a:solidFill>
                <a:latin typeface="Noto Sans KR Light"/>
                <a:ea typeface="Noto Sans KR Light"/>
              </a:rPr>
              <a:t>모델 기반 </a:t>
            </a:r>
            <a:r>
              <a:rPr sz="29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가상</a:t>
            </a:r>
            <a:r>
              <a:rPr sz="29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9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피팅</a:t>
            </a:r>
            <a:r>
              <a:rPr sz="2900" dirty="0">
                <a:solidFill>
                  <a:srgbClr val="FFFFFF"/>
                </a:solidFill>
                <a:latin typeface="Noto Sans KR Light"/>
                <a:ea typeface="Noto Sans KR Light"/>
              </a:rPr>
              <a:t>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282635"/>
            <a:ext cx="105457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과제</a:t>
            </a:r>
            <a:r>
              <a:rPr sz="1400" spc="8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계획</a:t>
            </a:r>
            <a:r>
              <a:rPr sz="1400" spc="8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발표</a:t>
            </a:r>
            <a:endParaRPr sz="1400" spc="8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852500"/>
            <a:ext cx="10545775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50" dirty="0">
                <a:solidFill>
                  <a:schemeClr val="bg1"/>
                </a:solidFill>
                <a:latin typeface="Noto Sans KR"/>
                <a:ea typeface="Noto Sans KR"/>
              </a:rPr>
              <a:t>1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조</a:t>
            </a:r>
            <a:endParaRPr lang="en-US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sz="1150" dirty="0">
                <a:solidFill>
                  <a:schemeClr val="bg1"/>
                </a:solidFill>
                <a:latin typeface="Noto Sans KR"/>
                <a:ea typeface="Noto Sans KR"/>
              </a:rPr>
              <a:t>2023315685 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정지훈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altLang="ko-KR" sz="1150" dirty="0">
                <a:solidFill>
                  <a:schemeClr val="bg1"/>
                </a:solidFill>
                <a:latin typeface="Noto Sans KR"/>
                <a:ea typeface="Noto Sans KR"/>
              </a:rPr>
              <a:t>2023315740 </a:t>
            </a:r>
            <a:r>
              <a:rPr lang="ko-KR" altLang="en-US" sz="1150" dirty="0" err="1">
                <a:solidFill>
                  <a:schemeClr val="bg1"/>
                </a:solidFill>
                <a:latin typeface="Noto Sans KR"/>
                <a:ea typeface="Noto Sans KR"/>
              </a:rPr>
              <a:t>이재홍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altLang="ko-KR" sz="1150" dirty="0">
                <a:solidFill>
                  <a:schemeClr val="bg1"/>
                </a:solidFill>
                <a:latin typeface="Noto Sans KR"/>
                <a:ea typeface="Noto Sans KR"/>
              </a:rPr>
              <a:t>2021310416 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이은재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altLang="ko-KR" sz="1150" dirty="0">
                <a:solidFill>
                  <a:schemeClr val="bg1"/>
                </a:solidFill>
                <a:latin typeface="Noto Sans KR"/>
                <a:ea typeface="Noto Sans KR"/>
              </a:rPr>
              <a:t>2023315664 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박정우</a:t>
            </a:r>
            <a:endParaRPr sz="1150" dirty="0">
              <a:solidFill>
                <a:schemeClr val="bg1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size_f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864" y="868680"/>
            <a:ext cx="3935871" cy="5074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개인적 경험에서 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6061264" cy="1576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무신사에서</a:t>
            </a:r>
            <a:r>
              <a:rPr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 산 </a:t>
            </a: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옷을</a:t>
            </a:r>
            <a:endParaRPr sz="42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sz="4200" dirty="0">
                <a:solidFill>
                  <a:srgbClr val="00B050"/>
                </a:solidFill>
                <a:latin typeface="Noto Sans KR Light"/>
                <a:ea typeface="Noto Sans KR Light"/>
              </a:rPr>
              <a:t>또 </a:t>
            </a:r>
            <a:r>
              <a:rPr sz="4200" dirty="0" err="1">
                <a:solidFill>
                  <a:srgbClr val="00B050"/>
                </a:solidFill>
                <a:latin typeface="Noto Sans KR Light"/>
                <a:ea typeface="Noto Sans KR Light"/>
              </a:rPr>
              <a:t>환불했다</a:t>
            </a:r>
            <a:endParaRPr sz="4200" dirty="0">
              <a:solidFill>
                <a:srgbClr val="00B050"/>
              </a:solidFill>
              <a:latin typeface="Noto Sans KR Light"/>
              <a:ea typeface="Noto Sans KR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6061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사이즈도, 핏도 나와 맞지 않았다.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60612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FFFFFF"/>
                </a:solidFill>
                <a:latin typeface="Noto Sans KR"/>
                <a:ea typeface="Noto Sans KR"/>
              </a:rPr>
              <a:t>“돈도 시간도 아깝다..”</a:t>
            </a:r>
          </a:p>
        </p:txBody>
      </p:sp>
      <p:pic>
        <p:nvPicPr>
          <p:cNvPr id="7" name="Picture 6" descr="fitcheck_wordmark_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C3D7F554-7C97-012D-54A2-A0DD19A10E59}"/>
              </a:ext>
            </a:extLst>
          </p:cNvPr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문제</a:t>
            </a:r>
            <a:r>
              <a:rPr lang="ko-KR" alt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정의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0E65AE-5768-3F9C-4A08-684B3CC7DF50}"/>
              </a:ext>
            </a:extLst>
          </p:cNvPr>
          <p:cNvSpPr txBox="1"/>
          <p:nvPr/>
        </p:nvSpPr>
        <p:spPr>
          <a:xfrm>
            <a:off x="822960" y="1508760"/>
            <a:ext cx="9601200" cy="150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ko-KR"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온라인에서는 입어볼 수 없고,</a:t>
            </a:r>
          </a:p>
          <a:p>
            <a:pPr algn="l">
              <a:lnSpc>
                <a:spcPct val="128000"/>
              </a:lnSpc>
            </a:pPr>
            <a:r>
              <a:rPr lang="ko-KR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반품 1위 </a:t>
            </a:r>
            <a:r>
              <a:rPr lang="ko-KR" altLang="en-US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원</a:t>
            </a:r>
            <a:r>
              <a:rPr lang="ko-KR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인은 사이즈다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DB6B96-DB7B-F68B-145C-8EA85A708B7F}"/>
              </a:ext>
            </a:extLst>
          </p:cNvPr>
          <p:cNvSpPr txBox="1"/>
          <p:nvPr/>
        </p:nvSpPr>
        <p:spPr>
          <a:xfrm>
            <a:off x="822960" y="3310128"/>
            <a:ext cx="100584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조사에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따라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·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핏이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전체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반품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사유의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45 – 53%</a:t>
            </a:r>
            <a:r>
              <a:rPr sz="1100" dirty="0">
                <a:solidFill>
                  <a:schemeClr val="bg1"/>
                </a:solidFill>
                <a:latin typeface="Noto Sans KR"/>
                <a:ea typeface="Noto Sans KR"/>
              </a:rPr>
              <a:t>  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Narvar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소비자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조사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(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색상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포함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) ·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Coresight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Research 2023</a:t>
            </a:r>
          </a:p>
        </p:txBody>
      </p:sp>
      <p:cxnSp>
        <p:nvCxnSpPr>
          <p:cNvPr id="33" name="Connector 5">
            <a:extLst>
              <a:ext uri="{FF2B5EF4-FFF2-40B4-BE49-F238E27FC236}">
                <a16:creationId xmlns:a16="http://schemas.microsoft.com/office/drawing/2014/main" id="{EDA0C47F-0AE3-C24C-AF21-A5B811F77BF6}"/>
              </a:ext>
            </a:extLst>
          </p:cNvPr>
          <p:cNvCxnSpPr/>
          <p:nvPr/>
        </p:nvCxnSpPr>
        <p:spPr>
          <a:xfrm>
            <a:off x="822960" y="4117116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E6445F2-C542-77AF-2BB4-C64DA9293BC5}"/>
              </a:ext>
            </a:extLst>
          </p:cNvPr>
          <p:cNvSpPr txBox="1"/>
          <p:nvPr/>
        </p:nvSpPr>
        <p:spPr>
          <a:xfrm>
            <a:off x="825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chemeClr val="bg1"/>
                </a:solidFill>
                <a:latin typeface="Noto Sans KR Light"/>
                <a:ea typeface="Noto Sans KR Light"/>
              </a:rPr>
              <a:t>약 30%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F05475-1651-1380-ABBF-309520AD20B4}"/>
              </a:ext>
            </a:extLst>
          </p:cNvPr>
          <p:cNvSpPr txBox="1"/>
          <p:nvPr/>
        </p:nvSpPr>
        <p:spPr>
          <a:xfrm>
            <a:off x="825500" y="4912644"/>
            <a:ext cx="342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온라인 패션 평균 반품률 (오프라인 8%)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1AFD28-7943-7563-95B3-44DF39C835E3}"/>
              </a:ext>
            </a:extLst>
          </p:cNvPr>
          <p:cNvSpPr txBox="1"/>
          <p:nvPr/>
        </p:nvSpPr>
        <p:spPr>
          <a:xfrm>
            <a:off x="825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물류신문, 2024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60EDE2-EAD0-D6C2-7BF9-903BEDA00DA1}"/>
              </a:ext>
            </a:extLst>
          </p:cNvPr>
          <p:cNvSpPr txBox="1"/>
          <p:nvPr/>
        </p:nvSpPr>
        <p:spPr>
          <a:xfrm>
            <a:off x="4381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dirty="0">
                <a:solidFill>
                  <a:schemeClr val="bg1"/>
                </a:solidFill>
                <a:latin typeface="Noto Sans KR Light"/>
                <a:ea typeface="Noto Sans KR Light"/>
              </a:rPr>
              <a:t>58.3조원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83911D-F2E2-7939-8E77-E9728E8BE1D6}"/>
              </a:ext>
            </a:extLst>
          </p:cNvPr>
          <p:cNvSpPr txBox="1"/>
          <p:nvPr/>
        </p:nvSpPr>
        <p:spPr>
          <a:xfrm>
            <a:off x="4381500" y="4912644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국내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온라인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패션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거래액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(2025년)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C075E3-DAE2-EF26-6455-C03FEA391C8D}"/>
              </a:ext>
            </a:extLst>
          </p:cNvPr>
          <p:cNvSpPr txBox="1"/>
          <p:nvPr/>
        </p:nvSpPr>
        <p:spPr>
          <a:xfrm>
            <a:off x="4381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국가데이터처(옛 통계청)</a:t>
            </a:r>
          </a:p>
        </p:txBody>
      </p:sp>
      <p:pic>
        <p:nvPicPr>
          <p:cNvPr id="40" name="Picture 12" descr="fitcheck_wordmark_dim.png">
            <a:extLst>
              <a:ext uri="{FF2B5EF4-FFF2-40B4-BE49-F238E27FC236}">
                <a16:creationId xmlns:a16="http://schemas.microsoft.com/office/drawing/2014/main" id="{A664C9B9-B911-5F51-4A29-00D6EF02D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C5461-1497-27BD-9E06-97A0BF3A06FF}"/>
              </a:ext>
            </a:extLst>
          </p:cNvPr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 dirty="0">
                <a:solidFill>
                  <a:srgbClr val="5A5A5E"/>
                </a:solidFill>
                <a:latin typeface="Noto Sans KR"/>
                <a:ea typeface="Noto Sans KR"/>
              </a:rPr>
              <a:t>0</a:t>
            </a:r>
            <a:r>
              <a:rPr lang="en-US" sz="1050" spc="80" dirty="0">
                <a:solidFill>
                  <a:srgbClr val="5A5A5E"/>
                </a:solidFill>
                <a:latin typeface="Noto Sans KR"/>
                <a:ea typeface="Noto Sans KR"/>
              </a:rPr>
              <a:t>3</a:t>
            </a:r>
            <a:endParaRPr sz="1050" spc="80" dirty="0">
              <a:solidFill>
                <a:srgbClr val="5A5A5E"/>
              </a:solidFill>
              <a:latin typeface="Noto Sans KR"/>
              <a:ea typeface="Noto Sans KR"/>
            </a:endParaRPr>
          </a:p>
        </p:txBody>
      </p:sp>
      <p:sp>
        <p:nvSpPr>
          <p:cNvPr id="42" name="TextBox 30">
            <a:extLst>
              <a:ext uri="{FF2B5EF4-FFF2-40B4-BE49-F238E27FC236}">
                <a16:creationId xmlns:a16="http://schemas.microsoft.com/office/drawing/2014/main" id="{9CAD1575-5E54-960F-9823-07E2C9364110}"/>
              </a:ext>
            </a:extLst>
          </p:cNvPr>
          <p:cNvSpPr txBox="1"/>
          <p:nvPr/>
        </p:nvSpPr>
        <p:spPr>
          <a:xfrm>
            <a:off x="7937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연 5~8조원</a:t>
            </a:r>
            <a:r>
              <a:rPr lang="en-US" altLang="ko-KR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손실</a:t>
            </a:r>
            <a:endParaRPr lang="ko-KR" sz="3000" dirty="0">
              <a:solidFill>
                <a:schemeClr val="bg1"/>
              </a:solidFill>
              <a:latin typeface="Noto Sans KR Light"/>
              <a:ea typeface="Noto Sans KR Light"/>
            </a:endParaRPr>
          </a:p>
        </p:txBody>
      </p:sp>
      <p:sp>
        <p:nvSpPr>
          <p:cNvPr id="43" name="TextBox 31">
            <a:extLst>
              <a:ext uri="{FF2B5EF4-FFF2-40B4-BE49-F238E27FC236}">
                <a16:creationId xmlns:a16="http://schemas.microsoft.com/office/drawing/2014/main" id="{8535F751-9B98-5A96-CEC4-BE56BE8A4E0F}"/>
              </a:ext>
            </a:extLst>
          </p:cNvPr>
          <p:cNvSpPr txBox="1"/>
          <p:nvPr/>
        </p:nvSpPr>
        <p:spPr>
          <a:xfrm>
            <a:off x="7937500" y="4912644"/>
            <a:ext cx="342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사이즈 미스로 </a:t>
            </a:r>
            <a:r>
              <a:rPr lang="ko-KR" altLang="en-US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발생하는</a:t>
            </a: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거래액 (추정)</a:t>
            </a:r>
          </a:p>
        </p:txBody>
      </p:sp>
      <p:sp>
        <p:nvSpPr>
          <p:cNvPr id="44" name="TextBox 32">
            <a:extLst>
              <a:ext uri="{FF2B5EF4-FFF2-40B4-BE49-F238E27FC236}">
                <a16:creationId xmlns:a16="http://schemas.microsoft.com/office/drawing/2014/main" id="{37DA6625-E09C-E36F-8E0A-5E610F99E996}"/>
              </a:ext>
            </a:extLst>
          </p:cNvPr>
          <p:cNvSpPr txBox="1"/>
          <p:nvPr/>
        </p:nvSpPr>
        <p:spPr>
          <a:xfrm>
            <a:off x="7937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100" dirty="0">
                <a:solidFill>
                  <a:srgbClr val="5A5A5E"/>
                </a:solidFill>
                <a:latin typeface="Noto Sans KR"/>
                <a:ea typeface="Noto Sans KR"/>
              </a:rPr>
              <a:t>58.3조원 × 반품률 20~30% × 사이즈 사유 약 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해결 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4577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입어보기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전에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,</a:t>
            </a:r>
          </a:p>
          <a:p>
            <a:pPr algn="l">
              <a:lnSpc>
                <a:spcPct val="128000"/>
              </a:lnSpc>
            </a:pP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어울리는지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그리고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맞는지까지</a:t>
            </a:r>
            <a:endParaRPr sz="40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457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dirty="0" err="1">
                <a:solidFill>
                  <a:srgbClr val="00B050"/>
                </a:solidFill>
                <a:latin typeface="Noto Sans KR DemiLight"/>
                <a:ea typeface="Noto Sans KR DemiLight"/>
              </a:rPr>
              <a:t>FitCheck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—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입어보지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않고도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어울림과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사이즈를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함께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확인하는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가상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피팅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977639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251960"/>
            <a:ext cx="4907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가상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착용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이미지</a:t>
            </a:r>
            <a:endParaRPr sz="1400" spc="60" dirty="0">
              <a:solidFill>
                <a:srgbClr val="00B050"/>
              </a:solidFill>
              <a:latin typeface="Noto Sans KR Medium"/>
              <a:ea typeface="Noto Sans KR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4907128" cy="79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내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사진에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옷을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합성해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어울리는지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먼저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확인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5848" y="4251960"/>
            <a:ext cx="4907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사이즈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추천</a:t>
            </a:r>
            <a:endParaRPr sz="1400" spc="60" dirty="0">
              <a:solidFill>
                <a:srgbClr val="00B050"/>
              </a:solidFill>
              <a:latin typeface="Noto Sans KR Medium"/>
              <a:ea typeface="Noto Sans KR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5848" y="4663440"/>
            <a:ext cx="4907128" cy="79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신체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옷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치수표를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비교해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맞는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사이즈</a:t>
            </a:r>
            <a:r>
              <a:rPr lang="ko-KR" altLang="en-US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를</a:t>
            </a:r>
            <a:r>
              <a:rPr lang="en-US" altLang="ko-KR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추천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pic>
        <p:nvPicPr>
          <p:cNvPr id="10" name="Picture 9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04</a:t>
            </a:r>
          </a:p>
        </p:txBody>
      </p:sp>
      <p:pic>
        <p:nvPicPr>
          <p:cNvPr id="12" name="Picture 1" descr="fitcheck_lockup_v_white.png">
            <a:extLst>
              <a:ext uri="{FF2B5EF4-FFF2-40B4-BE49-F238E27FC236}">
                <a16:creationId xmlns:a16="http://schemas.microsoft.com/office/drawing/2014/main" id="{B6F5C5F0-9505-16BD-82EE-D8FC3E50C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160" y="1480661"/>
            <a:ext cx="225052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전체 파이프라인 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59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855" y="2615184"/>
            <a:ext cx="6182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5" y="2944368"/>
            <a:ext cx="239572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dirty="0" err="1">
                <a:solidFill>
                  <a:srgbClr val="FFFFFF"/>
                </a:solidFill>
                <a:latin typeface="Noto Sans KR"/>
                <a:ea typeface="Noto Sans KR"/>
              </a:rPr>
              <a:t>입력</a:t>
            </a:r>
            <a:endParaRPr sz="1900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79" y="324612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7087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897983" y="2615184"/>
            <a:ext cx="90274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7983" y="294436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7983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가상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피팅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AI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이미지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합성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추천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여유분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계산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04607" y="324612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1215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2111" y="2615184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2111" y="294436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2111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lang="ko-KR" altLang="en-US"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예상되는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착용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모습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S · M · L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추천과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그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근거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18" name="Picture 1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06</a:t>
            </a:r>
          </a:p>
        </p:txBody>
      </p:sp>
      <p:pic>
        <p:nvPicPr>
          <p:cNvPr id="20" name="Graphic 20" descr="INPUT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8288" y="2505553"/>
            <a:ext cx="355600" cy="355600"/>
          </a:xfrm>
          <a:prstGeom prst="rect">
            <a:avLst/>
          </a:prstGeom>
        </p:spPr>
      </p:pic>
      <p:pic>
        <p:nvPicPr>
          <p:cNvPr id="21" name="Graphic 21" descr="PROCESS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8016" y="2506534"/>
            <a:ext cx="355600" cy="355600"/>
          </a:xfrm>
          <a:prstGeom prst="rect">
            <a:avLst/>
          </a:prstGeom>
        </p:spPr>
      </p:pic>
      <p:pic>
        <p:nvPicPr>
          <p:cNvPr id="22" name="Graphic 22" descr="OUTPUT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13874" y="2492248"/>
            <a:ext cx="355600" cy="355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D8AE83-F65D-A0FF-2C6F-9A4A649358AB}"/>
              </a:ext>
            </a:extLst>
          </p:cNvPr>
          <p:cNvSpPr txBox="1"/>
          <p:nvPr/>
        </p:nvSpPr>
        <p:spPr>
          <a:xfrm>
            <a:off x="1133855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사용자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전신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사진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,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신체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치수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옷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상품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이미지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,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치수표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78B52A-A0E8-D5F7-11C9-C4112C2360BF}"/>
              </a:ext>
            </a:extLst>
          </p:cNvPr>
          <p:cNvSpPr txBox="1"/>
          <p:nvPr/>
        </p:nvSpPr>
        <p:spPr>
          <a:xfrm>
            <a:off x="4834137" y="4704739"/>
            <a:ext cx="2523419" cy="390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lang="en-US" altLang="ko-KR"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*Diffusion </a:t>
            </a:r>
            <a:r>
              <a:rPr lang="ko-KR" altLang="en-US"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모델 사용 예정</a:t>
            </a:r>
          </a:p>
        </p:txBody>
      </p:sp>
    </p:spTree>
    <p:extLst>
      <p:ext uri="{BB962C8B-B14F-4D97-AF65-F5344CB8AC3E}">
        <p14:creationId xmlns:p14="http://schemas.microsoft.com/office/powerpoint/2010/main" val="2965960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목표 </a:t>
            </a: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구현</a:t>
            </a:r>
            <a:r>
              <a:rPr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  01  ·  </a:t>
            </a: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가상</a:t>
            </a:r>
            <a:r>
              <a:rPr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 </a:t>
            </a: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피팅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사진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두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장으로</a:t>
            </a:r>
            <a:endParaRPr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착용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모습을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만든다</a:t>
            </a:r>
            <a:endParaRPr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사용자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전신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+ 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이미지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입력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AI가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입은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모습을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합성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상의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하의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원피스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카테고리별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지원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504" y="1188720"/>
            <a:ext cx="199436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목표 </a:t>
            </a: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구현</a:t>
            </a:r>
            <a:r>
              <a:rPr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  02  ·  </a:t>
            </a: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사이즈</a:t>
            </a:r>
            <a:r>
              <a:rPr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 </a:t>
            </a: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추천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아는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치수만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넣어도</a:t>
            </a:r>
            <a:endParaRPr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추천이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나온다</a:t>
            </a:r>
            <a:endParaRPr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120640" cy="737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키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어깨너비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가슴둘레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허리둘레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lang="ko-KR" altLang="en-US"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치수표와 비교하여 사이즈 추천</a:t>
            </a:r>
            <a:endParaRPr lang="en-US"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4846" y="5321808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치수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7648" y="5321808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추천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4728" y="299466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868680"/>
            <a:ext cx="5105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846" y="1143000"/>
            <a:ext cx="1829882" cy="406908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1143000"/>
            <a:ext cx="1829882" cy="4069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34846" y="5321808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치수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648" y="5321808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추천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4728" y="299466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소비자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사이즈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실패로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인한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반품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↓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3017520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고객 만족도 상승</a:t>
            </a:r>
            <a:endParaRPr sz="13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87088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판매 기업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87088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87088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반품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에</a:t>
            </a:r>
            <a:endParaRPr lang="en-US" altLang="ko-KR"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소모되는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비용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↓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7088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사이즈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문의와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교환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응대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부담도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준다</a:t>
            </a:r>
            <a:endParaRPr sz="13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51216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확장성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51216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51216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치수표만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있으면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어떤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상품에도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216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쇼핑몰이 가진 데이터로 바로 적용된다</a:t>
            </a:r>
          </a:p>
        </p:txBody>
      </p:sp>
      <p:pic>
        <p:nvPicPr>
          <p:cNvPr id="15" name="Picture 14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05</a:t>
            </a:r>
          </a:p>
        </p:txBody>
      </p:sp>
      <p:pic>
        <p:nvPicPr>
          <p:cNvPr id="17" name="Graphic 17" descr="소비자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" y="1645920"/>
            <a:ext cx="381000" cy="381000"/>
          </a:xfrm>
          <a:prstGeom prst="rect">
            <a:avLst/>
          </a:prstGeom>
        </p:spPr>
      </p:pic>
      <p:pic>
        <p:nvPicPr>
          <p:cNvPr id="18" name="Graphic 18" descr="판매 기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700" y="1645920"/>
            <a:ext cx="381000" cy="381000"/>
          </a:xfrm>
          <a:prstGeom prst="rect">
            <a:avLst/>
          </a:prstGeom>
        </p:spPr>
      </p:pic>
      <p:pic>
        <p:nvPicPr>
          <p:cNvPr id="19" name="Graphic 19" descr="확장성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1687195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7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합성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diffusion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모델을</a:t>
            </a: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선택한</a:t>
            </a: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이유</a:t>
            </a:r>
            <a:endParaRPr sz="32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095848" y="2286000"/>
            <a:ext cx="0" cy="329184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86000"/>
            <a:ext cx="486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diffusion 모델이란?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86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노이즈에서 조금씩 다듬어 사진을 만드는 AI</a:t>
            </a:r>
          </a:p>
        </p:txBody>
      </p:sp>
      <p:pic>
        <p:nvPicPr>
          <p:cNvPr id="7" name="Picture 6" descr="diffusion_step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1037044" cy="1382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884877"/>
            <a:ext cx="10370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노이즈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0004" y="3974058"/>
            <a:ext cx="2377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0" name="Picture 9" descr="diffusion_step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748" y="3429000"/>
            <a:ext cx="1037044" cy="1382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97748" y="4884877"/>
            <a:ext cx="10370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윤곽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4792" y="3974058"/>
            <a:ext cx="2377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3" name="Picture 12" descr="diffusion_step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2536" y="3429000"/>
            <a:ext cx="1037044" cy="13827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536" y="4884877"/>
            <a:ext cx="10370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형태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9580" y="3974058"/>
            <a:ext cx="2377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6" name="Picture 15" descr="diffusion_step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324" y="3429000"/>
            <a:ext cx="1037044" cy="13827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47324" y="4884877"/>
            <a:ext cx="10370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30D158"/>
                </a:solidFill>
                <a:latin typeface="Noto Sans KR"/>
                <a:ea typeface="Noto Sans KR"/>
              </a:rPr>
              <a:t>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2286000"/>
            <a:ext cx="48614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기존 방식과 비교하면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8888" y="2834640"/>
            <a:ext cx="17677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98989E"/>
                </a:solidFill>
                <a:latin typeface="Noto Sans KR"/>
                <a:ea typeface="Noto Sans KR"/>
              </a:rPr>
              <a:t>기존 방식 (GAN)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3812" y="2834640"/>
            <a:ext cx="17677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30D158"/>
                </a:solidFill>
                <a:latin typeface="Noto Sans KR"/>
                <a:ea typeface="Noto Sans KR"/>
              </a:rPr>
              <a:t>diffusion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07328" y="3246120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07328" y="338328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A5A5E"/>
                </a:solidFill>
                <a:latin typeface="Noto Sans KR Medium"/>
                <a:ea typeface="Noto Sans KR Medium"/>
              </a:rPr>
              <a:t>자연스러움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8888" y="3383280"/>
            <a:ext cx="17677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옷 사진을 늘려 붙여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어색할 수 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3812" y="3383280"/>
            <a:ext cx="17677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주름 · 그림자까지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자연스러움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07328" y="4069080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07328" y="42062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A5A5E"/>
                </a:solidFill>
                <a:latin typeface="Noto Sans KR Medium"/>
                <a:ea typeface="Noto Sans KR Medium"/>
              </a:rPr>
              <a:t>일반 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8888" y="4206240"/>
            <a:ext cx="17677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흰 배경 스튜디오 사진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위주로 학습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2" y="4206240"/>
            <a:ext cx="17677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휴대폰 사진에서도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비교적 안정적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07328" y="4892040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07328" y="502920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A5A5E"/>
                </a:solidFill>
                <a:latin typeface="Noto Sans KR Medium"/>
                <a:ea typeface="Noto Sans KR Medium"/>
              </a:rPr>
              <a:t>속도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8888" y="5029200"/>
            <a:ext cx="17677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빠름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3812" y="5029200"/>
            <a:ext cx="17677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느림 · 여러 장 중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골라서 보완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07328" y="5715000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fitcheck_wordmark_d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모델 후보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280160"/>
            <a:ext cx="105457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네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후보를</a:t>
            </a: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같은</a:t>
            </a: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조건에서</a:t>
            </a: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비교</a:t>
            </a:r>
            <a:endParaRPr sz="32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193852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같은 인물 사진 · 같은 옷으로 네 모델을 비교한다  ·  연도 · 발표처는 각 모델 공식 자료 기준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2468880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48840" y="2578608"/>
            <a:ext cx="216781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"/>
                <a:ea typeface="Noto Sans KR"/>
              </a:rPr>
              <a:t>CatVTON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2889504"/>
            <a:ext cx="216781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60">
                <a:solidFill>
                  <a:srgbClr val="98989E"/>
                </a:solidFill>
                <a:latin typeface="Noto Sans KR Medium"/>
                <a:ea typeface="Noto Sans KR Medium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814" y="2578608"/>
            <a:ext cx="216781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"/>
                <a:ea typeface="Noto Sans KR"/>
              </a:rPr>
              <a:t>IDM-VTON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814" y="2889504"/>
            <a:ext cx="216781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60">
                <a:solidFill>
                  <a:srgbClr val="98989E"/>
                </a:solidFill>
                <a:latin typeface="Noto Sans KR Medium"/>
                <a:ea typeface="Noto Sans KR Medium"/>
              </a:rPr>
              <a:t>diffusion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8788" y="2578608"/>
            <a:ext cx="216781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"/>
                <a:ea typeface="Noto Sans KR"/>
              </a:rPr>
              <a:t>FASHN VTON v1.5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8788" y="2889504"/>
            <a:ext cx="216781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60">
                <a:solidFill>
                  <a:srgbClr val="98989E"/>
                </a:solidFill>
                <a:latin typeface="Noto Sans KR Medium"/>
                <a:ea typeface="Noto Sans KR Medium"/>
              </a:rPr>
              <a:t>diffusion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3762" y="2578608"/>
            <a:ext cx="216781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"/>
                <a:ea typeface="Noto Sans KR"/>
              </a:rPr>
              <a:t>HR-VITON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3762" y="2889504"/>
            <a:ext cx="216781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60">
                <a:solidFill>
                  <a:srgbClr val="5A5A5E"/>
                </a:solidFill>
                <a:latin typeface="Noto Sans KR Medium"/>
                <a:ea typeface="Noto Sans KR Medium"/>
              </a:rPr>
              <a:t>GAN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2960" y="3182112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331927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공개 연도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3310128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3814" y="3310128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8788" y="3310128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3762" y="3310128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2022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3694176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2960" y="383133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발표처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3822192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ICLR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814" y="3822192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ECCV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8788" y="3822192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논문 준비 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3762" y="3822192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ECCV 2022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2960" y="4206240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" y="434340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특징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334256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가벼운 diffusion 모델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814" y="4334256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대형 모델(SDXL) 기반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58788" y="4334256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사진을 압축 없이 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63762" y="4334256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옷 사진을 변형해 합성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2960" y="4718304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22960" y="48554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장점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4846320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적은 메모리로 실행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53814" y="4846320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옷 디테일 보존 우수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8788" y="4846320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상업적 사용 가능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63762" y="4846320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빠르고 가벼움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22960" y="523036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2960" y="536752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단점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5358384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작은 프린트가 흐려짐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53814" y="5358384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무겁고 느림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58788" y="5358384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결과 해상도가 낮음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63762" y="5358384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흰 배경 사진 위주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22960" y="5742432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954034" y="2560320"/>
            <a:ext cx="0" cy="3182112"/>
          </a:xfrm>
          <a:prstGeom prst="line">
            <a:avLst/>
          </a:prstGeom>
          <a:ln w="12700">
            <a:solidFill>
              <a:srgbClr val="5A5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진행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언제까지 무엇을 끝내는가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9월 조사 · 설계  →  10월 모델 검증  →  11월 구현 · 통합  →  12월 평가 · 발표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71576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18688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9월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83632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10월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73904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48576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11월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38848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413520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12월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03792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368736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31012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조사 · 설계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383280"/>
            <a:ext cx="2064944" cy="164592"/>
          </a:xfrm>
          <a:prstGeom prst="rect">
            <a:avLst/>
          </a:prstGeom>
          <a:solidFill>
            <a:srgbClr val="4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73075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Noto Sans KR DemiLight"/>
                <a:ea typeface="Noto Sans KR DemiLight"/>
              </a:rPr>
              <a:t>모델 비교 실험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1432" y="3803904"/>
            <a:ext cx="3097416" cy="164592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51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품질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6376" y="4224528"/>
            <a:ext cx="2581180" cy="164592"/>
          </a:xfrm>
          <a:prstGeom prst="rect">
            <a:avLst/>
          </a:prstGeom>
          <a:solidFill>
            <a:srgbClr val="4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Noto Sans KR DemiLight"/>
                <a:ea typeface="Noto Sans KR DemiLight"/>
              </a:rPr>
              <a:t>사이즈 추천 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32354" y="4645152"/>
            <a:ext cx="2271438" cy="164592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9926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통합 · 평가 · 발표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1320" y="5065776"/>
            <a:ext cx="2826983" cy="201168"/>
          </a:xfrm>
          <a:prstGeom prst="rect">
            <a:avLst/>
          </a:prstGeom>
          <a:solidFill>
            <a:srgbClr val="4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7445342" y="3218688"/>
            <a:ext cx="0" cy="2240280"/>
          </a:xfrm>
          <a:prstGeom prst="line">
            <a:avLst/>
          </a:prstGeom>
          <a:ln w="12700">
            <a:solidFill>
              <a:srgbClr val="989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96702" y="55046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중간발표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64901" y="3167674"/>
            <a:ext cx="0" cy="2240280"/>
          </a:xfrm>
          <a:prstGeom prst="line">
            <a:avLst/>
          </a:prstGeom>
          <a:ln w="12700">
            <a:solidFill>
              <a:srgbClr val="989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45478" y="556412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최종발표</a:t>
            </a:r>
          </a:p>
        </p:txBody>
      </p:sp>
      <p:pic>
        <p:nvPicPr>
          <p:cNvPr id="29" name="Picture 28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역할 분담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네 갈래로 나눠</a:t>
            </a:r>
          </a:p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동시에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9008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담당자는 팀 구성 확정 후 기입한다 · 품질 판정과 평가는 전원이 함께 참여한다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49300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AI 합성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모델 비교 실험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품질 개선 실험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앱 적용 설정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모델 선정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984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사이즈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4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4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치수표 수집 · 정리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여유분 계산 로직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추천 규칙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4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추천 규칙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8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앱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8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8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화면 설계 · 구현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두 기능 통합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결과 비교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8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프로토타입 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8032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데이터 ·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8032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8032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테스트 사진 · 옷 수집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품질 판정 진행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사용성 평가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8032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평가 결과 보고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60604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spc="120">
                <a:solidFill>
                  <a:srgbClr val="98989E"/>
                </a:solidFill>
                <a:latin typeface="Noto Sans KR DemiLight"/>
                <a:ea typeface="Noto Sans KR DemiLight"/>
              </a:rPr>
              <a:t>Q  &amp;  A</a:t>
            </a:r>
          </a:p>
        </p:txBody>
      </p:sp>
      <p:pic>
        <p:nvPicPr>
          <p:cNvPr id="4" name="Picture 3" descr="fitcheck_lockup_v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364" y="4617720"/>
            <a:ext cx="102296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APPENDIX  · 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3444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국내 이커머스 반품 약 9억 3,500만 건, 반품 처리 비용 약 4조 6,700억 원 (2023년 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6304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머니투데이 (2024. 9. 11.) — 택배 물량 × 반품률 20%(eMarketer)로 산출한 언론 추정치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mt.co.kr/living/2024/09/11/2024091022404176342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패션 평균 반품률 약 30%, 오프라인의 3배 이상 · 사이즈·핏·색상 문제로 인한 반품 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1168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물류신문, "성장하는 패션 물류 시장, 경쟁 키워드 '반품'" (2024) — Narvar 소비자 조사 인용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klnews.co.kr/news/articleView.html?idxno=312851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의류 판매자의 53%가 사이즈·핏을 반품 사유 1순위로 지목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Coresight Research (2023) — 업계 보고서 2차 인용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8036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화면 속 사이즈와 실제 치수의 차이가 주요 반품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0896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김지수 · 나영주 (2020). 패션 온라인 쇼핑몰 유형에 따른 반품이유와 반품물류서비스 만족도. 감성과학, 23(1), 3–16.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2900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CatVTON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5760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Chong, Z. et al. (2024). CatVTON: Concatenation Is All You Need for Virtual Try-On with Diffusion Models.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arXiv:2407.15886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7764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IDM-VTON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0624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Choi, Y. et al. (2024). Improving Diffusion Models for Authentic Virtual Try-on in the Wild. ECCV 2024.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arXiv:2403.05139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2628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FASHN VTON v1.5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5488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FASHN AI. FASHN VTON v1.5: Efficient Maskless Virtual Try-On in Pixel Space (Apache 2.0 공개 모델).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github.com/fashn-AI/fashn-vton-1.5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7492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HR-VITON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0352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Lee, S. et al. (2022). High-Resolution Virtual Try-On with Misalignment and Occlusion-Handled Conditions. ECCV 2022.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arXiv:2206.14180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641848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5A5A5E"/>
                </a:solidFill>
                <a:latin typeface="Noto Sans KR DemiLight"/>
                <a:ea typeface="Noto Sans KR DemiLight"/>
              </a:rPr>
              <a:t>구현 화면은 팀이 직접 제작한 UI 목업이며, 2번 슬라이드 사진은 사이즈 실패 예시로 인용한 온라인 이미지다.</a:t>
            </a:r>
          </a:p>
        </p:txBody>
      </p:sp>
      <p:pic>
        <p:nvPicPr>
          <p:cNvPr id="28" name="Picture 27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6197A8-B624-44E7-9441-3487B912480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6247192-b831-499f-bef3-354168bc77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1948</Words>
  <Application>Microsoft Office PowerPoint</Application>
  <PresentationFormat>와이드스크린</PresentationFormat>
  <Paragraphs>310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Noto Sans KR</vt:lpstr>
      <vt:lpstr>Noto Sans KR DemiLight</vt:lpstr>
      <vt:lpstr>Noto Sans KR Light</vt:lpstr>
      <vt:lpstr>Noto Sans KR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정지훈</cp:lastModifiedBy>
  <cp:revision>46</cp:revision>
  <dcterms:created xsi:type="dcterms:W3CDTF">2013-01-27T09:14:16Z</dcterms:created>
  <dcterms:modified xsi:type="dcterms:W3CDTF">2026-09-14T07:24:22Z</dcterms:modified>
  <cp:category/>
</cp:coreProperties>
</file>