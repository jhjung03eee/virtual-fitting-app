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[약 20초  ·  누적 0:18]</a:t>
            </a:r>
          </a:p>
          <a:p/>
          <a:p>
            <a:r>
              <a:t>안녕하십니까. 사이즈 정보를 반영한 가상 피팅 앱, FitCheck을 제안하는 [팀명]입니다.</a:t>
            </a:r>
          </a:p>
          <a:p>
            <a:r>
              <a:t>저희는 온라인에서 옷을 살 때 겪는 사이즈 문제를, 가상 피팅과 사이즈 추천을 결합해서 풀어보려고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[약 20초  ·  누적 0:37]</a:t>
            </a:r>
          </a:p>
          <a:p/>
          <a:p>
            <a:r>
              <a:t>먼저 제 이야기로 시작하겠습니다.</a:t>
            </a:r>
          </a:p>
          <a:p/>
          <a:p>
            <a:r>
              <a:t>저는 옷을 주로 무신사에서 삽니다. 그런데 막상 받아 보면 사이즈나 핏이 저와 맞지 않아서 환불한 경험이 정말 많았습니다. 한두 번이 아니었습니다.</a:t>
            </a:r>
          </a:p>
          <a:p/>
          <a:p>
            <a:r>
              <a:t>그리고 이건 저만의 문제가 아니었습니다.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[약 45초  ·  누적 1:22]</a:t>
            </a:r>
          </a:p>
          <a:p/>
          <a:p>
            <a:r>
              <a:t>온라인 의류 구매의 가장 큰 불확실성은 "이 옷이 나한테 맞을까"입니다. 매장이라면 입어보고 결정하면 되지만, 온라인에서는 그럴 수가 없습니다.</a:t>
            </a:r>
          </a:p>
          <a:p/>
          <a:p>
            <a:r>
              <a:t>그래서 생기는 반품은 소비자에게는 기다린 시간과 번거로움이고, 판매 기업에게는 왕복 배송비와 재입고 비용, 재판매가 어려워진 재고입니다. 옷은 다른 품목보다 이 문제가 특히 심한데, 같은 M 사이즈라도 브랜드마다 실제 치수가 다르기 때문입니다.</a:t>
            </a:r>
          </a:p>
          <a:p/>
          <a:p>
            <a:r>
              <a:t>결국 입어볼 수 없다는 제약 하나가 양쪽 모두에게 비용으로 돌아오고 있습니다. 저희는 여기서 출발했습니다.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[약 60초  ·  누적 2:21]</a:t>
            </a:r>
          </a:p>
          <a:p/>
          <a:p>
            <a:r>
              <a:t>문제의 크기를 숫자로 보겠습니다. 핵심은 하나입니다. 온라인 의류 반품의 가장 큰 원인이 사이즈라는 것입니다.</a:t>
            </a:r>
          </a:p>
          <a:p/>
          <a:p>
            <a:r>
              <a:t>조사에 따라 사이즈와 핏이 전체 반품 사유의 45에서 53퍼센트를 차지합니다. 절반 안팎이 사이즈 때문이라는 뜻입니다. 국내 연구에서도 화면에서 본 사이즈와 실제 치수의 차이가 주요 반품 사유로 보고됐습니다. 조사마다 수치는 달라도 1위라는 결론은 같습니다.</a:t>
            </a:r>
          </a:p>
          <a:p/>
          <a:p>
            <a:r>
              <a:t>아래 두 숫자가 그 문제의 규모입니다. 온라인 패션의 평균 반품률은 30퍼센트 수준으로 오프라인 매장의 세 배가 넘습니다. 국내 이커머스에서 반품을 처리하는 데만 한 해 4조 원대의 비용이 드는 것으로 추정됩니다.</a:t>
            </a:r>
          </a:p>
          <a:p/>
          <a:p>
            <a:r>
              <a:t>반품이 구조적으로 일어나고 큰 비용이 드는데, 그 1순위 원인이 사이즈입니다.</a:t>
            </a:r>
          </a:p>
          <a:p/>
          <a:p>
            <a:r>
              <a:t>--- 예상 질문 ---</a:t>
            </a:r>
          </a:p>
          <a:p>
            <a:r>
              <a:t>· 45~53%의 출처 → 45%는 Narvar 소비자 조사(물류신문 2024 인용)인데 사이즈·핏에 색상이 포함된 수치이고, 53%는 의류 판매자 대상 조사(Coresight Research 2023)입니다. 조사 대상과 정의가 달라 범위로 제시했습니다.</a:t>
            </a:r>
          </a:p>
          <a:p>
            <a:r>
              <a:t>· 더 권위 있는 수치가 필요하면 → 미국소매협회(NRF)는 2025년 온라인 판매의 19.3%가 반품될 것으로 전망했습니다(전 품목 기준).</a:t>
            </a:r>
          </a:p>
          <a:p>
            <a:r>
              <a:t>· 4조 원은 어떻게 나온 숫자인가 → 공식 통계가 아니라 언론 추정치입니다. 2023년 택배 물량 46억여 건에 이커머스 반품률 20%를 곱해 반품 약 9억 3천만 건을 잡고 비용을 추산했습니다. 정확한 금액보다 "수조 원대"라는 규모를 보여 드리려는 숫자입니다.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[약 35초  ·  누적 2:57]</a:t>
            </a:r>
          </a:p>
          <a:p/>
          <a:p>
            <a:r>
              <a:t>그러면 이미 나와 있는 가상 피팅 서비스들이 이 문제를 풀고 있느냐. 저희가 보기에는 절반만 풀고 있습니다.</a:t>
            </a:r>
          </a:p>
          <a:p/>
          <a:p>
            <a:r>
              <a:t>기존 서비스는 이 옷을 입으면 이렇게 보인다는 모습까지는 보여 줍니다. 그런데 정작 사용자가 결정해야 하는 건 "그래서 내가 M을 사야 하나, L을 사야 하나"입니다. 그 질문에는 답을 주지 않습니다.</a:t>
            </a:r>
          </a:p>
          <a:p/>
          <a:p>
            <a:r>
              <a:t>한 가지 사이즈만 합성해 주기 때문에, 내 체형에서 그 옷이 넉넉할지 낄지는 여전히 사용자가 짐작해야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[약 55초  ·  누적 3:52]</a:t>
            </a:r>
          </a:p>
          <a:p/>
          <a:p>
            <a:r>
              <a:t>사용자가 직접 사이즈를 확인해 보려고 해도 쉽지 않습니다. 사용자가 자기 몸에 대해 아는 숫자는 보통 가슴둘레 96센티 같은 둘레 값입니다. 그런데 쇼핑몰 치수표에 적혀 있는 건 가슴단면 52센티입니다. 옷을 평평하게 눕혀 놓고 한쪽 끝에서 반대쪽 끝까지 잰 값이죠.</a:t>
            </a:r>
          </a:p>
          <a:p/>
          <a:p>
            <a:r>
              <a:t>기준이 다르기 때문에 96과 52는 그대로 비교할 수가 없습니다. 단면에 2를 곱하면 될 것 같지만, 옷에는 몸보다 여유가 들어가 있고 그 여유가 옷 종류와 원하는 핏에 따라 달라서 그렇게 단순하지 않습니다. 결국 사용자가 직접 따져 봐야 하는데, 대부분 거기까지 하지 않고 감으로 고릅니다.</a:t>
            </a:r>
          </a:p>
          <a:p/>
          <a:p>
            <a:r>
              <a:t>저희 앱은 이 변환과 비교를 대신해 줍니다. 사용자는 아는 숫자만 넣으면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[약 35초  ·  누적 4:27]</a:t>
            </a:r>
          </a:p>
          <a:p/>
          <a:p>
            <a:r>
              <a:t>그래서 저희 과제의 목적은 분명합니다. 입어본 모습과 맞는 사이즈, 이 두 가지를 한 번에 제공하는 것입니다.</a:t>
            </a:r>
          </a:p>
          <a:p/>
          <a:p>
            <a:r>
              <a:t>사진으로 착용 모습을 만들어 주는 가상 피팅과, 체형과 치수표를 비교해 사이즈를 골라 주는 추천을 따로 두지 않고 하나로 잇겠습니다. 사진을 올리는 것에서 시작해 "당신에게는 M이 맞습니다"라는 결론까지 한 흐름으로 이어지는 end-to-end 서비스를 만드는 것이 목표입니다.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[약 55초  ·  누적 5:20]</a:t>
            </a:r>
          </a:p>
          <a:p/>
          <a:p>
            <a:r>
              <a:t>어떻게 만들 것인지 전체 그림입니다.</a:t>
            </a:r>
          </a:p>
          <a:p/>
          <a:p>
            <a:r>
              <a:t>입력은 두 갈래입니다. 사용자 쪽에서는 전신 사진과 본인이 아는 신체 치수를 받고, 옷 쪽에서는 쇼핑몰 상품 이미지와 치수표를 받습니다.</a:t>
            </a:r>
          </a:p>
          <a:p/>
          <a:p>
            <a:r>
              <a:t>처리 단계에서는 두 가지가 나란히 돌아갑니다. 하나는 diffusion 기반 이미지 합성으로 착용 모습을 만드는 가상 피팅이고, 다른 하나는 신체 치수와 옷 치수의 차이, 즉 여유분을 계산하는 사이즈 추천입니다.</a:t>
            </a:r>
          </a:p>
          <a:p/>
          <a:p>
            <a:r>
              <a:t>출력은 사이즈별 착용 모습과, S·M·L 추천 그리고 왜 그 사이즈인지에 대한 근거입니다.</a:t>
            </a:r>
          </a:p>
          <a:p/>
          <a:p>
            <a:r>
              <a:t>저희 방식은 실측 장비도, 추가 촬영도 요구하지 않습니다. 쇼핑몰이 이미 갖고 있는 상품 사진과 치수표만으로 동작합니다.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[약 40초  ·  누적 6:01]</a:t>
            </a:r>
          </a:p>
          <a:p/>
          <a:p>
            <a:r>
              <a:t>첫 번째 구현은 가상 피팅입니다. 사용자 전신 사진과 옷 이미지, 사진 두 장을 입력받아서 그 사람이 그 옷을 입은 모습을 합성합니다.</a:t>
            </a:r>
          </a:p>
          <a:p/>
          <a:p>
            <a:r>
              <a:t>방식은 diffusion 기반 이미지 합성 모델을 사용할 계획입니다. 상의, 하의, 원피스처럼 카테고리를 지정하면 해당 부위만 바꾸도록 할 예정입니다.</a:t>
            </a:r>
          </a:p>
          <a:p/>
          <a:p>
            <a:r>
              <a:t>화면은 오른쪽처럼 사진 두 장을 올리고 카테고리를 고르는 단순한 흐름입니다. 사용자 사진은 조명도 배경도 제각각이라 결과가 흔들릴 수 있어서, 촬영 가이드를 함께 제공할 계획입니다.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[약 55초  ·  누적 6:55]</a:t>
            </a:r>
          </a:p>
          <a:p/>
          <a:p>
            <a:r>
              <a:t>두 번째는 사이즈 추천입니다. 핵심은 아는 치수만 넣어도 추천이 나온다는 점입니다.</a:t>
            </a:r>
          </a:p>
          <a:p/>
          <a:p>
            <a:r>
              <a:t>키, 어깨너비, 가슴둘레, 허리둘레 중에 아는 것만 입력해도 동작하고, 입력하지 않은 항목은 판정에서 빼고 그 사실을 사용자에게 알려 줍니다.</a:t>
            </a:r>
          </a:p>
          <a:p/>
          <a:p>
            <a:r>
              <a:t>앞에서 말씀드린 둘레와 단면 변환은 여기서 자동으로 처리합니다. 그다음 신체 치수와 옷 치수의 차이인 여유분을 계산해서, 타이트한지 레귤러인지 루즈한지를 판단하고 S, M, L 중 어떤 사이즈가 맞는지 추천합니다.</a:t>
            </a:r>
          </a:p>
          <a:p/>
          <a:p>
            <a:r>
              <a:t>단순히 사이즈만 던지지 않고, 어깨는 맞는데 가슴이 낀다는 식으로 어느 부위가 왜 그런지 함께 보여 주려고 합니다. 사용자가 납득하고 고를 수 있어야 하기 때문입니다.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[약 55초  ·  누적 7:51]</a:t>
            </a:r>
          </a:p>
          <a:p/>
          <a:p>
            <a:r>
              <a:t>세 번째가 저희 과제에서 가장 중요한 부분입니다. 앞의 두 기능을 연결하는 것입니다.</a:t>
            </a:r>
          </a:p>
          <a:p/>
          <a:p>
            <a:r>
              <a:t>추천된 사이즈들을 각각 합성해서 나란히 보여 줍니다. 화면 예시처럼 같은 옷을 M으로 입었을 때와 L로 입었을 때가 어떻게 다른지 한눈에 비교할 수 있게 하는 것이 목표입니다. 나아가 계산한 여유분을 실루엣에 반영해서, 루즈핏은 실제로 더 넉넉해 보이도록 만들려고 합니다.</a:t>
            </a:r>
          </a:p>
          <a:p/>
          <a:p>
            <a:r>
              <a:t>기술적으로 가장 어려운 부분이라, 사이즈별로 각각 합성해 비교하는 방식을 먼저 만들고 실루엣 반영을 그 위에 얹는 순서로 진행할 계획입니다.</a:t>
            </a:r>
          </a:p>
          <a:p/>
          <a:p>
            <a:r>
              <a:t>모습만 보여 주는 것도, 사이즈만 알려 주는 것도 아니고, 사이즈에 따라 모습이 달라지는 것까지 보여 주는 것. 이 연결이 저희 과제의 핵심입니다.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[약 40초  ·  누적 8:31]</a:t>
            </a:r>
          </a:p>
          <a:p/>
          <a:p>
            <a:r>
              <a:t>기대 효과는 세 가지로 정리했습니다.</a:t>
            </a:r>
          </a:p>
          <a:p/>
          <a:p>
            <a:r>
              <a:t>소비자 입장에서는 사기 전에 맞는 사이즈로 입은 모습을 확인할 수 있으니 사이즈 실패로 인한 반품이 줄어듭니다.</a:t>
            </a:r>
          </a:p>
          <a:p/>
          <a:p>
            <a:r>
              <a:t>판매 기업 입장에서는 그 반품에 들어가던 물류비와 재고 부담, 그리고 사이즈 문의 응대 부담이 함께 줄어듭니다.</a:t>
            </a:r>
          </a:p>
          <a:p/>
          <a:p>
            <a:r>
              <a:t>마지막은 확장성입니다. 저희 방식은 치수표와 상품 이미지만 있으면 동작하기 때문에, 쇼핑몰이 이미 가지고 있는 데이터로 바로 적용할 수 있습니다. 특정 브랜드나 특정 상품군에 묶이지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[약 35초  ·  누적 9:08]</a:t>
            </a:r>
          </a:p>
          <a:p/>
          <a:p>
            <a:r>
              <a:t>일정입니다. 9월인 지금은 모델과 관련 연구를 조사하고 과제 계획서를 제출하는 단계입니다.</a:t>
            </a:r>
          </a:p>
          <a:p/>
          <a:p>
            <a:r>
              <a:t>10월에는 여유분 계산 로직을 구현하고 가상 피팅 모델을 연동해서, 두 기능이 각각 동작하는 데까지 만들 계획입니다. 11월 초 중간발표에서 그 결과를 보여 드리고, 이후 12월 초까지 사이즈별 핏을 반영하는 부분과 앱 UI 통합을 진행합니다.</a:t>
            </a:r>
          </a:p>
          <a:p/>
          <a:p>
            <a:r>
              <a:t>12월 최종발표에서는 전체 흐름이 하나로 이어지는 상태로 시연하는 것이 목표입니다.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[약 5초  ·  누적 9:12]</a:t>
            </a:r>
          </a:p>
          <a:p/>
          <a:p>
            <a:r>
              <a:t>이상으로 발표를 마치겠습니다. 감사합니다.</a:t>
            </a:r>
          </a:p>
          <a:p/>
          <a:p>
            <a:r>
              <a:t>--- 예상 질문 ---</a:t>
            </a:r>
          </a:p>
          <a:p>
            <a:r>
              <a:t>· 가상 피팅 모델을 직접 학습하나? → 아니요. 공개된 사전학습 모델을 활용하고, 사이즈 반영과 두 기능의 연결에 집중합니다.</a:t>
            </a:r>
          </a:p>
          <a:p>
            <a:r>
              <a:t>· 신체 치수를 사진으로 자동 측정하지 않는 이유는? → 정확도를 신뢰하기 어려워 사용자 직접 입력을 기본으로 두고, 자동 측정은 보조 수단으로 검토합니다.</a:t>
            </a:r>
          </a:p>
          <a:p>
            <a:r>
              <a:t>· 치수표 형식이 쇼핑몰마다 다른데? → 항목 이름과 단위를 정규화하는 처리를 두고, 없는 항목은 판정에서 제외합니다.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itcheck_lockup_v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0585" y="1234440"/>
            <a:ext cx="2250525" cy="20116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3703320"/>
            <a:ext cx="105457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900">
                <a:solidFill>
                  <a:srgbClr val="FFFFFF"/>
                </a:solidFill>
                <a:latin typeface="Noto Sans KR Light"/>
                <a:ea typeface="Noto Sans KR Light"/>
              </a:rPr>
              <a:t>사이즈 정보를 반영한 가상 피팅 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370832"/>
            <a:ext cx="105457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spc="80">
                <a:solidFill>
                  <a:srgbClr val="98989E"/>
                </a:solidFill>
                <a:latin typeface="Noto Sans KR DemiLight"/>
                <a:ea typeface="Noto Sans KR DemiLight"/>
              </a:rPr>
              <a:t>종합설계프로젝트  ·  과제 계획 발표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806440"/>
            <a:ext cx="105457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>
                <a:solidFill>
                  <a:srgbClr val="5A5A5E"/>
                </a:solidFill>
                <a:latin typeface="Noto Sans KR"/>
                <a:ea typeface="Noto Sans KR"/>
              </a:rPr>
              <a:t>성균관대학교 종합설계프로젝트   ·   [팀명]   ·   [조원 이름]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13232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spc="90">
                <a:solidFill>
                  <a:srgbClr val="98989E"/>
                </a:solidFill>
                <a:latin typeface="Noto Sans KR Medium"/>
                <a:ea typeface="Noto Sans KR Medium"/>
              </a:rPr>
              <a:t>시작하며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48840"/>
            <a:ext cx="95097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4200">
                <a:solidFill>
                  <a:srgbClr val="FFFFFF"/>
                </a:solidFill>
                <a:latin typeface="Noto Sans KR Light"/>
                <a:ea typeface="Noto Sans KR Light"/>
              </a:rPr>
              <a:t>무신사에서 산 옷을</a:t>
            </a:r>
          </a:p>
          <a:p>
            <a:pPr algn="l">
              <a:lnSpc>
                <a:spcPct val="128000"/>
              </a:lnSpc>
            </a:pPr>
            <a:r>
              <a:rPr sz="4200">
                <a:solidFill>
                  <a:srgbClr val="FFFFFF"/>
                </a:solidFill>
                <a:latin typeface="Noto Sans KR Light"/>
                <a:ea typeface="Noto Sans KR Light"/>
              </a:rPr>
              <a:t>또 환불했다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343400"/>
            <a:ext cx="8778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>
                <a:solidFill>
                  <a:srgbClr val="98989E"/>
                </a:solidFill>
                <a:latin typeface="Noto Sans KR DemiLight"/>
                <a:ea typeface="Noto Sans KR DemiLight"/>
              </a:rPr>
              <a:t>사이즈도, 핏도 나와 맞지 않았다. 한두 번이 아니었다.</a:t>
            </a:r>
          </a:p>
        </p:txBody>
      </p:sp>
      <p:pic>
        <p:nvPicPr>
          <p:cNvPr id="5" name="Picture 4" descr="fitcheck_wordmark_d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6245352"/>
            <a:ext cx="1106944" cy="91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454335" y="61722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spc="80">
                <a:solidFill>
                  <a:srgbClr val="5A5A5E"/>
                </a:solidFill>
                <a:latin typeface="Noto Sans KR"/>
                <a:ea typeface="Noto Sans KR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13232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spc="90">
                <a:solidFill>
                  <a:srgbClr val="98989E"/>
                </a:solidFill>
                <a:latin typeface="Noto Sans KR Medium"/>
                <a:ea typeface="Noto Sans KR Medium"/>
              </a:rPr>
              <a:t>문제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48840"/>
            <a:ext cx="95097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4200">
                <a:solidFill>
                  <a:srgbClr val="FFFFFF"/>
                </a:solidFill>
                <a:latin typeface="Noto Sans KR Light"/>
                <a:ea typeface="Noto Sans KR Light"/>
              </a:rPr>
              <a:t>온라인에서는</a:t>
            </a:r>
          </a:p>
          <a:p>
            <a:pPr algn="l">
              <a:lnSpc>
                <a:spcPct val="128000"/>
              </a:lnSpc>
            </a:pPr>
            <a:r>
              <a:rPr sz="4200">
                <a:solidFill>
                  <a:srgbClr val="FFFFFF"/>
                </a:solidFill>
                <a:latin typeface="Noto Sans KR Light"/>
                <a:ea typeface="Noto Sans KR Light"/>
              </a:rPr>
              <a:t>입어볼 수 없다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343400"/>
            <a:ext cx="8778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>
                <a:solidFill>
                  <a:srgbClr val="98989E"/>
                </a:solidFill>
                <a:latin typeface="Noto Sans KR DemiLight"/>
                <a:ea typeface="Noto Sans KR DemiLight"/>
              </a:rPr>
              <a:t>사이즈를 잘못 고르면 반품이 되고, 그 비용은 소비자와 판매 기업이 함께 치른다.</a:t>
            </a:r>
          </a:p>
        </p:txBody>
      </p:sp>
      <p:pic>
        <p:nvPicPr>
          <p:cNvPr id="5" name="Picture 4" descr="fitcheck_wordmark_d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6245352"/>
            <a:ext cx="1106944" cy="91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454335" y="61722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spc="80">
                <a:solidFill>
                  <a:srgbClr val="5A5A5E"/>
                </a:solidFill>
                <a:latin typeface="Noto Sans KR"/>
                <a:ea typeface="Noto Sans KR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13232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spc="90">
                <a:solidFill>
                  <a:srgbClr val="98989E"/>
                </a:solidFill>
                <a:latin typeface="Noto Sans KR Medium"/>
                <a:ea typeface="Noto Sans KR Medium"/>
              </a:rPr>
              <a:t>문제의 크기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96012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3800">
                <a:solidFill>
                  <a:srgbClr val="FFFFFF"/>
                </a:solidFill>
                <a:latin typeface="Noto Sans KR Light"/>
                <a:ea typeface="Noto Sans KR Light"/>
              </a:rPr>
              <a:t>온라인 의류 반품의</a:t>
            </a:r>
          </a:p>
          <a:p>
            <a:pPr algn="l">
              <a:lnSpc>
                <a:spcPct val="128000"/>
              </a:lnSpc>
            </a:pPr>
            <a:r>
              <a:rPr sz="3800">
                <a:solidFill>
                  <a:srgbClr val="FFFFFF"/>
                </a:solidFill>
                <a:latin typeface="Noto Sans KR Light"/>
                <a:ea typeface="Noto Sans KR Light"/>
              </a:rPr>
              <a:t>1위 원인은 사이즈다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310128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>
                <a:solidFill>
                  <a:srgbClr val="98989E"/>
                </a:solidFill>
                <a:latin typeface="Noto Sans KR DemiLight"/>
                <a:ea typeface="Noto Sans KR DemiLight"/>
              </a:rPr>
              <a:t>조사에 따라 사이즈 · 핏이 전체 반품 사유의 45 – 53%</a:t>
            </a:r>
            <a:r>
              <a:rPr sz="1100">
                <a:solidFill>
                  <a:srgbClr val="5A5A5E"/>
                </a:solidFill>
                <a:latin typeface="Noto Sans KR"/>
                <a:ea typeface="Noto Sans KR"/>
              </a:rPr>
              <a:t>   Narvar 소비자 조사(색상 포함) · Coresight Research 2023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694176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>
                <a:solidFill>
                  <a:srgbClr val="98989E"/>
                </a:solidFill>
                <a:latin typeface="Noto Sans KR DemiLight"/>
                <a:ea typeface="Noto Sans KR DemiLight"/>
              </a:rPr>
              <a:t>국내 연구에서도 화면 속 사이즈와 실제 치수의 차이가 주요 반품 사유</a:t>
            </a:r>
            <a:r>
              <a:rPr sz="1100">
                <a:solidFill>
                  <a:srgbClr val="5A5A5E"/>
                </a:solidFill>
                <a:latin typeface="Noto Sans KR"/>
                <a:ea typeface="Noto Sans KR"/>
              </a:rPr>
              <a:t>   김지수 · 나영주, 감성과학 23(1), 2020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526280"/>
            <a:ext cx="10545775" cy="0"/>
          </a:xfrm>
          <a:prstGeom prst="line">
            <a:avLst/>
          </a:prstGeom>
          <a:ln w="9525">
            <a:solidFill>
              <a:srgbClr val="2C2C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22960" y="4754880"/>
            <a:ext cx="490712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>
                <a:solidFill>
                  <a:srgbClr val="FFFFFF"/>
                </a:solidFill>
                <a:latin typeface="Noto Sans KR Light"/>
                <a:ea typeface="Noto Sans KR Light"/>
              </a:rPr>
              <a:t>약 30%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321808"/>
            <a:ext cx="49071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98989E"/>
                </a:solidFill>
                <a:latin typeface="Noto Sans KR DemiLight"/>
                <a:ea typeface="Noto Sans KR DemiLight"/>
              </a:rPr>
              <a:t>온라인 패션 평균 반품률 — 오프라인 매장의 3배 이상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650992"/>
            <a:ext cx="490712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>
                <a:solidFill>
                  <a:srgbClr val="5A5A5E"/>
                </a:solidFill>
                <a:latin typeface="Noto Sans KR"/>
                <a:ea typeface="Noto Sans KR"/>
              </a:rPr>
              <a:t>물류신문, 2024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5848" y="4754880"/>
            <a:ext cx="490712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>
                <a:solidFill>
                  <a:srgbClr val="FFFFFF"/>
                </a:solidFill>
                <a:latin typeface="Noto Sans KR Light"/>
                <a:ea typeface="Noto Sans KR Light"/>
              </a:rPr>
              <a:t>연 4조 원대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5848" y="5321808"/>
            <a:ext cx="49071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98989E"/>
                </a:solidFill>
                <a:latin typeface="Noto Sans KR DemiLight"/>
                <a:ea typeface="Noto Sans KR DemiLight"/>
              </a:rPr>
              <a:t>국내 이커머스 반품 처리 비용 (2023년 추정)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5848" y="5650992"/>
            <a:ext cx="490712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>
                <a:solidFill>
                  <a:srgbClr val="5A5A5E"/>
                </a:solidFill>
                <a:latin typeface="Noto Sans KR"/>
                <a:ea typeface="Noto Sans KR"/>
              </a:rPr>
              <a:t>머니투데이, 2024</a:t>
            </a:r>
          </a:p>
        </p:txBody>
      </p:sp>
      <p:pic>
        <p:nvPicPr>
          <p:cNvPr id="13" name="Picture 12" descr="fitcheck_wordmark_d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6245352"/>
            <a:ext cx="1106944" cy="914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454335" y="61722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spc="80">
                <a:solidFill>
                  <a:srgbClr val="5A5A5E"/>
                </a:solidFill>
                <a:latin typeface="Noto Sans KR"/>
                <a:ea typeface="Noto Sans KR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13232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spc="90">
                <a:solidFill>
                  <a:srgbClr val="98989E"/>
                </a:solidFill>
                <a:latin typeface="Noto Sans KR Medium"/>
                <a:ea typeface="Noto Sans KR Medium"/>
              </a:rPr>
              <a:t>기존 서비스의 한계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48840"/>
            <a:ext cx="95097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4200">
                <a:solidFill>
                  <a:srgbClr val="FFFFFF"/>
                </a:solidFill>
                <a:latin typeface="Noto Sans KR Light"/>
                <a:ea typeface="Noto Sans KR Light"/>
              </a:rPr>
              <a:t>기존 가상 피팅은</a:t>
            </a:r>
          </a:p>
          <a:p>
            <a:pPr algn="l">
              <a:lnSpc>
                <a:spcPct val="128000"/>
              </a:lnSpc>
            </a:pPr>
            <a:r>
              <a:rPr sz="4200">
                <a:solidFill>
                  <a:srgbClr val="FFFFFF"/>
                </a:solidFill>
                <a:latin typeface="Noto Sans KR Light"/>
                <a:ea typeface="Noto Sans KR Light"/>
              </a:rPr>
              <a:t>입어본 모습만 보여준다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343400"/>
            <a:ext cx="8778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>
                <a:solidFill>
                  <a:srgbClr val="98989E"/>
                </a:solidFill>
                <a:latin typeface="Noto Sans KR DemiLight"/>
                <a:ea typeface="Noto Sans KR DemiLight"/>
              </a:rPr>
              <a:t>그 옷이 나에게 맞는 사이즈인지는 알려주지 않는다.</a:t>
            </a:r>
          </a:p>
        </p:txBody>
      </p:sp>
      <p:pic>
        <p:nvPicPr>
          <p:cNvPr id="5" name="Picture 4" descr="fitcheck_wordmark_d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6245352"/>
            <a:ext cx="1106944" cy="91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454335" y="61722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spc="80">
                <a:solidFill>
                  <a:srgbClr val="5A5A5E"/>
                </a:solidFill>
                <a:latin typeface="Noto Sans KR"/>
                <a:ea typeface="Noto Sans KR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13232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spc="90">
                <a:solidFill>
                  <a:srgbClr val="98989E"/>
                </a:solidFill>
                <a:latin typeface="Noto Sans KR Medium"/>
                <a:ea typeface="Noto Sans KR Medium"/>
              </a:rPr>
              <a:t>기준의 불일치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095848" y="2148840"/>
            <a:ext cx="0" cy="1965960"/>
          </a:xfrm>
          <a:prstGeom prst="line">
            <a:avLst/>
          </a:prstGeom>
          <a:ln w="9525">
            <a:solidFill>
              <a:srgbClr val="2C2C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2103120"/>
            <a:ext cx="48156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spc="60">
                <a:solidFill>
                  <a:srgbClr val="98989E"/>
                </a:solidFill>
                <a:latin typeface="Noto Sans KR Medium"/>
                <a:ea typeface="Noto Sans KR Medium"/>
              </a:rPr>
              <a:t>내가 아는 내 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514600"/>
            <a:ext cx="481568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0">
                <a:solidFill>
                  <a:srgbClr val="FFFFFF"/>
                </a:solidFill>
                <a:latin typeface="Noto Sans KR Light"/>
                <a:ea typeface="Noto Sans KR Light"/>
              </a:rPr>
              <a:t>96</a:t>
            </a:r>
            <a:r>
              <a:rPr sz="2200">
                <a:solidFill>
                  <a:srgbClr val="98989E"/>
                </a:solidFill>
                <a:latin typeface="Noto Sans KR DemiLight"/>
                <a:ea typeface="Noto Sans KR DemiLight"/>
              </a:rPr>
              <a:t>  cm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67328"/>
            <a:ext cx="48156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>
                <a:solidFill>
                  <a:srgbClr val="98989E"/>
                </a:solidFill>
                <a:latin typeface="Noto Sans KR DemiLight"/>
                <a:ea typeface="Noto Sans KR DemiLight"/>
              </a:rPr>
              <a:t>가슴둘레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53048" y="2103120"/>
            <a:ext cx="48156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spc="60">
                <a:solidFill>
                  <a:srgbClr val="98989E"/>
                </a:solidFill>
                <a:latin typeface="Noto Sans KR Medium"/>
                <a:ea typeface="Noto Sans KR Medium"/>
              </a:rPr>
              <a:t>쇼핑몰 치수표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53048" y="2514600"/>
            <a:ext cx="481568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0">
                <a:solidFill>
                  <a:srgbClr val="FFFFFF"/>
                </a:solidFill>
                <a:latin typeface="Noto Sans KR Light"/>
                <a:ea typeface="Noto Sans KR Light"/>
              </a:rPr>
              <a:t>52</a:t>
            </a:r>
            <a:r>
              <a:rPr sz="2200">
                <a:solidFill>
                  <a:srgbClr val="98989E"/>
                </a:solidFill>
                <a:latin typeface="Noto Sans KR DemiLight"/>
                <a:ea typeface="Noto Sans KR DemiLight"/>
              </a:rPr>
              <a:t>  cm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53048" y="3767328"/>
            <a:ext cx="48156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>
                <a:solidFill>
                  <a:srgbClr val="98989E"/>
                </a:solidFill>
                <a:latin typeface="Noto Sans KR DemiLight"/>
                <a:ea typeface="Noto Sans KR DemiLight"/>
              </a:rPr>
              <a:t>가슴단면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709160"/>
            <a:ext cx="105457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>
                <a:solidFill>
                  <a:srgbClr val="98989E"/>
                </a:solidFill>
                <a:latin typeface="Noto Sans KR DemiLight"/>
                <a:ea typeface="Noto Sans KR DemiLight"/>
              </a:rPr>
              <a:t>같은 옷을 두고도 재는 기준이 달라, 사용자는 두 숫자를 직접 비교할 수 없다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230368"/>
            <a:ext cx="105457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>
                <a:solidFill>
                  <a:srgbClr val="FFFFFF"/>
                </a:solidFill>
                <a:latin typeface="Noto Sans KR"/>
                <a:ea typeface="Noto Sans KR"/>
              </a:rPr>
              <a:t>앱이 변환해서 대신 비교한다</a:t>
            </a:r>
          </a:p>
        </p:txBody>
      </p:sp>
      <p:pic>
        <p:nvPicPr>
          <p:cNvPr id="12" name="Picture 11" descr="fitcheck_wordmark_d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6245352"/>
            <a:ext cx="1106944" cy="914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454335" y="61722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spc="80">
                <a:solidFill>
                  <a:srgbClr val="5A5A5E"/>
                </a:solidFill>
                <a:latin typeface="Noto Sans KR"/>
                <a:ea typeface="Noto Sans KR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13232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spc="90">
                <a:solidFill>
                  <a:srgbClr val="98989E"/>
                </a:solidFill>
                <a:latin typeface="Noto Sans KR Medium"/>
                <a:ea typeface="Noto Sans KR Medium"/>
              </a:rPr>
              <a:t>과제 목적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48840"/>
            <a:ext cx="95097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4200">
                <a:solidFill>
                  <a:srgbClr val="FFFFFF"/>
                </a:solidFill>
                <a:latin typeface="Noto Sans KR Light"/>
                <a:ea typeface="Noto Sans KR Light"/>
              </a:rPr>
              <a:t>입어본 모습과</a:t>
            </a:r>
          </a:p>
          <a:p>
            <a:pPr algn="l">
              <a:lnSpc>
                <a:spcPct val="128000"/>
              </a:lnSpc>
            </a:pPr>
            <a:r>
              <a:rPr sz="4200">
                <a:solidFill>
                  <a:srgbClr val="FFFFFF"/>
                </a:solidFill>
                <a:latin typeface="Noto Sans KR Light"/>
                <a:ea typeface="Noto Sans KR Light"/>
              </a:rPr>
              <a:t>맞는 사이즈를 한 번에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343400"/>
            <a:ext cx="8778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>
                <a:solidFill>
                  <a:srgbClr val="98989E"/>
                </a:solidFill>
                <a:latin typeface="Noto Sans KR DemiLight"/>
                <a:ea typeface="Noto Sans KR DemiLight"/>
              </a:rPr>
              <a:t>가상 피팅과 사이즈 추천을 하나로 잇는 end-to-end 옷 추천 서비스를 만든다.</a:t>
            </a:r>
          </a:p>
        </p:txBody>
      </p:sp>
      <p:pic>
        <p:nvPicPr>
          <p:cNvPr id="5" name="Picture 4" descr="fitcheck_wordmark_d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6245352"/>
            <a:ext cx="1106944" cy="91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454335" y="61722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spc="80">
                <a:solidFill>
                  <a:srgbClr val="5A5A5E"/>
                </a:solidFill>
                <a:latin typeface="Noto Sans KR"/>
                <a:ea typeface="Noto Sans KR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13232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spc="90">
                <a:solidFill>
                  <a:srgbClr val="98989E"/>
                </a:solidFill>
                <a:latin typeface="Noto Sans KR Medium"/>
                <a:ea typeface="Noto Sans KR Medium"/>
              </a:rPr>
              <a:t>어떻게 만드는가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2148840"/>
            <a:ext cx="3017520" cy="2286000"/>
          </a:xfrm>
          <a:prstGeom prst="roundRect">
            <a:avLst>
              <a:gd name="adj" fmla="val 7500"/>
            </a:avLst>
          </a:prstGeom>
          <a:solidFill>
            <a:srgbClr val="1E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133856" y="2478024"/>
            <a:ext cx="239572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spc="180">
                <a:solidFill>
                  <a:srgbClr val="5A5A5E"/>
                </a:solidFill>
                <a:latin typeface="Noto Sans KR Medium"/>
                <a:ea typeface="Noto Sans KR Medium"/>
              </a:rPr>
              <a:t>INPUT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" y="2807208"/>
            <a:ext cx="23957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>
                <a:solidFill>
                  <a:srgbClr val="FFFFFF"/>
                </a:solidFill>
                <a:latin typeface="Noto Sans KR"/>
                <a:ea typeface="Noto Sans KR"/>
              </a:rPr>
              <a:t>입력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" y="3355848"/>
            <a:ext cx="239572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700"/>
              </a:spcAft>
            </a:pPr>
            <a:r>
              <a:rPr sz="1300">
                <a:solidFill>
                  <a:srgbClr val="98989E"/>
                </a:solidFill>
                <a:latin typeface="Noto Sans KR DemiLight"/>
                <a:ea typeface="Noto Sans KR DemiLight"/>
              </a:rPr>
              <a:t>사용자 — 전신 사진, 신체 치수</a:t>
            </a:r>
          </a:p>
          <a:p>
            <a:pPr algn="l">
              <a:lnSpc>
                <a:spcPct val="135000"/>
              </a:lnSpc>
              <a:spcAft>
                <a:spcPts val="700"/>
              </a:spcAft>
            </a:pPr>
            <a:r>
              <a:rPr sz="1300">
                <a:solidFill>
                  <a:srgbClr val="98989E"/>
                </a:solidFill>
                <a:latin typeface="Noto Sans KR DemiLight"/>
                <a:ea typeface="Noto Sans KR DemiLight"/>
              </a:rPr>
              <a:t>옷 — 상품 이미지, 치수표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3108960"/>
            <a:ext cx="7466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>
                <a:solidFill>
                  <a:srgbClr val="5A5A5E"/>
                </a:solidFill>
                <a:latin typeface="Noto Sans KR DemiLight"/>
                <a:ea typeface="Noto Sans KR DemiLight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87088" y="2148840"/>
            <a:ext cx="3017520" cy="2286000"/>
          </a:xfrm>
          <a:prstGeom prst="roundRect">
            <a:avLst>
              <a:gd name="adj" fmla="val 7500"/>
            </a:avLst>
          </a:prstGeom>
          <a:solidFill>
            <a:srgbClr val="1E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897984" y="2478024"/>
            <a:ext cx="239572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spc="180">
                <a:solidFill>
                  <a:srgbClr val="5A5A5E"/>
                </a:solidFill>
                <a:latin typeface="Noto Sans KR Medium"/>
                <a:ea typeface="Noto Sans KR Medium"/>
              </a:rPr>
              <a:t>PROCESS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7984" y="2807208"/>
            <a:ext cx="23957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>
                <a:solidFill>
                  <a:srgbClr val="FFFFFF"/>
                </a:solidFill>
                <a:latin typeface="Noto Sans KR"/>
                <a:ea typeface="Noto Sans KR"/>
              </a:rPr>
              <a:t>처리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7984" y="3355848"/>
            <a:ext cx="239572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700"/>
              </a:spcAft>
            </a:pPr>
            <a:r>
              <a:rPr sz="1300">
                <a:solidFill>
                  <a:srgbClr val="98989E"/>
                </a:solidFill>
                <a:latin typeface="Noto Sans KR DemiLight"/>
                <a:ea typeface="Noto Sans KR DemiLight"/>
              </a:rPr>
              <a:t>가상 피팅 — diffusion 이미지 합성</a:t>
            </a:r>
          </a:p>
          <a:p>
            <a:pPr algn="l">
              <a:lnSpc>
                <a:spcPct val="135000"/>
              </a:lnSpc>
              <a:spcAft>
                <a:spcPts val="700"/>
              </a:spcAft>
            </a:pPr>
            <a:r>
              <a:rPr sz="1300">
                <a:solidFill>
                  <a:srgbClr val="98989E"/>
                </a:solidFill>
                <a:latin typeface="Noto Sans KR DemiLight"/>
                <a:ea typeface="Noto Sans KR DemiLight"/>
              </a:rPr>
              <a:t>사이즈 추천 — 여유분 계산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04608" y="3108960"/>
            <a:ext cx="7466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>
                <a:solidFill>
                  <a:srgbClr val="5A5A5E"/>
                </a:solidFill>
                <a:latin typeface="Noto Sans KR DemiLight"/>
                <a:ea typeface="Noto Sans KR DemiLight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51216" y="2148840"/>
            <a:ext cx="3017520" cy="2286000"/>
          </a:xfrm>
          <a:prstGeom prst="roundRect">
            <a:avLst>
              <a:gd name="adj" fmla="val 7500"/>
            </a:avLst>
          </a:prstGeom>
          <a:solidFill>
            <a:srgbClr val="1E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662112" y="2478024"/>
            <a:ext cx="239572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spc="180">
                <a:solidFill>
                  <a:srgbClr val="5A5A5E"/>
                </a:solidFill>
                <a:latin typeface="Noto Sans KR Medium"/>
                <a:ea typeface="Noto Sans KR Medium"/>
              </a:rPr>
              <a:t>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62112" y="2807208"/>
            <a:ext cx="23957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>
                <a:solidFill>
                  <a:srgbClr val="FFFFFF"/>
                </a:solidFill>
                <a:latin typeface="Noto Sans KR"/>
                <a:ea typeface="Noto Sans KR"/>
              </a:rPr>
              <a:t>출력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62112" y="3355848"/>
            <a:ext cx="239572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700"/>
              </a:spcAft>
            </a:pPr>
            <a:r>
              <a:rPr sz="1300">
                <a:solidFill>
                  <a:srgbClr val="98989E"/>
                </a:solidFill>
                <a:latin typeface="Noto Sans KR DemiLight"/>
                <a:ea typeface="Noto Sans KR DemiLight"/>
              </a:rPr>
              <a:t>사이즈별 착용 모습</a:t>
            </a:r>
          </a:p>
          <a:p>
            <a:pPr algn="l">
              <a:lnSpc>
                <a:spcPct val="135000"/>
              </a:lnSpc>
              <a:spcAft>
                <a:spcPts val="700"/>
              </a:spcAft>
            </a:pPr>
            <a:r>
              <a:rPr sz="1300">
                <a:solidFill>
                  <a:srgbClr val="98989E"/>
                </a:solidFill>
                <a:latin typeface="Noto Sans KR DemiLight"/>
                <a:ea typeface="Noto Sans KR DemiLight"/>
              </a:rPr>
              <a:t>S · M · L 추천과 그 근거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983480"/>
            <a:ext cx="105457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>
                <a:solidFill>
                  <a:srgbClr val="98989E"/>
                </a:solidFill>
                <a:latin typeface="Noto Sans KR DemiLight"/>
                <a:ea typeface="Noto Sans KR DemiLight"/>
              </a:rPr>
              <a:t>별도의 실측 장비도, 추가 촬영도 없다. 쇼핑몰이 이미 갖고 있는 정보만으로 동작한다.</a:t>
            </a:r>
          </a:p>
        </p:txBody>
      </p:sp>
      <p:pic>
        <p:nvPicPr>
          <p:cNvPr id="18" name="Picture 17" descr="fitcheck_wordmark_d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6245352"/>
            <a:ext cx="1106944" cy="914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454335" y="61722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spc="80">
                <a:solidFill>
                  <a:srgbClr val="5A5A5E"/>
                </a:solidFill>
                <a:latin typeface="Noto Sans KR"/>
                <a:ea typeface="Noto Sans KR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406640" y="868680"/>
            <a:ext cx="3962095" cy="5074920"/>
          </a:xfrm>
          <a:prstGeom prst="roundRect">
            <a:avLst>
              <a:gd name="adj" fmla="val 5000"/>
            </a:avLst>
          </a:prstGeom>
          <a:solidFill>
            <a:srgbClr val="1E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ockup_up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1354" y="1188720"/>
            <a:ext cx="2052667" cy="44348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713232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spc="90">
                <a:solidFill>
                  <a:srgbClr val="98989E"/>
                </a:solidFill>
                <a:latin typeface="Noto Sans KR Medium"/>
                <a:ea typeface="Noto Sans KR Medium"/>
              </a:rPr>
              <a:t>구현  01  ·  가상 피팅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58521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3300">
                <a:solidFill>
                  <a:srgbClr val="FFFFFF"/>
                </a:solidFill>
                <a:latin typeface="Noto Sans KR Light"/>
                <a:ea typeface="Noto Sans KR Light"/>
              </a:rPr>
              <a:t>사진 두 장으로</a:t>
            </a:r>
          </a:p>
          <a:p>
            <a:pPr algn="l">
              <a:lnSpc>
                <a:spcPct val="128000"/>
              </a:lnSpc>
            </a:pPr>
            <a:r>
              <a:rPr sz="3300">
                <a:solidFill>
                  <a:srgbClr val="FFFFFF"/>
                </a:solidFill>
                <a:latin typeface="Noto Sans KR Light"/>
                <a:ea typeface="Noto Sans KR Light"/>
              </a:rPr>
              <a:t>착용 모습을 만든다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3703320"/>
            <a:ext cx="4663440" cy="0"/>
          </a:xfrm>
          <a:prstGeom prst="line">
            <a:avLst/>
          </a:prstGeom>
          <a:ln w="9525">
            <a:solidFill>
              <a:srgbClr val="2C2C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22960" y="3977639"/>
            <a:ext cx="58521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1300"/>
              </a:spcAft>
            </a:pPr>
            <a:r>
              <a:rPr sz="1500">
                <a:solidFill>
                  <a:srgbClr val="98989E"/>
                </a:solidFill>
                <a:latin typeface="Noto Sans KR DemiLight"/>
                <a:ea typeface="Noto Sans KR DemiLight"/>
              </a:rPr>
              <a:t>사용자 전신 사진 + 옷 이미지 입력</a:t>
            </a:r>
          </a:p>
          <a:p>
            <a:pPr algn="l">
              <a:lnSpc>
                <a:spcPct val="130000"/>
              </a:lnSpc>
              <a:spcAft>
                <a:spcPts val="1300"/>
              </a:spcAft>
            </a:pPr>
            <a:r>
              <a:rPr sz="1500">
                <a:solidFill>
                  <a:srgbClr val="98989E"/>
                </a:solidFill>
                <a:latin typeface="Noto Sans KR DemiLight"/>
                <a:ea typeface="Noto Sans KR DemiLight"/>
              </a:rPr>
              <a:t>diffusion 기반 이미지 합성</a:t>
            </a:r>
          </a:p>
          <a:p>
            <a:pPr algn="l">
              <a:lnSpc>
                <a:spcPct val="130000"/>
              </a:lnSpc>
              <a:spcAft>
                <a:spcPts val="1300"/>
              </a:spcAft>
            </a:pPr>
            <a:r>
              <a:rPr sz="1500">
                <a:solidFill>
                  <a:srgbClr val="98989E"/>
                </a:solidFill>
                <a:latin typeface="Noto Sans KR DemiLight"/>
                <a:ea typeface="Noto Sans KR DemiLight"/>
              </a:rPr>
              <a:t>상의 · 하의 · 원피스 카테고리별 지원</a:t>
            </a:r>
          </a:p>
        </p:txBody>
      </p:sp>
      <p:pic>
        <p:nvPicPr>
          <p:cNvPr id="8" name="Picture 7" descr="fitcheck_wordmark_d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6245352"/>
            <a:ext cx="1106944" cy="914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454335" y="61722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spc="80">
                <a:solidFill>
                  <a:srgbClr val="5A5A5E"/>
                </a:solidFill>
                <a:latin typeface="Noto Sans KR"/>
                <a:ea typeface="Noto Sans KR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406640" y="868680"/>
            <a:ext cx="3962095" cy="5074920"/>
          </a:xfrm>
          <a:prstGeom prst="roundRect">
            <a:avLst>
              <a:gd name="adj" fmla="val 5000"/>
            </a:avLst>
          </a:prstGeom>
          <a:solidFill>
            <a:srgbClr val="1E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ockup_meas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1354" y="1188720"/>
            <a:ext cx="2052667" cy="44348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713232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spc="90">
                <a:solidFill>
                  <a:srgbClr val="98989E"/>
                </a:solidFill>
                <a:latin typeface="Noto Sans KR Medium"/>
                <a:ea typeface="Noto Sans KR Medium"/>
              </a:rPr>
              <a:t>구현  02  ·  사이즈 추천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58521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3300">
                <a:solidFill>
                  <a:srgbClr val="FFFFFF"/>
                </a:solidFill>
                <a:latin typeface="Noto Sans KR Light"/>
                <a:ea typeface="Noto Sans KR Light"/>
              </a:rPr>
              <a:t>아는 치수만 넣어도</a:t>
            </a:r>
          </a:p>
          <a:p>
            <a:pPr algn="l">
              <a:lnSpc>
                <a:spcPct val="128000"/>
              </a:lnSpc>
            </a:pPr>
            <a:r>
              <a:rPr sz="3300">
                <a:solidFill>
                  <a:srgbClr val="FFFFFF"/>
                </a:solidFill>
                <a:latin typeface="Noto Sans KR Light"/>
                <a:ea typeface="Noto Sans KR Light"/>
              </a:rPr>
              <a:t>추천이 나온다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3703320"/>
            <a:ext cx="4663440" cy="0"/>
          </a:xfrm>
          <a:prstGeom prst="line">
            <a:avLst/>
          </a:prstGeom>
          <a:ln w="9525">
            <a:solidFill>
              <a:srgbClr val="2C2C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22960" y="3977639"/>
            <a:ext cx="58521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1300"/>
              </a:spcAft>
            </a:pPr>
            <a:r>
              <a:rPr sz="1500">
                <a:solidFill>
                  <a:srgbClr val="98989E"/>
                </a:solidFill>
                <a:latin typeface="Noto Sans KR DemiLight"/>
                <a:ea typeface="Noto Sans KR DemiLight"/>
              </a:rPr>
              <a:t>키 · 어깨너비 · 가슴둘레 · 허리둘레</a:t>
            </a:r>
          </a:p>
          <a:p>
            <a:pPr algn="l">
              <a:lnSpc>
                <a:spcPct val="130000"/>
              </a:lnSpc>
              <a:spcAft>
                <a:spcPts val="1300"/>
              </a:spcAft>
            </a:pPr>
            <a:r>
              <a:rPr sz="1500">
                <a:solidFill>
                  <a:srgbClr val="98989E"/>
                </a:solidFill>
                <a:latin typeface="Noto Sans KR DemiLight"/>
                <a:ea typeface="Noto Sans KR DemiLight"/>
              </a:rPr>
              <a:t>둘레 ↔ 단면 자동 변환</a:t>
            </a:r>
          </a:p>
          <a:p>
            <a:pPr algn="l">
              <a:lnSpc>
                <a:spcPct val="130000"/>
              </a:lnSpc>
              <a:spcAft>
                <a:spcPts val="1300"/>
              </a:spcAft>
            </a:pPr>
            <a:r>
              <a:rPr sz="1500">
                <a:solidFill>
                  <a:srgbClr val="98989E"/>
                </a:solidFill>
                <a:latin typeface="Noto Sans KR DemiLight"/>
                <a:ea typeface="Noto Sans KR DemiLight"/>
              </a:rPr>
              <a:t>여유분 계산 → S / M / L 판정</a:t>
            </a:r>
          </a:p>
        </p:txBody>
      </p:sp>
      <p:pic>
        <p:nvPicPr>
          <p:cNvPr id="8" name="Picture 7" descr="fitcheck_wordmark_d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6245352"/>
            <a:ext cx="1106944" cy="914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454335" y="61722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spc="80">
                <a:solidFill>
                  <a:srgbClr val="5A5A5E"/>
                </a:solidFill>
                <a:latin typeface="Noto Sans KR"/>
                <a:ea typeface="Noto Sans KR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406640" y="868680"/>
            <a:ext cx="3962095" cy="5074920"/>
          </a:xfrm>
          <a:prstGeom prst="roundRect">
            <a:avLst>
              <a:gd name="adj" fmla="val 5000"/>
            </a:avLst>
          </a:prstGeom>
          <a:solidFill>
            <a:srgbClr val="1E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ockup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1354" y="1188720"/>
            <a:ext cx="2052667" cy="44348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713232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spc="90">
                <a:solidFill>
                  <a:srgbClr val="98989E"/>
                </a:solidFill>
                <a:latin typeface="Noto Sans KR Medium"/>
                <a:ea typeface="Noto Sans KR Medium"/>
              </a:rPr>
              <a:t>구현  03  ·  두 기능의 통합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58521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3300">
                <a:solidFill>
                  <a:srgbClr val="FFFFFF"/>
                </a:solidFill>
                <a:latin typeface="Noto Sans KR Light"/>
                <a:ea typeface="Noto Sans KR Light"/>
              </a:rPr>
              <a:t>같은 옷,</a:t>
            </a:r>
          </a:p>
          <a:p>
            <a:pPr algn="l">
              <a:lnSpc>
                <a:spcPct val="128000"/>
              </a:lnSpc>
            </a:pPr>
            <a:r>
              <a:rPr sz="3300">
                <a:solidFill>
                  <a:srgbClr val="FFFFFF"/>
                </a:solidFill>
                <a:latin typeface="Noto Sans KR Light"/>
                <a:ea typeface="Noto Sans KR Light"/>
              </a:rPr>
              <a:t>사이즈만 다르게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3703320"/>
            <a:ext cx="4663440" cy="0"/>
          </a:xfrm>
          <a:prstGeom prst="line">
            <a:avLst/>
          </a:prstGeom>
          <a:ln w="9525">
            <a:solidFill>
              <a:srgbClr val="2C2C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22960" y="3977639"/>
            <a:ext cx="58521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1300"/>
              </a:spcAft>
            </a:pPr>
            <a:r>
              <a:rPr sz="1500">
                <a:solidFill>
                  <a:srgbClr val="98989E"/>
                </a:solidFill>
                <a:latin typeface="Noto Sans KR DemiLight"/>
                <a:ea typeface="Noto Sans KR DemiLight"/>
              </a:rPr>
              <a:t>추천 사이즈별 착용 모습을 나란히 비교</a:t>
            </a:r>
          </a:p>
          <a:p>
            <a:pPr algn="l">
              <a:lnSpc>
                <a:spcPct val="130000"/>
              </a:lnSpc>
              <a:spcAft>
                <a:spcPts val="1300"/>
              </a:spcAft>
            </a:pPr>
            <a:r>
              <a:rPr sz="1500">
                <a:solidFill>
                  <a:srgbClr val="98989E"/>
                </a:solidFill>
                <a:latin typeface="Noto Sans KR DemiLight"/>
                <a:ea typeface="Noto Sans KR DemiLight"/>
              </a:rPr>
              <a:t>여유분을 실루엣에 반영</a:t>
            </a:r>
          </a:p>
          <a:p>
            <a:pPr algn="l">
              <a:lnSpc>
                <a:spcPct val="130000"/>
              </a:lnSpc>
              <a:spcAft>
                <a:spcPts val="1300"/>
              </a:spcAft>
            </a:pPr>
            <a:r>
              <a:rPr sz="1500">
                <a:solidFill>
                  <a:srgbClr val="98989E"/>
                </a:solidFill>
                <a:latin typeface="Noto Sans KR DemiLight"/>
                <a:ea typeface="Noto Sans KR DemiLight"/>
              </a:rPr>
              <a:t>이 연결이 과제의 핵심</a:t>
            </a:r>
          </a:p>
        </p:txBody>
      </p:sp>
      <p:pic>
        <p:nvPicPr>
          <p:cNvPr id="8" name="Picture 7" descr="fitcheck_wordmark_d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6245352"/>
            <a:ext cx="1106944" cy="914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454335" y="61722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spc="80">
                <a:solidFill>
                  <a:srgbClr val="5A5A5E"/>
                </a:solidFill>
                <a:latin typeface="Noto Sans KR"/>
                <a:ea typeface="Noto Sans KR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13232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spc="90">
                <a:solidFill>
                  <a:srgbClr val="98989E"/>
                </a:solidFill>
                <a:latin typeface="Noto Sans KR Medium"/>
                <a:ea typeface="Noto Sans KR Medium"/>
              </a:rPr>
              <a:t>기대 효과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24028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spc="140">
                <a:solidFill>
                  <a:srgbClr val="5A5A5E"/>
                </a:solidFill>
                <a:latin typeface="Noto Sans KR Medium"/>
                <a:ea typeface="Noto Sans KR Medium"/>
              </a:rPr>
              <a:t>소비자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2651760"/>
            <a:ext cx="3017520" cy="0"/>
          </a:xfrm>
          <a:prstGeom prst="line">
            <a:avLst/>
          </a:prstGeom>
          <a:ln w="9525">
            <a:solidFill>
              <a:srgbClr val="2C2C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2926080"/>
            <a:ext cx="30175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300">
                <a:solidFill>
                  <a:srgbClr val="FFFFFF"/>
                </a:solidFill>
                <a:latin typeface="Noto Sans KR Light"/>
                <a:ea typeface="Noto Sans KR Light"/>
              </a:rPr>
              <a:t>사이즈 실패로 인한</a:t>
            </a:r>
          </a:p>
          <a:p>
            <a:pPr algn="l">
              <a:lnSpc>
                <a:spcPct val="130000"/>
              </a:lnSpc>
            </a:pPr>
            <a:r>
              <a:rPr sz="2300">
                <a:solidFill>
                  <a:srgbClr val="FFFFFF"/>
                </a:solidFill>
                <a:latin typeface="Noto Sans KR Light"/>
                <a:ea typeface="Noto Sans KR Light"/>
              </a:rPr>
              <a:t>반품을 줄인다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297680"/>
            <a:ext cx="3017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>
                <a:solidFill>
                  <a:srgbClr val="98989E"/>
                </a:solidFill>
                <a:latin typeface="Noto Sans KR DemiLight"/>
                <a:ea typeface="Noto Sans KR DemiLight"/>
              </a:rPr>
              <a:t>사기 전에 맞는 사이즈로 입은 모습을 본다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87088" y="224028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spc="140">
                <a:solidFill>
                  <a:srgbClr val="5A5A5E"/>
                </a:solidFill>
                <a:latin typeface="Noto Sans KR Medium"/>
                <a:ea typeface="Noto Sans KR Medium"/>
              </a:rPr>
              <a:t>판매 기업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87088" y="2651760"/>
            <a:ext cx="3017520" cy="0"/>
          </a:xfrm>
          <a:prstGeom prst="line">
            <a:avLst/>
          </a:prstGeom>
          <a:ln w="9525">
            <a:solidFill>
              <a:srgbClr val="2C2C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587088" y="2926080"/>
            <a:ext cx="30175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300">
                <a:solidFill>
                  <a:srgbClr val="FFFFFF"/>
                </a:solidFill>
                <a:latin typeface="Noto Sans KR Light"/>
                <a:ea typeface="Noto Sans KR Light"/>
              </a:rPr>
              <a:t>반품 물류 · 재고</a:t>
            </a:r>
          </a:p>
          <a:p>
            <a:pPr algn="l">
              <a:lnSpc>
                <a:spcPct val="130000"/>
              </a:lnSpc>
            </a:pPr>
            <a:r>
              <a:rPr sz="2300">
                <a:solidFill>
                  <a:srgbClr val="FFFFFF"/>
                </a:solidFill>
                <a:latin typeface="Noto Sans KR Light"/>
                <a:ea typeface="Noto Sans KR Light"/>
              </a:rPr>
              <a:t>비용을 줄인다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87088" y="4297680"/>
            <a:ext cx="3017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>
                <a:solidFill>
                  <a:srgbClr val="98989E"/>
                </a:solidFill>
                <a:latin typeface="Noto Sans KR DemiLight"/>
                <a:ea typeface="Noto Sans KR DemiLight"/>
              </a:rPr>
              <a:t>사이즈 문의와 교환 응대 부담도 준다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51216" y="224028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spc="140">
                <a:solidFill>
                  <a:srgbClr val="5A5A5E"/>
                </a:solidFill>
                <a:latin typeface="Noto Sans KR Medium"/>
                <a:ea typeface="Noto Sans KR Medium"/>
              </a:rPr>
              <a:t>확장성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351216" y="2651760"/>
            <a:ext cx="3017520" cy="0"/>
          </a:xfrm>
          <a:prstGeom prst="line">
            <a:avLst/>
          </a:prstGeom>
          <a:ln w="9525">
            <a:solidFill>
              <a:srgbClr val="2C2C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351216" y="2926080"/>
            <a:ext cx="30175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300">
                <a:solidFill>
                  <a:srgbClr val="FFFFFF"/>
                </a:solidFill>
                <a:latin typeface="Noto Sans KR Light"/>
                <a:ea typeface="Noto Sans KR Light"/>
              </a:rPr>
              <a:t>치수표만 있으면</a:t>
            </a:r>
          </a:p>
          <a:p>
            <a:pPr algn="l">
              <a:lnSpc>
                <a:spcPct val="130000"/>
              </a:lnSpc>
            </a:pPr>
            <a:r>
              <a:rPr sz="2300">
                <a:solidFill>
                  <a:srgbClr val="FFFFFF"/>
                </a:solidFill>
                <a:latin typeface="Noto Sans KR Light"/>
                <a:ea typeface="Noto Sans KR Light"/>
              </a:rPr>
              <a:t>어떤 상품에도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51216" y="4297680"/>
            <a:ext cx="3017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>
                <a:solidFill>
                  <a:srgbClr val="98989E"/>
                </a:solidFill>
                <a:latin typeface="Noto Sans KR DemiLight"/>
                <a:ea typeface="Noto Sans KR DemiLight"/>
              </a:rPr>
              <a:t>쇼핑몰이 가진 데이터로 바로 적용된다</a:t>
            </a:r>
          </a:p>
        </p:txBody>
      </p:sp>
      <p:pic>
        <p:nvPicPr>
          <p:cNvPr id="15" name="Picture 14" descr="fitcheck_wordmark_d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6245352"/>
            <a:ext cx="1106944" cy="914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454335" y="61722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spc="80">
                <a:solidFill>
                  <a:srgbClr val="5A5A5E"/>
                </a:solidFill>
                <a:latin typeface="Noto Sans KR"/>
                <a:ea typeface="Noto Sans KR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13232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spc="90">
                <a:solidFill>
                  <a:srgbClr val="98989E"/>
                </a:solidFill>
                <a:latin typeface="Noto Sans KR Medium"/>
                <a:ea typeface="Noto Sans KR Medium"/>
              </a:rPr>
              <a:t>일정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822960" y="3611880"/>
            <a:ext cx="10545775" cy="0"/>
          </a:xfrm>
          <a:prstGeom prst="line">
            <a:avLst/>
          </a:prstGeom>
          <a:ln w="12700">
            <a:solidFill>
              <a:srgbClr val="2C2C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1781869" y="3516211"/>
            <a:ext cx="191338" cy="19133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210915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>
                <a:solidFill>
                  <a:srgbClr val="FFFFFF"/>
                </a:solidFill>
                <a:latin typeface="Noto Sans KR"/>
                <a:ea typeface="Noto Sans KR"/>
              </a:rPr>
              <a:t>9월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17433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300">
                <a:solidFill>
                  <a:srgbClr val="98989E"/>
                </a:solidFill>
                <a:latin typeface="Noto Sans KR DemiLight"/>
                <a:ea typeface="Noto Sans KR DemiLight"/>
              </a:rPr>
              <a:t>모델 · 관련 연구 조사</a:t>
            </a:r>
          </a:p>
          <a:p>
            <a:pPr algn="ctr">
              <a:lnSpc>
                <a:spcPct val="135000"/>
              </a:lnSpc>
            </a:pPr>
            <a:r>
              <a:rPr sz="1300">
                <a:solidFill>
                  <a:srgbClr val="98989E"/>
                </a:solidFill>
                <a:latin typeface="Noto Sans KR DemiLight"/>
                <a:ea typeface="Noto Sans KR DemiLight"/>
              </a:rPr>
              <a:t>과제 계획서 제출</a:t>
            </a:r>
          </a:p>
        </p:txBody>
      </p:sp>
      <p:sp>
        <p:nvSpPr>
          <p:cNvPr id="7" name="Oval 6"/>
          <p:cNvSpPr/>
          <p:nvPr/>
        </p:nvSpPr>
        <p:spPr>
          <a:xfrm>
            <a:off x="3915826" y="3541014"/>
            <a:ext cx="141732" cy="141732"/>
          </a:xfrm>
          <a:prstGeom prst="ellipse">
            <a:avLst/>
          </a:prstGeom>
          <a:solidFill>
            <a:srgbClr val="484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32114" y="2971800"/>
            <a:ext cx="210915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>
                <a:solidFill>
                  <a:srgbClr val="98989E"/>
                </a:solidFill>
                <a:latin typeface="Noto Sans KR DemiLight"/>
                <a:ea typeface="Noto Sans KR DemiLight"/>
              </a:rPr>
              <a:t>10월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14994" y="3977639"/>
            <a:ext cx="17433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300">
                <a:solidFill>
                  <a:srgbClr val="5A5A5E"/>
                </a:solidFill>
                <a:latin typeface="Noto Sans KR DemiLight"/>
                <a:ea typeface="Noto Sans KR DemiLight"/>
              </a:rPr>
              <a:t>여유분 계산 로직 구현</a:t>
            </a:r>
          </a:p>
          <a:p>
            <a:pPr algn="ctr">
              <a:lnSpc>
                <a:spcPct val="135000"/>
              </a:lnSpc>
            </a:pPr>
            <a:r>
              <a:rPr sz="1300">
                <a:solidFill>
                  <a:srgbClr val="5A5A5E"/>
                </a:solidFill>
                <a:latin typeface="Noto Sans KR DemiLight"/>
                <a:ea typeface="Noto Sans KR DemiLight"/>
              </a:rPr>
              <a:t>가상 피팅 모델 연동</a:t>
            </a:r>
          </a:p>
        </p:txBody>
      </p:sp>
      <p:sp>
        <p:nvSpPr>
          <p:cNvPr id="10" name="Oval 9"/>
          <p:cNvSpPr/>
          <p:nvPr/>
        </p:nvSpPr>
        <p:spPr>
          <a:xfrm>
            <a:off x="6024982" y="3541014"/>
            <a:ext cx="141732" cy="141732"/>
          </a:xfrm>
          <a:prstGeom prst="ellipse">
            <a:avLst/>
          </a:prstGeom>
          <a:solidFill>
            <a:srgbClr val="484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41270" y="2971800"/>
            <a:ext cx="210915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>
                <a:solidFill>
                  <a:srgbClr val="98989E"/>
                </a:solidFill>
                <a:latin typeface="Noto Sans KR DemiLight"/>
                <a:ea typeface="Noto Sans KR DemiLight"/>
              </a:rPr>
              <a:t>11월 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24150" y="3977639"/>
            <a:ext cx="17433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300">
                <a:solidFill>
                  <a:srgbClr val="5A5A5E"/>
                </a:solidFill>
                <a:latin typeface="Noto Sans KR DemiLight"/>
                <a:ea typeface="Noto Sans KR DemiLight"/>
              </a:rPr>
              <a:t>중간발표</a:t>
            </a:r>
          </a:p>
        </p:txBody>
      </p:sp>
      <p:sp>
        <p:nvSpPr>
          <p:cNvPr id="13" name="Oval 12"/>
          <p:cNvSpPr/>
          <p:nvPr/>
        </p:nvSpPr>
        <p:spPr>
          <a:xfrm>
            <a:off x="8134136" y="3541014"/>
            <a:ext cx="141732" cy="141732"/>
          </a:xfrm>
          <a:prstGeom prst="ellipse">
            <a:avLst/>
          </a:prstGeom>
          <a:solidFill>
            <a:srgbClr val="484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50424" y="2971800"/>
            <a:ext cx="210915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>
                <a:solidFill>
                  <a:srgbClr val="98989E"/>
                </a:solidFill>
                <a:latin typeface="Noto Sans KR DemiLight"/>
                <a:ea typeface="Noto Sans KR DemiLight"/>
              </a:rPr>
              <a:t>11 – 12월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33304" y="3977639"/>
            <a:ext cx="17433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300">
                <a:solidFill>
                  <a:srgbClr val="5A5A5E"/>
                </a:solidFill>
                <a:latin typeface="Noto Sans KR DemiLight"/>
                <a:ea typeface="Noto Sans KR DemiLight"/>
              </a:rPr>
              <a:t>사이즈별 핏 반영</a:t>
            </a:r>
          </a:p>
          <a:p>
            <a:pPr algn="ctr">
              <a:lnSpc>
                <a:spcPct val="135000"/>
              </a:lnSpc>
            </a:pPr>
            <a:r>
              <a:rPr sz="1300">
                <a:solidFill>
                  <a:srgbClr val="5A5A5E"/>
                </a:solidFill>
                <a:latin typeface="Noto Sans KR DemiLight"/>
                <a:ea typeface="Noto Sans KR DemiLight"/>
              </a:rPr>
              <a:t>앱 UI 통합</a:t>
            </a:r>
          </a:p>
        </p:txBody>
      </p:sp>
      <p:sp>
        <p:nvSpPr>
          <p:cNvPr id="16" name="Oval 15"/>
          <p:cNvSpPr/>
          <p:nvPr/>
        </p:nvSpPr>
        <p:spPr>
          <a:xfrm>
            <a:off x="10243292" y="3541014"/>
            <a:ext cx="141732" cy="141732"/>
          </a:xfrm>
          <a:prstGeom prst="ellipse">
            <a:avLst/>
          </a:prstGeom>
          <a:solidFill>
            <a:srgbClr val="484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59580" y="2971800"/>
            <a:ext cx="210915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>
                <a:solidFill>
                  <a:srgbClr val="98989E"/>
                </a:solidFill>
                <a:latin typeface="Noto Sans KR DemiLight"/>
                <a:ea typeface="Noto Sans KR DemiLight"/>
              </a:rPr>
              <a:t>12월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42460" y="3977639"/>
            <a:ext cx="17433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300">
                <a:solidFill>
                  <a:srgbClr val="5A5A5E"/>
                </a:solidFill>
                <a:latin typeface="Noto Sans KR DemiLight"/>
                <a:ea typeface="Noto Sans KR DemiLight"/>
              </a:rPr>
              <a:t>최종발표</a:t>
            </a:r>
          </a:p>
        </p:txBody>
      </p:sp>
      <p:pic>
        <p:nvPicPr>
          <p:cNvPr id="19" name="Picture 18" descr="fitcheck_wordmark_d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6245352"/>
            <a:ext cx="1106944" cy="9144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0454335" y="61722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spc="80">
                <a:solidFill>
                  <a:srgbClr val="5A5A5E"/>
                </a:solidFill>
                <a:latin typeface="Noto Sans KR"/>
                <a:ea typeface="Noto Sans KR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60604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200">
                <a:solidFill>
                  <a:srgbClr val="FFFFFF"/>
                </a:solidFill>
                <a:latin typeface="Noto Sans KR Light"/>
                <a:ea typeface="Noto Sans KR Light"/>
              </a:rPr>
              <a:t>감사합니다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611880"/>
            <a:ext cx="105457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spc="120">
                <a:solidFill>
                  <a:srgbClr val="98989E"/>
                </a:solidFill>
                <a:latin typeface="Noto Sans KR DemiLight"/>
                <a:ea typeface="Noto Sans KR DemiLight"/>
              </a:rPr>
              <a:t>Q  &amp;  A</a:t>
            </a:r>
          </a:p>
        </p:txBody>
      </p:sp>
      <p:pic>
        <p:nvPicPr>
          <p:cNvPr id="4" name="Picture 3" descr="fitcheck_lockup_v_d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4364" y="4617720"/>
            <a:ext cx="1022966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13232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spc="90">
                <a:solidFill>
                  <a:srgbClr val="98989E"/>
                </a:solidFill>
                <a:latin typeface="Noto Sans KR Medium"/>
                <a:ea typeface="Noto Sans KR Medium"/>
              </a:rPr>
              <a:t>APPENDIX  ·  참고 자료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>
                <a:solidFill>
                  <a:srgbClr val="5A5A5E"/>
                </a:solidFill>
                <a:latin typeface="Noto Sans KR Medium"/>
                <a:ea typeface="Noto Sans KR Medium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1325880"/>
            <a:ext cx="10042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FFFFFF"/>
                </a:solidFill>
                <a:latin typeface="Noto Sans KR"/>
                <a:ea typeface="Noto Sans KR"/>
              </a:rPr>
              <a:t>국내 이커머스 반품 약 9억 3,500만 건, 반품 처리 비용 약 4조 6,700억 원 (2023년 추정)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591056"/>
            <a:ext cx="100428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>
                <a:solidFill>
                  <a:srgbClr val="98989E"/>
                </a:solidFill>
                <a:latin typeface="Noto Sans KR DemiLight"/>
                <a:ea typeface="Noto Sans KR DemiLight"/>
              </a:rPr>
              <a:t>머니투데이 (2024. 9. 11.) — 택배 물량 × 반품률 20%(eMarketer)로 산출한 언론 추정치</a:t>
            </a:r>
            <a:r>
              <a:rPr sz="1000">
                <a:solidFill>
                  <a:srgbClr val="5A5A5E"/>
                </a:solidFill>
                <a:latin typeface="Noto Sans KR"/>
                <a:ea typeface="Noto Sans KR"/>
              </a:rPr>
              <a:t>   mt.co.kr/living/2024/09/11/2024091022404176342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75688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>
                <a:solidFill>
                  <a:srgbClr val="5A5A5E"/>
                </a:solidFill>
                <a:latin typeface="Noto Sans KR Medium"/>
                <a:ea typeface="Noto Sans KR Medium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075688"/>
            <a:ext cx="10042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FFFFFF"/>
                </a:solidFill>
                <a:latin typeface="Noto Sans KR"/>
                <a:ea typeface="Noto Sans KR"/>
              </a:rPr>
              <a:t>패션 평균 반품률 약 30%, 온라인 반품률은 오프라인의 3배 이상 · 사이즈·핏·색상 문제로 인한 반품 45% (Narvar 소비자 조사)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340864"/>
            <a:ext cx="100428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>
                <a:solidFill>
                  <a:srgbClr val="98989E"/>
                </a:solidFill>
                <a:latin typeface="Noto Sans KR DemiLight"/>
                <a:ea typeface="Noto Sans KR DemiLight"/>
              </a:rPr>
              <a:t>물류신문, "성장하는 패션 물류 시장, 경쟁 키워드 '반품'" (2024)</a:t>
            </a:r>
            <a:r>
              <a:rPr sz="1000">
                <a:solidFill>
                  <a:srgbClr val="5A5A5E"/>
                </a:solidFill>
                <a:latin typeface="Noto Sans KR"/>
                <a:ea typeface="Noto Sans KR"/>
              </a:rPr>
              <a:t>   klnews.co.kr/news/articleView.html?idxno=312851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25496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>
                <a:solidFill>
                  <a:srgbClr val="5A5A5E"/>
                </a:solidFill>
                <a:latin typeface="Noto Sans KR Medium"/>
                <a:ea typeface="Noto Sans KR Medium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825496"/>
            <a:ext cx="10042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FFFFFF"/>
                </a:solidFill>
                <a:latin typeface="Noto Sans KR"/>
                <a:ea typeface="Noto Sans KR"/>
              </a:rPr>
              <a:t>의류 판매자의 53%가 사이즈·핏을 반품 사유 1순위로 지목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3090672"/>
            <a:ext cx="100428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>
                <a:solidFill>
                  <a:srgbClr val="98989E"/>
                </a:solidFill>
                <a:latin typeface="Noto Sans KR DemiLight"/>
                <a:ea typeface="Noto Sans KR DemiLight"/>
              </a:rPr>
              <a:t>Coresight Research (2023) — 업계 보고서 2차 인용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575304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>
                <a:solidFill>
                  <a:srgbClr val="5A5A5E"/>
                </a:solidFill>
                <a:latin typeface="Noto Sans KR Medium"/>
                <a:ea typeface="Noto Sans KR Medium"/>
              </a:rP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3575304"/>
            <a:ext cx="10042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FFFFFF"/>
                </a:solidFill>
                <a:latin typeface="Noto Sans KR"/>
                <a:ea typeface="Noto Sans KR"/>
              </a:rPr>
              <a:t>화면 속 사이즈와 실제 치수의 차이가 주요 반품 사유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840480"/>
            <a:ext cx="100428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>
                <a:solidFill>
                  <a:srgbClr val="98989E"/>
                </a:solidFill>
                <a:latin typeface="Noto Sans KR DemiLight"/>
                <a:ea typeface="Noto Sans KR DemiLight"/>
              </a:rPr>
              <a:t>김지수 · 나영주 (2020). 패션 온라인 쇼핑몰 유형에 따른 반품이유와 반품물류서비스 만족도. 감성과학, 23(1), 3–16.</a:t>
            </a:r>
            <a:r>
              <a:rPr sz="1000">
                <a:solidFill>
                  <a:srgbClr val="5A5A5E"/>
                </a:solidFill>
                <a:latin typeface="Noto Sans KR"/>
                <a:ea typeface="Noto Sans KR"/>
              </a:rPr>
              <a:t>   scienceon.kisti.re.kr  (JAKO202022663815694)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325112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>
                <a:solidFill>
                  <a:srgbClr val="5A5A5E"/>
                </a:solidFill>
                <a:latin typeface="Noto Sans KR Medium"/>
                <a:ea typeface="Noto Sans KR Medium"/>
              </a:rPr>
              <a:t>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325112"/>
            <a:ext cx="10042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FFFFFF"/>
                </a:solidFill>
                <a:latin typeface="Noto Sans KR"/>
                <a:ea typeface="Noto Sans KR"/>
              </a:rPr>
              <a:t>온라인 판매의 19.3%가 반품될 것으로 전망 (2025년, 전 품목)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4590288"/>
            <a:ext cx="100428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>
                <a:solidFill>
                  <a:srgbClr val="98989E"/>
                </a:solidFill>
                <a:latin typeface="Noto Sans KR DemiLight"/>
                <a:ea typeface="Noto Sans KR DemiLight"/>
              </a:rPr>
              <a:t>National Retail Federation (NRF), 2025 Retail Returns Landscape</a:t>
            </a:r>
            <a:r>
              <a:rPr sz="1000">
                <a:solidFill>
                  <a:srgbClr val="5A5A5E"/>
                </a:solidFill>
                <a:latin typeface="Noto Sans KR"/>
                <a:ea typeface="Noto Sans KR"/>
              </a:rPr>
              <a:t>   nrf.com/research/2025-retail-returns-landscape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07492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>
                <a:solidFill>
                  <a:srgbClr val="5A5A5E"/>
                </a:solidFill>
                <a:latin typeface="Noto Sans KR Medium"/>
                <a:ea typeface="Noto Sans KR Medium"/>
              </a:rPr>
              <a:t>06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5074920"/>
            <a:ext cx="10042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FFFFFF"/>
                </a:solidFill>
                <a:latin typeface="Noto Sans KR"/>
                <a:ea typeface="Noto Sans KR"/>
              </a:rPr>
              <a:t>가상 피팅 구현에 활용할 diffusion 기반 모델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5340096"/>
            <a:ext cx="100428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>
                <a:solidFill>
                  <a:srgbClr val="98989E"/>
                </a:solidFill>
                <a:latin typeface="Noto Sans KR DemiLight"/>
                <a:ea typeface="Noto Sans KR DemiLight"/>
              </a:rPr>
              <a:t>Chong, Z. et al. (2024). CatVTON: Concatenation Is All You Need for Virtual Try-On with Diffusion Models. arXiv:2407.15886</a:t>
            </a:r>
            <a:r>
              <a:rPr sz="1000">
                <a:solidFill>
                  <a:srgbClr val="5A5A5E"/>
                </a:solidFill>
                <a:latin typeface="Noto Sans KR"/>
                <a:ea typeface="Noto Sans KR"/>
              </a:rPr>
              <a:t>   arxiv.org/abs/2407.15886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5843016"/>
            <a:ext cx="10042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>
                <a:solidFill>
                  <a:srgbClr val="5A5A5E"/>
                </a:solidFill>
                <a:latin typeface="Noto Sans KR DemiLight"/>
                <a:ea typeface="Noto Sans KR DemiLight"/>
              </a:rPr>
              <a:t>구현 화면 이미지는 팀이 직접 제작한 UI 목업이다.</a:t>
            </a:r>
          </a:p>
        </p:txBody>
      </p:sp>
      <p:pic>
        <p:nvPicPr>
          <p:cNvPr id="22" name="Picture 21" descr="fitcheck_wordmark_d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6245352"/>
            <a:ext cx="1106944" cy="9144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0454335" y="61722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spc="80">
                <a:solidFill>
                  <a:srgbClr val="5A5A5E"/>
                </a:solidFill>
                <a:latin typeface="Noto Sans KR"/>
                <a:ea typeface="Noto Sans KR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