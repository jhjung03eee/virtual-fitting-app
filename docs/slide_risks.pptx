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[약 55초]</a:t>
            </a:r>
          </a:p>
          <a:p/>
          <a:p>
            <a:r>
              <a:t>마지막으로 예상되는 어려움과 대응입니다.</a:t>
            </a:r>
          </a:p>
          <a:p/>
          <a:p>
            <a:r>
              <a:t>첫째, AI 합성은 같은 사진으로도 결과가 매번 달라서, 여러 장을 만들어 가장 자연스러운 한 장을 고르게 합니다. 둘째, 사용자 사진은 자세나 배경이 제각각이라 촬영 가이드를 주고 맞지 않는 사진은 다시 찍도록 안내합니다.</a:t>
            </a:r>
          </a:p>
          <a:p/>
          <a:p>
            <a:r>
              <a:t>셋째, 치수표는 캡처하면 AI가 읽어서 정리하는데, 숫자를 잘못 읽거나 지어낼 수 있습니다. 그래서 읽을 수 없는 칸은 비워 두게 하는 식으로 시스템 프롬프트를 세밀하게 짜서 막고, S·M·L 순서가 맞는지 한 번 더 자동으로 확인합니다.</a:t>
            </a:r>
          </a:p>
          <a:p/>
          <a:p>
            <a:r>
              <a:t>넷째, 생성 시간이 오래 걸리지만 품질을 우선하고, 기다리는 동안 사이즈 추천을 먼저 보여 드립니다.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13232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90">
                <a:solidFill>
                  <a:srgbClr val="98989E"/>
                </a:solidFill>
                <a:latin typeface="Noto Sans KR Medium"/>
                <a:ea typeface="Noto Sans KR Medium"/>
              </a:rPr>
              <a:t>우려되는 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>
                <a:solidFill>
                  <a:srgbClr val="FFFFFF"/>
                </a:solidFill>
                <a:latin typeface="Noto Sans KR Light"/>
                <a:ea typeface="Noto Sans KR Light"/>
              </a:rPr>
              <a:t>예상되는 어려움과 대응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48840"/>
            <a:ext cx="5135728" cy="1783080"/>
          </a:xfrm>
          <a:prstGeom prst="roundRect">
            <a:avLst>
              <a:gd name="adj" fmla="val 6000"/>
            </a:avLst>
          </a:prstGeom>
          <a:solidFill>
            <a:srgbClr val="1E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40487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98989E"/>
                </a:solidFill>
                <a:latin typeface="Noto Sans KR Medium"/>
                <a:ea typeface="Noto Sans KR Medium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2368296"/>
            <a:ext cx="40384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>
                <a:solidFill>
                  <a:srgbClr val="FFFFFF"/>
                </a:solidFill>
                <a:latin typeface="Noto Sans KR"/>
                <a:ea typeface="Noto Sans KR"/>
              </a:rPr>
              <a:t>결과가 매번 조금씩 달라진다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807208"/>
            <a:ext cx="44956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98989E"/>
                </a:solidFill>
                <a:latin typeface="Noto Sans KR DemiLight"/>
                <a:ea typeface="Noto Sans KR DemiLight"/>
              </a:rPr>
              <a:t>AI 합성은 같은 사진으로도 실행할 때마다 결과가 다르다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2461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30D158"/>
                </a:solidFill>
                <a:latin typeface="Noto Sans KR Medium"/>
                <a:ea typeface="Noto Sans KR Medium"/>
              </a:rPr>
              <a:t>대응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3236976"/>
            <a:ext cx="39470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Noto Sans KR"/>
                <a:ea typeface="Noto Sans KR"/>
              </a:rPr>
              <a:t>여러 장을 만들어 가장 자연스러운 한 장을 고르게 한다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8" y="2148840"/>
            <a:ext cx="5135728" cy="1783080"/>
          </a:xfrm>
          <a:prstGeom prst="roundRect">
            <a:avLst>
              <a:gd name="adj" fmla="val 6000"/>
            </a:avLst>
          </a:prstGeom>
          <a:solidFill>
            <a:srgbClr val="1E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3048" y="240487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98989E"/>
                </a:solidFill>
                <a:latin typeface="Noto Sans KR Medium"/>
                <a:ea typeface="Noto Sans KR Medium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10248" y="2368296"/>
            <a:ext cx="40384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>
                <a:solidFill>
                  <a:srgbClr val="FFFFFF"/>
                </a:solidFill>
                <a:latin typeface="Noto Sans KR"/>
                <a:ea typeface="Noto Sans KR"/>
              </a:rPr>
              <a:t>사용자 사진이 제각각이다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8" y="2807208"/>
            <a:ext cx="44956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98989E"/>
                </a:solidFill>
                <a:latin typeface="Noto Sans KR DemiLight"/>
                <a:ea typeface="Noto Sans KR DemiLight"/>
              </a:rPr>
              <a:t>자세 · 배경 · 조명에 따라 결과가 어색해질 수 있다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8" y="32461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30D158"/>
                </a:solidFill>
                <a:latin typeface="Noto Sans KR Medium"/>
                <a:ea typeface="Noto Sans KR Medium"/>
              </a:rPr>
              <a:t>대응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01688" y="3236976"/>
            <a:ext cx="39470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Noto Sans KR"/>
                <a:ea typeface="Noto Sans KR"/>
              </a:rPr>
              <a:t>촬영 가이드를 주고, 맞지 않는 사진은 다시 찍게 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160520"/>
            <a:ext cx="5135728" cy="1783080"/>
          </a:xfrm>
          <a:prstGeom prst="roundRect">
            <a:avLst>
              <a:gd name="adj" fmla="val 6000"/>
            </a:avLst>
          </a:prstGeom>
          <a:solidFill>
            <a:srgbClr val="1E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41655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98989E"/>
                </a:solidFill>
                <a:latin typeface="Noto Sans KR Medium"/>
                <a:ea typeface="Noto Sans KR Medium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4379976"/>
            <a:ext cx="40384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>
                <a:solidFill>
                  <a:srgbClr val="FFFFFF"/>
                </a:solidFill>
                <a:latin typeface="Noto Sans KR"/>
                <a:ea typeface="Noto Sans KR"/>
              </a:rPr>
              <a:t>AI가 치수표를 잘못 읽을 수 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818888"/>
            <a:ext cx="44956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98989E"/>
                </a:solidFill>
                <a:latin typeface="Noto Sans KR DemiLight"/>
                <a:ea typeface="Noto Sans KR DemiLight"/>
              </a:rPr>
              <a:t>캡처한 치수표를 AI가 읽지만, 숫자를 틀리거나 지어낼 수 있다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525780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30D158"/>
                </a:solidFill>
                <a:latin typeface="Noto Sans KR Medium"/>
                <a:ea typeface="Noto Sans KR Medium"/>
              </a:rPr>
              <a:t>대응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5248656"/>
            <a:ext cx="39470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Noto Sans KR"/>
                <a:ea typeface="Noto Sans KR"/>
              </a:rPr>
              <a:t>세밀한 시스템 프롬프트로 막고, 사이즈 순서로 재확인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3008" y="4160520"/>
            <a:ext cx="5135728" cy="1783080"/>
          </a:xfrm>
          <a:prstGeom prst="roundRect">
            <a:avLst>
              <a:gd name="adj" fmla="val 6000"/>
            </a:avLst>
          </a:prstGeom>
          <a:solidFill>
            <a:srgbClr val="1E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048" y="441655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98989E"/>
                </a:solidFill>
                <a:latin typeface="Noto Sans KR Medium"/>
                <a:ea typeface="Noto Sans KR Medium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10248" y="4379976"/>
            <a:ext cx="40384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>
                <a:solidFill>
                  <a:srgbClr val="FFFFFF"/>
                </a:solidFill>
                <a:latin typeface="Noto Sans KR"/>
                <a:ea typeface="Noto Sans KR"/>
              </a:rPr>
              <a:t>생성 시간이 오래 걸린다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3048" y="4818888"/>
            <a:ext cx="44956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98989E"/>
                </a:solidFill>
                <a:latin typeface="Noto Sans KR DemiLight"/>
                <a:ea typeface="Noto Sans KR DemiLight"/>
              </a:rPr>
              <a:t>품질 좋은 모델일수록 한 장에 수십 초 이상 걸린다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53048" y="525780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30D158"/>
                </a:solidFill>
                <a:latin typeface="Noto Sans KR Medium"/>
                <a:ea typeface="Noto Sans KR Medium"/>
              </a:rPr>
              <a:t>대응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01688" y="5248656"/>
            <a:ext cx="39470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Noto Sans KR"/>
                <a:ea typeface="Noto Sans KR"/>
              </a:rPr>
              <a:t>품질을 우선하고, 기다리는 동안 추천을 먼저 보여 준다</a:t>
            </a:r>
          </a:p>
        </p:txBody>
      </p:sp>
      <p:pic>
        <p:nvPicPr>
          <p:cNvPr id="28" name="Picture 27" descr="fitcheck_wordmark_d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6245352"/>
            <a:ext cx="1106944" cy="914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