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30초]</a:t>
            </a:r>
          </a:p>
          <a:p/>
          <a:p>
            <a:r>
              <a:t>진행 계획입니다. 네 달을 네 단계로 나눴습니다.</a:t>
            </a:r>
          </a:p>
          <a:p/>
          <a:p>
            <a:r>
              <a:t>지금인 9월에는 관련 연구와 모델을 조사하고 계획서를 제출합니다. 10월에는 후보 모델 네 개를 같은 조건에서 비교해 주력 모델을 확정하고, 11월에는 사이즈 추천과 합성을 연결해 중간발표에서 보여 드립니다. 12월에는 품질을 개선하고 사용자 평가를 거쳐 최종발표에서 시연하겠습니다.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진행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>
                <a:solidFill>
                  <a:srgbClr val="FFFFFF"/>
                </a:solidFill>
                <a:latin typeface="Noto Sans KR Light"/>
                <a:ea typeface="Noto Sans KR Light"/>
              </a:rPr>
              <a:t>언제까지 무엇을 끝내는가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926080"/>
            <a:ext cx="10545775" cy="0"/>
          </a:xfrm>
          <a:prstGeom prst="line">
            <a:avLst/>
          </a:prstGeom>
          <a:ln w="19050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240280"/>
            <a:ext cx="23621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>
                <a:solidFill>
                  <a:srgbClr val="FFFFFF"/>
                </a:solidFill>
                <a:latin typeface="Noto Sans KR Light"/>
                <a:ea typeface="Noto Sans KR Light"/>
              </a:rPr>
              <a:t>9월</a:t>
            </a:r>
            <a:r>
              <a:rPr sz="1100">
                <a:solidFill>
                  <a:srgbClr val="30D158"/>
                </a:solidFill>
                <a:latin typeface="Noto Sans KR Medium"/>
                <a:ea typeface="Noto Sans KR Medium"/>
              </a:rPr>
              <a:t>   지금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843784"/>
            <a:ext cx="164592" cy="164592"/>
          </a:xfrm>
          <a:prstGeom prst="ellipse">
            <a:avLst/>
          </a:prstGeom>
          <a:solidFill>
            <a:srgbClr val="30D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23621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조사 · 설계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236212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·  관련 연구 · 모델 조사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·  모델 후보 4종 선정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·  앱 화면 설계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029200"/>
            <a:ext cx="2362124" cy="457200"/>
          </a:xfrm>
          <a:prstGeom prst="roundRect">
            <a:avLst>
              <a:gd name="adj" fmla="val 200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029200"/>
            <a:ext cx="23621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>
                <a:solidFill>
                  <a:srgbClr val="30D158"/>
                </a:solidFill>
                <a:latin typeface="Noto Sans KR"/>
                <a:ea typeface="Noto Sans KR"/>
              </a:rPr>
              <a:t>과제 계획서 제출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9404" y="2240280"/>
            <a:ext cx="23621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>
                <a:solidFill>
                  <a:srgbClr val="FFFFFF"/>
                </a:solidFill>
                <a:latin typeface="Noto Sans KR Light"/>
                <a:ea typeface="Noto Sans KR Light"/>
              </a:rPr>
              <a:t>10월</a:t>
            </a:r>
          </a:p>
        </p:txBody>
      </p:sp>
      <p:sp>
        <p:nvSpPr>
          <p:cNvPr id="12" name="Oval 11"/>
          <p:cNvSpPr/>
          <p:nvPr/>
        </p:nvSpPr>
        <p:spPr>
          <a:xfrm>
            <a:off x="3459404" y="2843784"/>
            <a:ext cx="164592" cy="164592"/>
          </a:xfrm>
          <a:prstGeom prst="ellipse">
            <a:avLst/>
          </a:prstGeom>
          <a:solidFill>
            <a:srgbClr val="5A5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04" y="3200400"/>
            <a:ext cx="23621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모델 검증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4" y="3703320"/>
            <a:ext cx="236212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·  후보 4종 같은 조건 비교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·  휴대폰 사진으로 검증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·  치수표 데이터 수집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59404" y="5029200"/>
            <a:ext cx="2362124" cy="457200"/>
          </a:xfrm>
          <a:prstGeom prst="roundRect">
            <a:avLst>
              <a:gd name="adj" fmla="val 200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9404" y="5029200"/>
            <a:ext cx="23621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>
                <a:solidFill>
                  <a:srgbClr val="FFFFFF"/>
                </a:solidFill>
                <a:latin typeface="Noto Sans KR"/>
                <a:ea typeface="Noto Sans KR"/>
              </a:rPr>
              <a:t>주력 모델 확정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5848" y="2240280"/>
            <a:ext cx="23621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>
                <a:solidFill>
                  <a:srgbClr val="FFFFFF"/>
                </a:solidFill>
                <a:latin typeface="Noto Sans KR Light"/>
                <a:ea typeface="Noto Sans KR Light"/>
              </a:rPr>
              <a:t>11월</a:t>
            </a:r>
          </a:p>
        </p:txBody>
      </p:sp>
      <p:sp>
        <p:nvSpPr>
          <p:cNvPr id="18" name="Oval 17"/>
          <p:cNvSpPr/>
          <p:nvPr/>
        </p:nvSpPr>
        <p:spPr>
          <a:xfrm>
            <a:off x="6095848" y="2843784"/>
            <a:ext cx="164592" cy="164592"/>
          </a:xfrm>
          <a:prstGeom prst="ellipse">
            <a:avLst/>
          </a:prstGeom>
          <a:solidFill>
            <a:srgbClr val="5A5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5848" y="3200400"/>
            <a:ext cx="23621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구현 · 통합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5848" y="3703320"/>
            <a:ext cx="236212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·  사이즈 추천 로직 구현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·  합성 + 추천 연결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·  앱 화면 구현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5848" y="5029200"/>
            <a:ext cx="2362124" cy="457200"/>
          </a:xfrm>
          <a:prstGeom prst="roundRect">
            <a:avLst>
              <a:gd name="adj" fmla="val 200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5848" y="5029200"/>
            <a:ext cx="23621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>
                <a:solidFill>
                  <a:srgbClr val="FFFFFF"/>
                </a:solidFill>
                <a:latin typeface="Noto Sans KR"/>
                <a:ea typeface="Noto Sans KR"/>
              </a:rPr>
              <a:t>중간발표 (11월 초)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292" y="2240280"/>
            <a:ext cx="23621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>
                <a:solidFill>
                  <a:srgbClr val="FFFFFF"/>
                </a:solidFill>
                <a:latin typeface="Noto Sans KR Light"/>
                <a:ea typeface="Noto Sans KR Light"/>
              </a:rPr>
              <a:t>12월</a:t>
            </a:r>
          </a:p>
        </p:txBody>
      </p:sp>
      <p:sp>
        <p:nvSpPr>
          <p:cNvPr id="24" name="Oval 23"/>
          <p:cNvSpPr/>
          <p:nvPr/>
        </p:nvSpPr>
        <p:spPr>
          <a:xfrm>
            <a:off x="8732292" y="2843784"/>
            <a:ext cx="164592" cy="164592"/>
          </a:xfrm>
          <a:prstGeom prst="ellipse">
            <a:avLst/>
          </a:prstGeom>
          <a:solidFill>
            <a:srgbClr val="5A5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292" y="3200400"/>
            <a:ext cx="23621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평가 · 발표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292" y="3703320"/>
            <a:ext cx="236212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·  품질 개선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·  사용자 평가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·  시연 준비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292" y="5029200"/>
            <a:ext cx="2362124" cy="457200"/>
          </a:xfrm>
          <a:prstGeom prst="roundRect">
            <a:avLst>
              <a:gd name="adj" fmla="val 200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292" y="5029200"/>
            <a:ext cx="23621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>
                <a:solidFill>
                  <a:srgbClr val="FFFFFF"/>
                </a:solidFill>
                <a:latin typeface="Noto Sans KR"/>
                <a:ea typeface="Noto Sans KR"/>
              </a:rPr>
              <a:t>최종발표 · 시연</a:t>
            </a:r>
          </a:p>
        </p:txBody>
      </p:sp>
      <p:pic>
        <p:nvPicPr>
          <p:cNvPr id="29" name="Picture 28" descr="fitcheck_wordmark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