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76" r:id="rId4"/>
    <p:sldId id="289" r:id="rId5"/>
    <p:sldId id="262" r:id="rId6"/>
    <p:sldId id="263" r:id="rId7"/>
    <p:sldId id="264" r:id="rId8"/>
    <p:sldId id="279" r:id="rId9"/>
    <p:sldId id="281" r:id="rId10"/>
    <p:sldId id="265" r:id="rId11"/>
    <p:sldId id="266" r:id="rId12"/>
    <p:sldId id="267" r:id="rId13"/>
    <p:sldId id="268" r:id="rId14"/>
    <p:sldId id="283" r:id="rId15"/>
    <p:sldId id="286" r:id="rId16"/>
    <p:sldId id="269" r:id="rId17"/>
    <p:sldId id="270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032" y="7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8260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[약 20초  ·  누적 0:18]</a:t>
            </a:r>
          </a:p>
          <a:p>
            <a:endParaRPr/>
          </a:p>
          <a:p>
            <a:r>
              <a:t>안녕하십니까. 사이즈 정보를 반영한 가상 피팅 앱, FitCheck을 제안하는 [팀명]입니다.</a:t>
            </a:r>
          </a:p>
          <a:p>
            <a:r>
              <a:t>저희는 온라인에서 옷을 살 때 겪는 사이즈 문제를, 가상 피팅과 사이즈 추천을 결합해서 풀어보려고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[약 20초  ·  누적 0:37]</a:t>
            </a:r>
          </a:p>
          <a:p>
            <a:endParaRPr/>
          </a:p>
          <a:p>
            <a:r>
              <a:t>먼저 제 이야기로 시작하겠습니다.</a:t>
            </a:r>
          </a:p>
          <a:p>
            <a:endParaRPr/>
          </a:p>
          <a:p>
            <a:r>
              <a:t>저는 옷을 주로 무신사에서 삽니다. 그런데 막상 받아 보면 사이즈나 핏이 저와 맞지 않아서 환불한 경험이 정말 많았습니다. 한두 번이 아니었습니다.</a:t>
            </a:r>
          </a:p>
          <a:p>
            <a:endParaRPr/>
          </a:p>
          <a:p>
            <a:r>
              <a:t>그리고 이건 저만의 문제가 아니었습니다.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[약 55초  ·  누적 2:16]</a:t>
            </a:r>
          </a:p>
          <a:p>
            <a:endParaRPr/>
          </a:p>
          <a:p>
            <a:r>
              <a:t>문제를 숫자로 보겠습니다. 핵심은 하나입니다. 온라인 의류 반품의 가장 큰 원인이 사이즈라는 것입니다.</a:t>
            </a:r>
          </a:p>
          <a:p>
            <a:endParaRPr/>
          </a:p>
          <a:p>
            <a:r>
              <a:t>조사에 따라 사이즈와 핏이 전체 반품 사유의 45에서 53퍼센트를 차지합니다. 절반 안팎이 사이즈 때문이라는 뜻입니다. 국내 연구에서도 화면에서 본 사이즈와 실제 치수의 차이가 주요 반품 사유로 보고됐습니다. 조사마다 수치는 달라도 1위라는 결론은 같습니다.</a:t>
            </a:r>
          </a:p>
          <a:p>
            <a:endParaRPr/>
          </a:p>
          <a:p>
            <a:r>
              <a:t>아래 두 숫자가 그 문제의 규모입니다. 온라인 패션의 평균 반품률은 30퍼센트 수준으로 오프라인 매장의 세 배가 넘고, 국내 온라인 패션 거래액은 58조 원이 넘습니다.</a:t>
            </a:r>
          </a:p>
          <a:p>
            <a:endParaRPr/>
          </a:p>
          <a:p>
            <a:r>
              <a:t>큰 시장에서 반품이 구조적으로 일어나는데, 그 1순위 원인이 사이즈입니다.</a:t>
            </a:r>
          </a:p>
          <a:p>
            <a:endParaRPr/>
          </a:p>
          <a:p>
            <a:r>
              <a:t>--- 예상 질문 ---</a:t>
            </a:r>
          </a:p>
          <a:p>
            <a:r>
              <a:t>· 45~53%의 출처 → 45%는 Narvar 소비자 조사(물류신문 2024 인용)인데 사이즈·핏에 색상이 포함된 수치이고, 53%는 의류 판매자 대상 조사(Coresight Research 2023)입니다. 조사 대상과 정의가 달라 범위로 제시했습니다.</a:t>
            </a:r>
          </a:p>
          <a:p>
            <a:r>
              <a:t>· 더 권위 있는 수치가 필요하면 → 미국소매협회(NRF)는 2025년 온라인 판매의 19.3%가 반품될 것으로 전망했습니다(전 품목 기준).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[약 55초  ·  누적 3:48]</a:t>
            </a:r>
          </a:p>
          <a:p>
            <a:endParaRPr/>
          </a:p>
          <a:p>
            <a:r>
              <a:t>사용자가 직접 사이즈를 확인해 보려고 해도 쉽지 않습니다. 사용자가 자기 몸에 대해 아는 숫자는 보통 가슴둘레 96센티 같은 둘레 값입니다. 그런데 쇼핑몰 치수표에 적혀 있는 건 가슴단면 52센티입니다. 옷을 평평하게 눕혀 놓고 한쪽 끝에서 반대쪽 끝까지 잰 값이죠.</a:t>
            </a:r>
          </a:p>
          <a:p>
            <a:endParaRPr/>
          </a:p>
          <a:p>
            <a:r>
              <a:t>기준이 다르기 때문에 96과 52는 그대로 비교할 수가 없습니다. 단면에 2를 곱하면 될 것 같지만, 옷에는 몸보다 여유가 들어가 있고 그 여유가 옷 종류와 원하는 핏에 따라 달라서 그렇게 단순하지 않습니다. 결국 사용자가 직접 따져 봐야 하는데, 대부분 거기까지 하지 않고 감으로 고릅니다.</a:t>
            </a:r>
          </a:p>
          <a:p>
            <a:endParaRPr/>
          </a:p>
          <a:p>
            <a:r>
              <a:t>저희 앱은 이 변환과 비교를 대신해 줍니다. 사용자는 아는 숫자만 넣으면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[약 35초  ·  누적 4:22]</a:t>
            </a:r>
          </a:p>
          <a:p>
            <a:endParaRPr/>
          </a:p>
          <a:p>
            <a:r>
              <a:t>그래서 저희 과제의 목적은 분명합니다. 입어본 모습과 맞는 사이즈, 이 두 가지를 한 번에 제공하는 것입니다.</a:t>
            </a:r>
          </a:p>
          <a:p>
            <a:endParaRPr/>
          </a:p>
          <a:p>
            <a:r>
              <a:t>사진으로 착용 모습을 만들어 주는 가상 피팅과, 체형과 치수표를 비교해 사이즈를 골라 주는 추천을 따로 두지 않고 하나로 잇겠습니다. 사진을 올리는 것에서 시작해 "당신에게는 M이 맞습니다"라는 결론까지 한 흐름으로 이어지는 end-to-end 서비스를 만드는 것이 목표입니다.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[약 55초  ·  누적 5:15]</a:t>
            </a:r>
          </a:p>
          <a:p>
            <a:endParaRPr/>
          </a:p>
          <a:p>
            <a:r>
              <a:t>어떻게 만들 것인지 전체 그림입니다.</a:t>
            </a:r>
          </a:p>
          <a:p>
            <a:endParaRPr/>
          </a:p>
          <a:p>
            <a:r>
              <a:t>입력은 두 갈래입니다. 사용자 쪽에서는 전신 사진과 본인이 아는 신체 치수를 받고, 옷 쪽에서는 쇼핑몰 상품 이미지와 치수표를 받습니다.</a:t>
            </a:r>
          </a:p>
          <a:p>
            <a:endParaRPr/>
          </a:p>
          <a:p>
            <a:r>
              <a:t>처리 단계에서는 두 가지가 나란히 돌아갑니다. 하나는 diffusion 기반 이미지 합성으로 착용 모습을 만드는 가상 피팅이고, 다른 하나는 신체 치수와 옷 치수의 차이, 즉 여유분을 계산하는 사이즈 추천입니다.</a:t>
            </a:r>
          </a:p>
          <a:p>
            <a:endParaRPr/>
          </a:p>
          <a:p>
            <a:r>
              <a:t>출력은 사이즈별 착용 모습과, S·M·L 추천 그리고 왜 그 사이즈인지에 대한 근거입니다.</a:t>
            </a:r>
          </a:p>
          <a:p>
            <a:endParaRPr/>
          </a:p>
          <a:p>
            <a:r>
              <a:t>저희 방식은 실측 장비도, 추가 촬영도 요구하지 않습니다. 쇼핑몰이 이미 갖고 있는 상품 사진과 치수표만으로 동작합니다.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[약 40초  ·  누적 5:57]</a:t>
            </a:r>
          </a:p>
          <a:p>
            <a:endParaRPr/>
          </a:p>
          <a:p>
            <a:r>
              <a:t>첫 번째 구현은 가상 피팅입니다. 사용자 전신 사진과 옷 이미지, 사진 두 장을 입력받아서 그 사람이 그 옷을 입은 모습을 합성합니다.</a:t>
            </a:r>
          </a:p>
          <a:p>
            <a:endParaRPr/>
          </a:p>
          <a:p>
            <a:r>
              <a:t>방식은 diffusion 기반 이미지 합성 모델을 사용할 계획입니다. 상의, 하의, 원피스처럼 카테고리를 지정하면 해당 부위만 바꾸도록 할 예정입니다.</a:t>
            </a:r>
          </a:p>
          <a:p>
            <a:endParaRPr/>
          </a:p>
          <a:p>
            <a:r>
              <a:t>화면은 오른쪽처럼 사진 두 장을 올리고 카테고리를 고르는 단순한 흐름입니다. 사용자 사진은 조명도 배경도 제각각이라 결과가 흔들릴 수 있어서, 촬영 가이드를 함께 제공할 계획입니다.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[약 40초  ·  누적 5:57]</a:t>
            </a:r>
          </a:p>
          <a:p>
            <a:endParaRPr/>
          </a:p>
          <a:p>
            <a:r>
              <a:t>첫 번째 구현은 가상 피팅입니다. 사용자 전신 사진과 옷 이미지, 사진 두 장을 입력받아서 그 사람이 그 옷을 입은 모습을 합성합니다.</a:t>
            </a:r>
          </a:p>
          <a:p>
            <a:endParaRPr/>
          </a:p>
          <a:p>
            <a:r>
              <a:t>방식은 diffusion 기반 이미지 합성 모델을 사용할 계획입니다. 상의, 하의, 원피스처럼 카테고리를 지정하면 해당 부위만 바꾸도록 할 예정입니다.</a:t>
            </a:r>
          </a:p>
          <a:p>
            <a:endParaRPr/>
          </a:p>
          <a:p>
            <a:r>
              <a:t>화면은 오른쪽처럼 사진 두 장을 올리고 카테고리를 고르는 단순한 흐름입니다. 사용자 사진은 조명도 배경도 제각각이라 결과가 흔들릴 수 있어서, 촬영 가이드를 함께 제공할 계획입니다.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[약 40초  ·  누적 5:57]</a:t>
            </a:r>
          </a:p>
          <a:p>
            <a:endParaRPr/>
          </a:p>
          <a:p>
            <a:r>
              <a:t>첫 번째 구현은 가상 피팅입니다. 사용자 전신 사진과 옷 이미지, 사진 두 장을 입력받아서 그 사람이 그 옷을 입은 모습을 합성합니다.</a:t>
            </a:r>
          </a:p>
          <a:p>
            <a:endParaRPr/>
          </a:p>
          <a:p>
            <a:r>
              <a:t>방식은 diffusion 기반 이미지 합성 모델을 사용할 계획입니다. 상의, 하의, 원피스처럼 카테고리를 지정하면 해당 부위만 바꾸도록 할 예정입니다.</a:t>
            </a:r>
          </a:p>
          <a:p>
            <a:endParaRPr/>
          </a:p>
          <a:p>
            <a:r>
              <a:t>화면은 오른쪽처럼 사진 두 장을 올리고 카테고리를 고르는 단순한 흐름입니다. 사용자 사진은 조명도 배경도 제각각이라 결과가 흔들릴 수 있어서, 촬영 가이드를 함께 제공할 계획입니다.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[약 55초  ·  누적 6:50]</a:t>
            </a:r>
          </a:p>
          <a:p>
            <a:endParaRPr/>
          </a:p>
          <a:p>
            <a:r>
              <a:t>두 번째는 사이즈 추천입니다. 핵심은 아는 치수만 넣어도 추천이 나온다는 점입니다.</a:t>
            </a:r>
          </a:p>
          <a:p>
            <a:endParaRPr/>
          </a:p>
          <a:p>
            <a:r>
              <a:t>키, 어깨너비, 가슴둘레, 허리둘레 중에 아는 것만 입력해도 동작하고, 입력하지 않은 항목은 판정에서 빼고 그 사실을 사용자에게 알려 줍니다.</a:t>
            </a:r>
          </a:p>
          <a:p>
            <a:endParaRPr/>
          </a:p>
          <a:p>
            <a:r>
              <a:t>앞에서 말씀드린 둘레와 단면 변환은 여기서 자동으로 처리합니다. 그다음 신체 치수와 옷 치수의 차이인 여유분을 계산해서, 타이트한지 레귤러인지 루즈한지를 판단하고 S, M, L 중 어떤 사이즈가 맞는지 추천합니다.</a:t>
            </a:r>
          </a:p>
          <a:p>
            <a:endParaRPr/>
          </a:p>
          <a:p>
            <a:r>
              <a:t>단순히 사이즈만 던지지 않고, 어깨는 맞는데 가슴이 낀다는 식으로 어느 부위가 왜 그런지 함께 보여 주려고 합니다. 사용자가 납득하고 고를 수 있어야 하기 때문입니다.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[약 55초  ·  누적 7:47]</a:t>
            </a:r>
          </a:p>
          <a:p>
            <a:endParaRPr/>
          </a:p>
          <a:p>
            <a:r>
              <a:t>세 번째가 저희 과제에서 가장 중요한 부분입니다. 앞의 두 기능을 연결하는 것입니다.</a:t>
            </a:r>
          </a:p>
          <a:p>
            <a:endParaRPr/>
          </a:p>
          <a:p>
            <a:r>
              <a:t>추천된 사이즈들을 각각 합성해서 나란히 보여 줍니다. 화면 예시처럼 같은 옷을 M으로 입었을 때와 L로 입었을 때가 어떻게 다른지 한눈에 비교할 수 있게 하는 것이 목표입니다. 나아가 계산한 여유분을 실루엣에 반영해서, 루즈핏은 실제로 더 넉넉해 보이도록 만들려고 합니다.</a:t>
            </a:r>
          </a:p>
          <a:p>
            <a:endParaRPr/>
          </a:p>
          <a:p>
            <a:r>
              <a:t>기술적으로 가장 어려운 부분이라, 사이즈별로 각각 합성해 비교하는 방식을 먼저 만들고 실루엣 반영을 그 위에 얹는 순서로 진행할 계획입니다.</a:t>
            </a:r>
          </a:p>
          <a:p>
            <a:endParaRPr/>
          </a:p>
          <a:p>
            <a:r>
              <a:t>모습만 보여 주는 것도, 사이즈만 알려 주는 것도 아니고, 사이즈에 따라 모습이 달라지는 것까지 보여 주는 것. 이 연결이 저희 과제의 핵심입니다.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[약 40초  ·  누적 8:27]</a:t>
            </a:r>
          </a:p>
          <a:p>
            <a:endParaRPr/>
          </a:p>
          <a:p>
            <a:r>
              <a:t>기대 효과는 세 가지로 정리했습니다.</a:t>
            </a:r>
          </a:p>
          <a:p>
            <a:endParaRPr/>
          </a:p>
          <a:p>
            <a:r>
              <a:t>소비자 입장에서는 사기 전에 맞는 사이즈로 입은 모습을 확인할 수 있으니 사이즈 실패로 인한 반품이 줄어듭니다.</a:t>
            </a:r>
          </a:p>
          <a:p>
            <a:endParaRPr/>
          </a:p>
          <a:p>
            <a:r>
              <a:t>판매 기업 입장에서는 그 반품에 들어가던 물류비와 재고 부담, 그리고 사이즈 문의 응대 부담이 함께 줄어듭니다.</a:t>
            </a:r>
          </a:p>
          <a:p>
            <a:endParaRPr/>
          </a:p>
          <a:p>
            <a:r>
              <a:t>마지막은 확장성입니다. 저희 방식은 치수표와 상품 이미지만 있으면 동작하기 때문에, 쇼핑몰이 이미 가지고 있는 데이터로 바로 적용할 수 있습니다. 특정 브랜드나 특정 상품군에 묶이지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[약 35초  ·  누적 9:04]</a:t>
            </a:r>
          </a:p>
          <a:p>
            <a:endParaRPr/>
          </a:p>
          <a:p>
            <a:r>
              <a:t>일정입니다. 9월인 지금은 모델과 관련 연구를 조사하고 과제 계획서를 제출하는 단계입니다.</a:t>
            </a:r>
          </a:p>
          <a:p>
            <a:endParaRPr/>
          </a:p>
          <a:p>
            <a:r>
              <a:t>10월에는 여유분 계산 로직을 구현하고 가상 피팅 모델을 연동해서, 두 기능이 각각 동작하는 데까지 만들 계획입니다. 11월 초 중간발표에서 그 결과를 보여 드리고, 이후 12월 초까지 사이즈별 핏을 반영하는 부분과 앱 UI 통합을 진행합니다.</a:t>
            </a:r>
          </a:p>
          <a:p>
            <a:endParaRPr/>
          </a:p>
          <a:p>
            <a:r>
              <a:t>12월 최종발표에서는 전체 흐름이 하나로 이어지는 상태로 시연하는 것이 목표입니다.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[약 35초  ·  누적 9:04]</a:t>
            </a:r>
          </a:p>
          <a:p>
            <a:endParaRPr/>
          </a:p>
          <a:p>
            <a:r>
              <a:t>일정입니다. 9월인 지금은 모델과 관련 연구를 조사하고 과제 계획서를 제출하는 단계입니다.</a:t>
            </a:r>
          </a:p>
          <a:p>
            <a:endParaRPr/>
          </a:p>
          <a:p>
            <a:r>
              <a:t>10월에는 여유분 계산 로직을 구현하고 가상 피팅 모델을 연동해서, 두 기능이 각각 동작하는 데까지 만들 계획입니다. 11월 초 중간발표에서 그 결과를 보여 드리고, 이후 12월 초까지 사이즈별 핏을 반영하는 부분과 앱 UI 통합을 진행합니다.</a:t>
            </a:r>
          </a:p>
          <a:p>
            <a:endParaRPr/>
          </a:p>
          <a:p>
            <a:r>
              <a:t>12월 최종발표에서는 전체 흐름이 하나로 이어지는 상태로 시연하는 것이 목표입니다.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[약 35초  ·  누적 9:04]</a:t>
            </a:r>
          </a:p>
          <a:p>
            <a:endParaRPr/>
          </a:p>
          <a:p>
            <a:r>
              <a:t>일정입니다. 9월인 지금은 모델과 관련 연구를 조사하고 과제 계획서를 제출하는 단계입니다.</a:t>
            </a:r>
          </a:p>
          <a:p>
            <a:endParaRPr/>
          </a:p>
          <a:p>
            <a:r>
              <a:t>10월에는 여유분 계산 로직을 구현하고 가상 피팅 모델을 연동해서, 두 기능이 각각 동작하는 데까지 만들 계획입니다. 11월 초 중간발표에서 그 결과를 보여 드리고, 이후 12월 초까지 사이즈별 핏을 반영하는 부분과 앱 UI 통합을 진행합니다.</a:t>
            </a:r>
          </a:p>
          <a:p>
            <a:endParaRPr/>
          </a:p>
          <a:p>
            <a:r>
              <a:t>12월 최종발표에서는 전체 흐름이 하나로 이어지는 상태로 시연하는 것이 목표입니다.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[약 5초  ·  누적 9:08]</a:t>
            </a:r>
          </a:p>
          <a:p>
            <a:endParaRPr/>
          </a:p>
          <a:p>
            <a:r>
              <a:t>이상으로 발표를 마치겠습니다. 감사합니다.</a:t>
            </a:r>
          </a:p>
          <a:p>
            <a:endParaRPr/>
          </a:p>
          <a:p>
            <a:r>
              <a:t>--- 예상 질문 ---</a:t>
            </a:r>
          </a:p>
          <a:p>
            <a:r>
              <a:t>· 가상 피팅 모델을 직접 학습하나? → 아니요. 공개된 사전학습 모델을 활용하고, 사이즈 반영과 두 기능의 연결에 집중합니다.</a:t>
            </a:r>
          </a:p>
          <a:p>
            <a:r>
              <a:t>· 신체 치수를 사진으로 자동 측정하지 않는 이유는? → 정확도를 신뢰하기 어려워 사용자 직접 입력을 기본으로 두고, 자동 측정은 보조 수단으로 검토합니다.</a:t>
            </a:r>
          </a:p>
          <a:p>
            <a:r>
              <a:t>· 치수표 형식이 쇼핑몰마다 다른데? → 항목 이름과 단위를 정규화하는 처리를 두고, 없는 항목은 판정에서 제외합니다.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tcheck_lockup_v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0585" y="1234440"/>
            <a:ext cx="2250525" cy="2011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3703320"/>
            <a:ext cx="1054577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900">
                <a:solidFill>
                  <a:srgbClr val="FFFFFF"/>
                </a:solidFill>
                <a:latin typeface="Noto Sans KR Light"/>
                <a:ea typeface="Noto Sans KR Light"/>
              </a:rPr>
              <a:t>사이즈 정보를 반영한 가상 피팅 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370832"/>
            <a:ext cx="1054577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spc="8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종합설계프로젝트</a:t>
            </a:r>
            <a:r>
              <a:rPr sz="1400" spc="8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 </a:t>
            </a:r>
            <a:r>
              <a:rPr sz="1400" spc="8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과제</a:t>
            </a:r>
            <a:r>
              <a:rPr sz="1400" spc="8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400" spc="8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계획</a:t>
            </a:r>
            <a:r>
              <a:rPr sz="1400" spc="8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400" spc="8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발표</a:t>
            </a:r>
            <a:endParaRPr sz="1400" spc="80" dirty="0">
              <a:solidFill>
                <a:srgbClr val="98989E"/>
              </a:solidFill>
              <a:latin typeface="Noto Sans KR DemiLight"/>
              <a:ea typeface="Noto Sans KR DemiLigh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59" y="5007543"/>
            <a:ext cx="10545775" cy="10618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150" dirty="0">
                <a:solidFill>
                  <a:schemeClr val="bg1"/>
                </a:solidFill>
                <a:latin typeface="Noto Sans KR"/>
                <a:ea typeface="Noto Sans KR"/>
              </a:rPr>
              <a:t>1</a:t>
            </a:r>
            <a:r>
              <a:rPr lang="ko-KR" altLang="en-US" sz="1150" dirty="0">
                <a:solidFill>
                  <a:schemeClr val="bg1"/>
                </a:solidFill>
                <a:latin typeface="Noto Sans KR"/>
                <a:ea typeface="Noto Sans KR"/>
              </a:rPr>
              <a:t>조</a:t>
            </a:r>
            <a:endParaRPr lang="en-US" altLang="ko-KR" sz="1150" dirty="0">
              <a:solidFill>
                <a:schemeClr val="bg1"/>
              </a:solidFill>
              <a:latin typeface="Noto Sans KR"/>
              <a:ea typeface="Noto Sans KR"/>
            </a:endParaRPr>
          </a:p>
          <a:p>
            <a:pPr algn="ctr">
              <a:lnSpc>
                <a:spcPct val="100000"/>
              </a:lnSpc>
            </a:pPr>
            <a:endParaRPr lang="en-US" altLang="ko-KR" sz="1150" dirty="0">
              <a:solidFill>
                <a:schemeClr val="bg1"/>
              </a:solidFill>
              <a:latin typeface="Noto Sans KR"/>
              <a:ea typeface="Noto Sans KR"/>
            </a:endParaRPr>
          </a:p>
          <a:p>
            <a:pPr algn="ctr">
              <a:lnSpc>
                <a:spcPct val="100000"/>
              </a:lnSpc>
            </a:pPr>
            <a:r>
              <a:rPr lang="en-US" sz="1150" dirty="0">
                <a:solidFill>
                  <a:schemeClr val="bg1"/>
                </a:solidFill>
                <a:latin typeface="Noto Sans KR"/>
                <a:ea typeface="Noto Sans KR"/>
              </a:rPr>
              <a:t>2023315685 </a:t>
            </a:r>
            <a:r>
              <a:rPr lang="ko-KR" altLang="en-US" sz="1150" dirty="0">
                <a:solidFill>
                  <a:schemeClr val="bg1"/>
                </a:solidFill>
                <a:latin typeface="Noto Sans KR"/>
                <a:ea typeface="Noto Sans KR"/>
              </a:rPr>
              <a:t>정지훈</a:t>
            </a:r>
            <a:endParaRPr lang="en-US" altLang="ko-KR" sz="1150" dirty="0">
              <a:solidFill>
                <a:schemeClr val="bg1"/>
              </a:solidFill>
              <a:latin typeface="Noto Sans KR"/>
              <a:ea typeface="Noto Sans KR"/>
            </a:endParaRPr>
          </a:p>
          <a:p>
            <a:pPr algn="ctr">
              <a:lnSpc>
                <a:spcPct val="100000"/>
              </a:lnSpc>
            </a:pPr>
            <a:r>
              <a:rPr lang="en-US" altLang="ko-KR" sz="1150" dirty="0">
                <a:solidFill>
                  <a:schemeClr val="bg1"/>
                </a:solidFill>
                <a:latin typeface="Noto Sans KR"/>
                <a:ea typeface="Noto Sans KR"/>
              </a:rPr>
              <a:t>2023315664 </a:t>
            </a:r>
            <a:r>
              <a:rPr lang="ko-KR" altLang="en-US" sz="1150" dirty="0">
                <a:solidFill>
                  <a:schemeClr val="bg1"/>
                </a:solidFill>
                <a:latin typeface="Noto Sans KR"/>
                <a:ea typeface="Noto Sans KR"/>
              </a:rPr>
              <a:t>박정우</a:t>
            </a:r>
            <a:endParaRPr lang="en-US" altLang="ko-KR" sz="1150" dirty="0">
              <a:solidFill>
                <a:schemeClr val="bg1"/>
              </a:solidFill>
              <a:latin typeface="Noto Sans KR"/>
              <a:ea typeface="Noto Sans KR"/>
            </a:endParaRPr>
          </a:p>
          <a:p>
            <a:pPr algn="ctr">
              <a:lnSpc>
                <a:spcPct val="100000"/>
              </a:lnSpc>
            </a:pPr>
            <a:r>
              <a:rPr lang="en-US" altLang="ko-KR" sz="1150" dirty="0">
                <a:solidFill>
                  <a:schemeClr val="bg1"/>
                </a:solidFill>
                <a:latin typeface="Noto Sans KR"/>
                <a:ea typeface="Noto Sans KR"/>
              </a:rPr>
              <a:t>2021310416 </a:t>
            </a:r>
            <a:r>
              <a:rPr lang="ko-KR" altLang="en-US" sz="1150" dirty="0">
                <a:solidFill>
                  <a:schemeClr val="bg1"/>
                </a:solidFill>
                <a:latin typeface="Noto Sans KR"/>
                <a:ea typeface="Noto Sans KR"/>
              </a:rPr>
              <a:t>이은재</a:t>
            </a:r>
            <a:endParaRPr lang="en-US" altLang="ko-KR" sz="1150" dirty="0">
              <a:solidFill>
                <a:schemeClr val="bg1"/>
              </a:solidFill>
              <a:latin typeface="Noto Sans KR"/>
              <a:ea typeface="Noto Sans KR"/>
            </a:endParaRPr>
          </a:p>
          <a:p>
            <a:pPr algn="ctr">
              <a:lnSpc>
                <a:spcPct val="100000"/>
              </a:lnSpc>
            </a:pPr>
            <a:r>
              <a:rPr lang="en-US" altLang="ko-KR" sz="1150" dirty="0">
                <a:solidFill>
                  <a:schemeClr val="bg1"/>
                </a:solidFill>
                <a:latin typeface="Noto Sans KR"/>
                <a:ea typeface="Noto Sans KR"/>
              </a:rPr>
              <a:t>2023315740 </a:t>
            </a:r>
            <a:r>
              <a:rPr lang="ko-KR" altLang="en-US" sz="1150" dirty="0" err="1">
                <a:solidFill>
                  <a:schemeClr val="bg1"/>
                </a:solidFill>
                <a:latin typeface="Noto Sans KR"/>
                <a:ea typeface="Noto Sans KR"/>
              </a:rPr>
              <a:t>이재홍</a:t>
            </a:r>
            <a:endParaRPr sz="1150" dirty="0">
              <a:solidFill>
                <a:schemeClr val="bg1"/>
              </a:solidFill>
              <a:latin typeface="Noto Sans KR"/>
              <a:ea typeface="Noto Sans K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13232"/>
            <a:ext cx="10545775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50" spc="90" dirty="0">
                <a:solidFill>
                  <a:srgbClr val="98989E"/>
                </a:solidFill>
                <a:latin typeface="Noto Sans KR Medium"/>
                <a:ea typeface="Noto Sans KR Medium"/>
              </a:rPr>
              <a:t>개인적 경험에서 출발</a:t>
            </a:r>
            <a:endParaRPr sz="1150" spc="90" dirty="0">
              <a:solidFill>
                <a:srgbClr val="98989E"/>
              </a:solidFill>
              <a:latin typeface="Noto Sans KR Medium"/>
              <a:ea typeface="Noto Sans KR Medium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9509760" cy="15763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lang="ko-KR" altLang="en-US" sz="42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무신사</a:t>
            </a:r>
            <a:r>
              <a:rPr sz="42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에서</a:t>
            </a:r>
            <a:r>
              <a:rPr sz="4200" dirty="0">
                <a:solidFill>
                  <a:srgbClr val="FFFFFF"/>
                </a:solidFill>
                <a:latin typeface="Noto Sans KR Light"/>
                <a:ea typeface="Noto Sans KR Light"/>
              </a:rPr>
              <a:t> 산 </a:t>
            </a:r>
            <a:r>
              <a:rPr sz="4200" dirty="0" err="1">
                <a:solidFill>
                  <a:srgbClr val="FFFFFF"/>
                </a:solidFill>
                <a:latin typeface="Noto Sans KR Light"/>
                <a:ea typeface="Noto Sans KR Light"/>
              </a:rPr>
              <a:t>옷을</a:t>
            </a:r>
            <a:endParaRPr sz="4200" dirty="0">
              <a:solidFill>
                <a:srgbClr val="FFFFFF"/>
              </a:solidFill>
              <a:latin typeface="Noto Sans KR Light"/>
              <a:ea typeface="Noto Sans KR Light"/>
            </a:endParaRPr>
          </a:p>
          <a:p>
            <a:pPr algn="l">
              <a:lnSpc>
                <a:spcPct val="128000"/>
              </a:lnSpc>
            </a:pPr>
            <a:r>
              <a:rPr sz="4200" b="1" dirty="0">
                <a:solidFill>
                  <a:srgbClr val="FFFF00"/>
                </a:solidFill>
                <a:latin typeface="Noto Sans KR Light"/>
                <a:ea typeface="Noto Sans KR Light"/>
              </a:rPr>
              <a:t>또 </a:t>
            </a:r>
            <a:r>
              <a:rPr sz="4200" b="1" dirty="0" err="1">
                <a:solidFill>
                  <a:srgbClr val="FFFF00"/>
                </a:solidFill>
                <a:latin typeface="Noto Sans KR Light"/>
                <a:ea typeface="Noto Sans KR Light"/>
              </a:rPr>
              <a:t>환불했다</a:t>
            </a:r>
            <a:endParaRPr sz="4200" b="1" dirty="0">
              <a:solidFill>
                <a:srgbClr val="FFFF00"/>
              </a:solidFill>
              <a:latin typeface="Noto Sans KR Light"/>
              <a:ea typeface="Noto Sans KR Ligh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4343400"/>
            <a:ext cx="8778240" cy="996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사이즈도</a:t>
            </a:r>
            <a:r>
              <a:rPr sz="16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, </a:t>
            </a:r>
            <a:r>
              <a:rPr sz="16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핏도</a:t>
            </a:r>
            <a:r>
              <a:rPr sz="16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</a:t>
            </a:r>
            <a:r>
              <a:rPr sz="16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나와</a:t>
            </a:r>
            <a:r>
              <a:rPr sz="16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</a:t>
            </a:r>
            <a:r>
              <a:rPr sz="16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맞지</a:t>
            </a:r>
            <a:r>
              <a:rPr sz="16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</a:t>
            </a:r>
            <a:r>
              <a:rPr sz="160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않았다</a:t>
            </a:r>
            <a:r>
              <a:rPr sz="16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. </a:t>
            </a:r>
            <a:endParaRPr lang="en-US" sz="1600" dirty="0">
              <a:solidFill>
                <a:schemeClr val="bg1"/>
              </a:solidFill>
              <a:latin typeface="Noto Sans KR DemiLight"/>
              <a:ea typeface="Noto Sans KR DemiLight"/>
            </a:endParaRPr>
          </a:p>
          <a:p>
            <a:pPr algn="l">
              <a:lnSpc>
                <a:spcPct val="140000"/>
              </a:lnSpc>
            </a:pPr>
            <a:r>
              <a:rPr lang="en-US" altLang="ko-KR" sz="16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“</a:t>
            </a:r>
            <a:r>
              <a:rPr lang="ko-KR" altLang="en-US" sz="16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돈도 시간도 아깝다</a:t>
            </a:r>
            <a:r>
              <a:rPr lang="en-US" altLang="ko-KR" sz="1600" dirty="0">
                <a:solidFill>
                  <a:schemeClr val="bg1"/>
                </a:solidFill>
                <a:latin typeface="Noto Sans KR DemiLight"/>
                <a:ea typeface="Noto Sans KR DemiLight"/>
              </a:rPr>
              <a:t>..”</a:t>
            </a:r>
            <a:endParaRPr lang="en-US" sz="1600" dirty="0">
              <a:solidFill>
                <a:schemeClr val="bg1"/>
              </a:solidFill>
              <a:latin typeface="Noto Sans KR DemiLight"/>
              <a:ea typeface="Noto Sans KR DemiLight"/>
            </a:endParaRPr>
          </a:p>
          <a:p>
            <a:pPr algn="l">
              <a:lnSpc>
                <a:spcPct val="140000"/>
              </a:lnSpc>
            </a:pPr>
            <a:endParaRPr sz="1600" dirty="0">
              <a:solidFill>
                <a:schemeClr val="bg1"/>
              </a:solidFill>
              <a:latin typeface="Noto Sans KR DemiLight"/>
              <a:ea typeface="Noto Sans KR DemiLight"/>
            </a:endParaRPr>
          </a:p>
        </p:txBody>
      </p:sp>
      <p:pic>
        <p:nvPicPr>
          <p:cNvPr id="5" name="Picture 4" descr="fitcheck_wordmark_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454335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02</a:t>
            </a:r>
          </a:p>
        </p:txBody>
      </p:sp>
      <p:sp>
        <p:nvSpPr>
          <p:cNvPr id="7" name="AutoShape 2" descr="무신사 로고 | brandB 브랜드비">
            <a:extLst>
              <a:ext uri="{FF2B5EF4-FFF2-40B4-BE49-F238E27FC236}">
                <a16:creationId xmlns:a16="http://schemas.microsoft.com/office/drawing/2014/main" id="{84582C8C-35E8-BB59-5C51-D11F232CCBA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036" name="Picture 12" descr="슬라이드 핀 이미지 0">
            <a:extLst>
              <a:ext uri="{FF2B5EF4-FFF2-40B4-BE49-F238E27FC236}">
                <a16:creationId xmlns:a16="http://schemas.microsoft.com/office/drawing/2014/main" id="{74598A0F-616F-F3E4-684B-2281A1E199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84" b="5752"/>
          <a:stretch>
            <a:fillRect/>
          </a:stretch>
        </p:blipFill>
        <p:spPr bwMode="auto">
          <a:xfrm>
            <a:off x="6847241" y="929643"/>
            <a:ext cx="3876618" cy="4998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13232"/>
            <a:ext cx="10545775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 dirty="0" err="1">
                <a:solidFill>
                  <a:srgbClr val="98989E"/>
                </a:solidFill>
                <a:latin typeface="Noto Sans KR Medium"/>
                <a:ea typeface="Noto Sans KR Medium"/>
              </a:rPr>
              <a:t>문제</a:t>
            </a:r>
            <a:endParaRPr sz="1150" spc="90" dirty="0">
              <a:solidFill>
                <a:srgbClr val="98989E"/>
              </a:solidFill>
              <a:latin typeface="Noto Sans KR Medium"/>
              <a:ea typeface="Noto Sans KR Medium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9601200" cy="15763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lang="ko-KR" sz="4200" dirty="0">
                <a:solidFill>
                  <a:srgbClr val="FFFFFF"/>
                </a:solidFill>
                <a:latin typeface="Noto Sans KR Light"/>
                <a:ea typeface="Noto Sans KR Light"/>
              </a:rPr>
              <a:t>온라인에서는 입어볼 수 없고,</a:t>
            </a:r>
          </a:p>
          <a:p>
            <a:pPr algn="l">
              <a:lnSpc>
                <a:spcPct val="128000"/>
              </a:lnSpc>
            </a:pPr>
            <a:r>
              <a:rPr lang="ko-KR" sz="4200" b="1" dirty="0">
                <a:solidFill>
                  <a:srgbClr val="FFFF00"/>
                </a:solidFill>
                <a:latin typeface="Noto Sans KR Light"/>
                <a:ea typeface="Noto Sans KR Light"/>
              </a:rPr>
              <a:t>반품 1위 원인은 사이즈다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10128"/>
            <a:ext cx="1005840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조사에</a:t>
            </a:r>
            <a:r>
              <a:rPr sz="145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</a:t>
            </a:r>
            <a:r>
              <a:rPr sz="1450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따라</a:t>
            </a:r>
            <a:r>
              <a:rPr sz="1450" dirty="0">
                <a:solidFill>
                  <a:schemeClr val="bg1"/>
                </a:solidFill>
                <a:latin typeface="Noto Sans KR DemiLight"/>
                <a:ea typeface="Noto Sans KR DemiLight"/>
              </a:rPr>
              <a:t> </a:t>
            </a:r>
            <a:r>
              <a:rPr sz="1450" b="1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사이즈</a:t>
            </a:r>
            <a:r>
              <a:rPr sz="1450" b="1" dirty="0">
                <a:solidFill>
                  <a:schemeClr val="bg1"/>
                </a:solidFill>
                <a:latin typeface="Noto Sans KR DemiLight"/>
                <a:ea typeface="Noto Sans KR DemiLight"/>
              </a:rPr>
              <a:t> · </a:t>
            </a:r>
            <a:r>
              <a:rPr sz="1450" b="1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핏이</a:t>
            </a:r>
            <a:r>
              <a:rPr sz="1450" b="1" dirty="0">
                <a:solidFill>
                  <a:schemeClr val="bg1"/>
                </a:solidFill>
                <a:latin typeface="Noto Sans KR DemiLight"/>
                <a:ea typeface="Noto Sans KR DemiLight"/>
              </a:rPr>
              <a:t> </a:t>
            </a:r>
            <a:r>
              <a:rPr sz="1450" b="1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전체</a:t>
            </a:r>
            <a:r>
              <a:rPr sz="1450" b="1" dirty="0">
                <a:solidFill>
                  <a:schemeClr val="bg1"/>
                </a:solidFill>
                <a:latin typeface="Noto Sans KR DemiLight"/>
                <a:ea typeface="Noto Sans KR DemiLight"/>
              </a:rPr>
              <a:t> </a:t>
            </a:r>
            <a:r>
              <a:rPr sz="1450" b="1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반품</a:t>
            </a:r>
            <a:r>
              <a:rPr sz="1450" b="1" dirty="0">
                <a:solidFill>
                  <a:schemeClr val="bg1"/>
                </a:solidFill>
                <a:latin typeface="Noto Sans KR DemiLight"/>
                <a:ea typeface="Noto Sans KR DemiLight"/>
              </a:rPr>
              <a:t> </a:t>
            </a:r>
            <a:r>
              <a:rPr sz="1450" b="1" dirty="0" err="1">
                <a:solidFill>
                  <a:schemeClr val="bg1"/>
                </a:solidFill>
                <a:latin typeface="Noto Sans KR DemiLight"/>
                <a:ea typeface="Noto Sans KR DemiLight"/>
              </a:rPr>
              <a:t>사유의</a:t>
            </a:r>
            <a:r>
              <a:rPr sz="1450" b="1" dirty="0">
                <a:solidFill>
                  <a:schemeClr val="bg1"/>
                </a:solidFill>
                <a:latin typeface="Noto Sans KR DemiLight"/>
                <a:ea typeface="Noto Sans KR DemiLight"/>
              </a:rPr>
              <a:t> 45 – 53%</a:t>
            </a:r>
            <a:r>
              <a:rPr sz="1100" b="1" dirty="0">
                <a:solidFill>
                  <a:schemeClr val="bg1"/>
                </a:solidFill>
                <a:latin typeface="Noto Sans KR"/>
                <a:ea typeface="Noto Sans KR"/>
              </a:rPr>
              <a:t>   </a:t>
            </a:r>
            <a:r>
              <a:rPr sz="1100" dirty="0" err="1">
                <a:solidFill>
                  <a:srgbClr val="5A5A5E"/>
                </a:solidFill>
                <a:latin typeface="Noto Sans KR"/>
                <a:ea typeface="Noto Sans KR"/>
              </a:rPr>
              <a:t>Narvar</a:t>
            </a:r>
            <a:r>
              <a:rPr sz="1100" dirty="0">
                <a:solidFill>
                  <a:srgbClr val="5A5A5E"/>
                </a:solidFill>
                <a:latin typeface="Noto Sans KR"/>
                <a:ea typeface="Noto Sans KR"/>
              </a:rPr>
              <a:t> </a:t>
            </a:r>
            <a:r>
              <a:rPr sz="1100" dirty="0" err="1">
                <a:solidFill>
                  <a:srgbClr val="5A5A5E"/>
                </a:solidFill>
                <a:latin typeface="Noto Sans KR"/>
                <a:ea typeface="Noto Sans KR"/>
              </a:rPr>
              <a:t>소비자</a:t>
            </a:r>
            <a:r>
              <a:rPr sz="1100" dirty="0">
                <a:solidFill>
                  <a:srgbClr val="5A5A5E"/>
                </a:solidFill>
                <a:latin typeface="Noto Sans KR"/>
                <a:ea typeface="Noto Sans KR"/>
              </a:rPr>
              <a:t> </a:t>
            </a:r>
            <a:r>
              <a:rPr sz="1100" dirty="0" err="1">
                <a:solidFill>
                  <a:srgbClr val="5A5A5E"/>
                </a:solidFill>
                <a:latin typeface="Noto Sans KR"/>
                <a:ea typeface="Noto Sans KR"/>
              </a:rPr>
              <a:t>조사</a:t>
            </a:r>
            <a:r>
              <a:rPr sz="1100" dirty="0">
                <a:solidFill>
                  <a:srgbClr val="5A5A5E"/>
                </a:solidFill>
                <a:latin typeface="Noto Sans KR"/>
                <a:ea typeface="Noto Sans KR"/>
              </a:rPr>
              <a:t>(</a:t>
            </a:r>
            <a:r>
              <a:rPr sz="1100" dirty="0" err="1">
                <a:solidFill>
                  <a:srgbClr val="5A5A5E"/>
                </a:solidFill>
                <a:latin typeface="Noto Sans KR"/>
                <a:ea typeface="Noto Sans KR"/>
              </a:rPr>
              <a:t>색상</a:t>
            </a:r>
            <a:r>
              <a:rPr sz="1100" dirty="0">
                <a:solidFill>
                  <a:srgbClr val="5A5A5E"/>
                </a:solidFill>
                <a:latin typeface="Noto Sans KR"/>
                <a:ea typeface="Noto Sans KR"/>
              </a:rPr>
              <a:t> </a:t>
            </a:r>
            <a:r>
              <a:rPr sz="1100" dirty="0" err="1">
                <a:solidFill>
                  <a:srgbClr val="5A5A5E"/>
                </a:solidFill>
                <a:latin typeface="Noto Sans KR"/>
                <a:ea typeface="Noto Sans KR"/>
              </a:rPr>
              <a:t>포함</a:t>
            </a:r>
            <a:r>
              <a:rPr sz="1100" dirty="0">
                <a:solidFill>
                  <a:srgbClr val="5A5A5E"/>
                </a:solidFill>
                <a:latin typeface="Noto Sans KR"/>
                <a:ea typeface="Noto Sans KR"/>
              </a:rPr>
              <a:t>) · </a:t>
            </a:r>
            <a:r>
              <a:rPr sz="1100" dirty="0" err="1">
                <a:solidFill>
                  <a:srgbClr val="5A5A5E"/>
                </a:solidFill>
                <a:latin typeface="Noto Sans KR"/>
                <a:ea typeface="Noto Sans KR"/>
              </a:rPr>
              <a:t>Coresight</a:t>
            </a:r>
            <a:r>
              <a:rPr sz="1100" dirty="0">
                <a:solidFill>
                  <a:srgbClr val="5A5A5E"/>
                </a:solidFill>
                <a:latin typeface="Noto Sans KR"/>
                <a:ea typeface="Noto Sans KR"/>
              </a:rPr>
              <a:t> Research 2023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117116"/>
            <a:ext cx="10545775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5500" y="4345716"/>
            <a:ext cx="34290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dirty="0">
                <a:solidFill>
                  <a:srgbClr val="FFFF00"/>
                </a:solidFill>
                <a:latin typeface="Noto Sans KR Light"/>
                <a:ea typeface="Noto Sans KR Light"/>
              </a:rPr>
              <a:t>약 30%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500" y="4912644"/>
            <a:ext cx="3429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14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온라인 패션 평균 반품률 (오프라인 8%)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5500" y="5241828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5A5A5E"/>
                </a:solidFill>
                <a:latin typeface="Noto Sans KR"/>
                <a:ea typeface="Noto Sans KR"/>
              </a:rPr>
              <a:t>물류신문, 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1500" y="4345716"/>
            <a:ext cx="34290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dirty="0">
                <a:solidFill>
                  <a:srgbClr val="FFFF00"/>
                </a:solidFill>
                <a:latin typeface="Noto Sans KR Light"/>
                <a:ea typeface="Noto Sans KR Light"/>
              </a:rPr>
              <a:t>58.3조원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1500" y="4912644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국내</a:t>
            </a:r>
            <a:r>
              <a:rPr sz="13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3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온라인</a:t>
            </a:r>
            <a:r>
              <a:rPr sz="13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3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패션</a:t>
            </a:r>
            <a:r>
              <a:rPr sz="13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30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거래액</a:t>
            </a:r>
            <a:r>
              <a:rPr sz="13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(2025년)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1500" y="5241828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5A5A5E"/>
                </a:solidFill>
                <a:latin typeface="Noto Sans KR"/>
                <a:ea typeface="Noto Sans KR"/>
              </a:rPr>
              <a:t>국가데이터처(옛 통계청)</a:t>
            </a:r>
          </a:p>
        </p:txBody>
      </p:sp>
      <p:pic>
        <p:nvPicPr>
          <p:cNvPr id="13" name="Picture 12" descr="fitcheck_wordmark_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454335" y="6172200"/>
            <a:ext cx="9144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 dirty="0">
                <a:solidFill>
                  <a:srgbClr val="5A5A5E"/>
                </a:solidFill>
                <a:latin typeface="Noto Sans KR"/>
                <a:ea typeface="Noto Sans KR"/>
              </a:rPr>
              <a:t>0</a:t>
            </a:r>
            <a:r>
              <a:rPr lang="en-US" sz="1050" spc="80" dirty="0">
                <a:solidFill>
                  <a:srgbClr val="5A5A5E"/>
                </a:solidFill>
                <a:latin typeface="Noto Sans KR"/>
                <a:ea typeface="Noto Sans KR"/>
              </a:rPr>
              <a:t>3</a:t>
            </a:r>
            <a:endParaRPr sz="1050" spc="80" dirty="0">
              <a:solidFill>
                <a:srgbClr val="5A5A5E"/>
              </a:solidFill>
              <a:latin typeface="Noto Sans KR"/>
              <a:ea typeface="Noto Sans KR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7937500" y="4345716"/>
            <a:ext cx="34290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sz="3000" dirty="0">
                <a:solidFill>
                  <a:srgbClr val="FFFF00"/>
                </a:solidFill>
                <a:latin typeface="Noto Sans KR Light"/>
                <a:ea typeface="Noto Sans KR Light"/>
              </a:rPr>
              <a:t>연 5~8조원</a:t>
            </a:r>
            <a:r>
              <a:rPr lang="en-US" altLang="ko-KR" sz="3000" dirty="0">
                <a:solidFill>
                  <a:srgbClr val="FFFF00"/>
                </a:solidFill>
                <a:latin typeface="Noto Sans KR Light"/>
                <a:ea typeface="Noto Sans KR Light"/>
              </a:rPr>
              <a:t> </a:t>
            </a:r>
            <a:r>
              <a:rPr lang="ko-KR" altLang="en-US" sz="3000" dirty="0">
                <a:solidFill>
                  <a:srgbClr val="FFFF00"/>
                </a:solidFill>
                <a:latin typeface="Noto Sans KR Light"/>
                <a:ea typeface="Noto Sans KR Light"/>
              </a:rPr>
              <a:t>손실</a:t>
            </a:r>
            <a:endParaRPr lang="ko-KR" sz="3000" dirty="0">
              <a:solidFill>
                <a:srgbClr val="FFFF00"/>
              </a:solidFill>
              <a:latin typeface="Noto Sans KR Light"/>
              <a:ea typeface="Noto Sans KR Light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7937500" y="4912644"/>
            <a:ext cx="34290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14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사이즈 미스로 되돌아오는 거래액 (추정)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937500" y="5241828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1100" dirty="0">
                <a:solidFill>
                  <a:srgbClr val="5A5A5E"/>
                </a:solidFill>
                <a:latin typeface="Noto Sans KR"/>
                <a:ea typeface="Noto Sans KR"/>
              </a:rPr>
              <a:t>58.3조원 × 반품률 20~30% × 사이즈 사유 약 50%</a:t>
            </a:r>
          </a:p>
        </p:txBody>
      </p:sp>
    </p:spTree>
    <p:extLst>
      <p:ext uri="{BB962C8B-B14F-4D97-AF65-F5344CB8AC3E}">
        <p14:creationId xmlns:p14="http://schemas.microsoft.com/office/powerpoint/2010/main" val="619182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13232"/>
            <a:ext cx="10545775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12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해결 방안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5500" y="3175000"/>
            <a:ext cx="9652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dirty="0">
                <a:solidFill>
                  <a:srgbClr val="FFFF00"/>
                </a:solidFill>
                <a:latin typeface="Noto Sans KR"/>
                <a:ea typeface="Noto Sans KR"/>
              </a:rPr>
              <a:t>FitCheck</a:t>
            </a:r>
            <a:r>
              <a:rPr lang="ko-KR" sz="16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— 입어보지 않고도 어울림과 사이즈를 함께 확인하는 가상 피팅 앱</a:t>
            </a:r>
          </a:p>
        </p:txBody>
      </p:sp>
      <p:pic>
        <p:nvPicPr>
          <p:cNvPr id="12" name="Picture 11" descr="fitcheck_wordmark_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454335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06</a:t>
            </a:r>
          </a:p>
        </p:txBody>
      </p:sp>
      <p:sp>
        <p:nvSpPr>
          <p:cNvPr id="400" name="TextBox 400"/>
          <p:cNvSpPr txBox="1"/>
          <p:nvPr/>
        </p:nvSpPr>
        <p:spPr>
          <a:xfrm>
            <a:off x="825500" y="1397000"/>
            <a:ext cx="10541000" cy="157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lang="ko-KR" sz="4200" dirty="0">
                <a:solidFill>
                  <a:srgbClr val="FFFFFF"/>
                </a:solidFill>
                <a:latin typeface="Noto Sans KR Light"/>
                <a:ea typeface="Noto Sans KR Light"/>
              </a:rPr>
              <a:t>입어보기 전에,</a:t>
            </a:r>
          </a:p>
          <a:p>
            <a:pPr algn="l">
              <a:lnSpc>
                <a:spcPct val="128000"/>
              </a:lnSpc>
            </a:pPr>
            <a:r>
              <a:rPr lang="ko-KR" sz="4200" dirty="0">
                <a:solidFill>
                  <a:srgbClr val="FFFFFF"/>
                </a:solidFill>
                <a:latin typeface="Noto Sans KR Light"/>
                <a:ea typeface="Noto Sans KR Light"/>
              </a:rPr>
              <a:t>어울리는지 그리고 맞는지까지</a:t>
            </a:r>
          </a:p>
        </p:txBody>
      </p:sp>
      <p:cxnSp>
        <p:nvCxnSpPr>
          <p:cNvPr id="401" name="Connector 401"/>
          <p:cNvCxnSpPr/>
          <p:nvPr/>
        </p:nvCxnSpPr>
        <p:spPr>
          <a:xfrm>
            <a:off x="825500" y="4064000"/>
            <a:ext cx="105410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3" name="TextBox 403"/>
          <p:cNvSpPr txBox="1"/>
          <p:nvPr/>
        </p:nvSpPr>
        <p:spPr>
          <a:xfrm>
            <a:off x="825500" y="4673600"/>
            <a:ext cx="5080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400" dirty="0">
                <a:solidFill>
                  <a:srgbClr val="FFFF00"/>
                </a:solidFill>
                <a:latin typeface="Noto Sans KR DemiLight"/>
                <a:ea typeface="Noto Sans KR DemiLight"/>
              </a:rPr>
              <a:t>가상 착용 이미지</a:t>
            </a:r>
          </a:p>
        </p:txBody>
      </p:sp>
      <p:sp>
        <p:nvSpPr>
          <p:cNvPr id="404" name="TextBox 404"/>
          <p:cNvSpPr txBox="1"/>
          <p:nvPr/>
        </p:nvSpPr>
        <p:spPr>
          <a:xfrm>
            <a:off x="825500" y="5054600"/>
            <a:ext cx="50800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sz="2000" dirty="0">
                <a:solidFill>
                  <a:srgbClr val="FFFFFF"/>
                </a:solidFill>
                <a:latin typeface="Noto Sans KR Light"/>
                <a:ea typeface="Noto Sans KR Light"/>
              </a:rPr>
              <a:t>내 사진에 옷을 합성해</a:t>
            </a:r>
          </a:p>
          <a:p>
            <a:pPr algn="l">
              <a:lnSpc>
                <a:spcPct val="145000"/>
              </a:lnSpc>
            </a:pPr>
            <a:r>
              <a:rPr lang="ko-KR" sz="2000" dirty="0">
                <a:solidFill>
                  <a:srgbClr val="FFFFFF"/>
                </a:solidFill>
                <a:latin typeface="Noto Sans KR Light"/>
                <a:ea typeface="Noto Sans KR Light"/>
              </a:rPr>
              <a:t>어울리는지 </a:t>
            </a:r>
            <a:r>
              <a:rPr lang="ko-KR" sz="2000">
                <a:solidFill>
                  <a:srgbClr val="FFFFFF"/>
                </a:solidFill>
                <a:latin typeface="Noto Sans KR Light"/>
                <a:ea typeface="Noto Sans KR Light"/>
              </a:rPr>
              <a:t>먼저 확인</a:t>
            </a:r>
            <a:endParaRPr lang="ko-KR" sz="2000" dirty="0">
              <a:solidFill>
                <a:srgbClr val="FFFFFF"/>
              </a:solidFill>
              <a:latin typeface="Noto Sans KR Light"/>
              <a:ea typeface="Noto Sans KR Light"/>
            </a:endParaRPr>
          </a:p>
        </p:txBody>
      </p:sp>
      <p:sp>
        <p:nvSpPr>
          <p:cNvPr id="406" name="TextBox 406"/>
          <p:cNvSpPr txBox="1"/>
          <p:nvPr/>
        </p:nvSpPr>
        <p:spPr>
          <a:xfrm>
            <a:off x="6286500" y="4673600"/>
            <a:ext cx="5080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400" dirty="0">
                <a:solidFill>
                  <a:srgbClr val="FFFF00"/>
                </a:solidFill>
                <a:latin typeface="Noto Sans KR DemiLight"/>
                <a:ea typeface="Noto Sans KR DemiLight"/>
              </a:rPr>
              <a:t>사이즈 추천</a:t>
            </a:r>
          </a:p>
        </p:txBody>
      </p:sp>
      <p:sp>
        <p:nvSpPr>
          <p:cNvPr id="407" name="TextBox 407"/>
          <p:cNvSpPr txBox="1"/>
          <p:nvPr/>
        </p:nvSpPr>
        <p:spPr>
          <a:xfrm>
            <a:off x="6286500" y="5054600"/>
            <a:ext cx="50800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sz="2000" dirty="0">
                <a:solidFill>
                  <a:srgbClr val="FFFFFF"/>
                </a:solidFill>
                <a:latin typeface="Noto Sans KR Light"/>
                <a:ea typeface="Noto Sans KR Light"/>
              </a:rPr>
              <a:t>신체 치수와 옷 치수표를 비교해</a:t>
            </a:r>
          </a:p>
          <a:p>
            <a:pPr algn="l">
              <a:lnSpc>
                <a:spcPct val="145000"/>
              </a:lnSpc>
            </a:pPr>
            <a:r>
              <a:rPr lang="ko-KR" sz="2000" dirty="0">
                <a:solidFill>
                  <a:srgbClr val="FFFFFF"/>
                </a:solidFill>
                <a:latin typeface="Noto Sans KR Light"/>
                <a:ea typeface="Noto Sans KR Light"/>
              </a:rPr>
              <a:t>맞는 사이즈를 </a:t>
            </a:r>
            <a:r>
              <a:rPr lang="ko-KR" altLang="en-US" sz="2000" dirty="0">
                <a:solidFill>
                  <a:srgbClr val="FFFFFF"/>
                </a:solidFill>
                <a:latin typeface="Noto Sans KR Light"/>
                <a:ea typeface="Noto Sans KR Light"/>
              </a:rPr>
              <a:t>추천</a:t>
            </a:r>
            <a:endParaRPr lang="ko-KR" sz="2000" dirty="0">
              <a:solidFill>
                <a:srgbClr val="FFFFFF"/>
              </a:solidFill>
              <a:latin typeface="Noto Sans KR Light"/>
              <a:ea typeface="Noto Sans KR Light"/>
            </a:endParaRPr>
          </a:p>
        </p:txBody>
      </p:sp>
      <p:pic>
        <p:nvPicPr>
          <p:cNvPr id="3" name="Picture 1" descr="fitcheck_lockup_v_white.png">
            <a:extLst>
              <a:ext uri="{FF2B5EF4-FFF2-40B4-BE49-F238E27FC236}">
                <a16:creationId xmlns:a16="http://schemas.microsoft.com/office/drawing/2014/main" id="{E65D006E-3C14-F718-AFFB-2B50718A41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8130" y="1351281"/>
            <a:ext cx="2250525" cy="201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410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>
                <a:solidFill>
                  <a:srgbClr val="98989E"/>
                </a:solidFill>
                <a:latin typeface="Noto Sans KR Medium"/>
                <a:ea typeface="Noto Sans KR Medium"/>
              </a:rPr>
              <a:t>과제 목적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95097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4200">
                <a:solidFill>
                  <a:srgbClr val="FFFFFF"/>
                </a:solidFill>
                <a:latin typeface="Noto Sans KR Light"/>
                <a:ea typeface="Noto Sans KR Light"/>
              </a:rPr>
              <a:t>입어본 모습과</a:t>
            </a:r>
          </a:p>
          <a:p>
            <a:pPr algn="l">
              <a:lnSpc>
                <a:spcPct val="128000"/>
              </a:lnSpc>
            </a:pPr>
            <a:r>
              <a:rPr sz="4200">
                <a:solidFill>
                  <a:srgbClr val="FFFFFF"/>
                </a:solidFill>
                <a:latin typeface="Noto Sans KR Light"/>
                <a:ea typeface="Noto Sans KR Light"/>
              </a:rPr>
              <a:t>맞는 사이즈를 한 번에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343400"/>
            <a:ext cx="8778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>
                <a:solidFill>
                  <a:srgbClr val="98989E"/>
                </a:solidFill>
                <a:latin typeface="Noto Sans KR DemiLight"/>
                <a:ea typeface="Noto Sans KR DemiLight"/>
              </a:rPr>
              <a:t>가상 피팅과 사이즈 추천을 하나로 잇는 end-to-end 옷 추천 서비스를 만든다.</a:t>
            </a:r>
          </a:p>
        </p:txBody>
      </p:sp>
      <p:pic>
        <p:nvPicPr>
          <p:cNvPr id="5" name="Picture 4" descr="fitcheck_wordmark_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454335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>
                <a:solidFill>
                  <a:srgbClr val="98989E"/>
                </a:solidFill>
                <a:latin typeface="Noto Sans KR Medium"/>
                <a:ea typeface="Noto Sans KR Medium"/>
              </a:rPr>
              <a:t>어떻게 만드는가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148840"/>
            <a:ext cx="3017520" cy="2286000"/>
          </a:xfrm>
          <a:prstGeom prst="roundRect">
            <a:avLst>
              <a:gd name="adj" fmla="val 7500"/>
            </a:avLst>
          </a:prstGeom>
          <a:solidFill>
            <a:srgbClr val="1E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3856" y="2478024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spc="180">
                <a:solidFill>
                  <a:srgbClr val="5A5A5E"/>
                </a:solidFill>
                <a:latin typeface="Noto Sans KR Medium"/>
                <a:ea typeface="Noto Sans KR Medium"/>
              </a:rPr>
              <a:t>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2807208"/>
            <a:ext cx="23957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>
                <a:solidFill>
                  <a:srgbClr val="FFFFFF"/>
                </a:solidFill>
                <a:latin typeface="Noto Sans KR"/>
                <a:ea typeface="Noto Sans KR"/>
              </a:rPr>
              <a:t>입력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3355848"/>
            <a:ext cx="239572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사용자 — 전신 사진, 신체 치수</a:t>
            </a:r>
          </a:p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옷 — 상품 이미지, 치수표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3108960"/>
            <a:ext cx="74660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>
                <a:solidFill>
                  <a:srgbClr val="5A5A5E"/>
                </a:solidFill>
                <a:latin typeface="Noto Sans KR DemiLight"/>
                <a:ea typeface="Noto Sans KR DemiLight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87088" y="2148840"/>
            <a:ext cx="3017520" cy="2286000"/>
          </a:xfrm>
          <a:prstGeom prst="roundRect">
            <a:avLst>
              <a:gd name="adj" fmla="val 7500"/>
            </a:avLst>
          </a:prstGeom>
          <a:solidFill>
            <a:srgbClr val="1E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97984" y="2478024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spc="180">
                <a:solidFill>
                  <a:srgbClr val="5A5A5E"/>
                </a:solidFill>
                <a:latin typeface="Noto Sans KR Medium"/>
                <a:ea typeface="Noto Sans KR Medium"/>
              </a:rPr>
              <a:t>PROCESS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7984" y="2807208"/>
            <a:ext cx="23957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>
                <a:solidFill>
                  <a:srgbClr val="FFFFFF"/>
                </a:solidFill>
                <a:latin typeface="Noto Sans KR"/>
                <a:ea typeface="Noto Sans KR"/>
              </a:rPr>
              <a:t>처리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7984" y="3355848"/>
            <a:ext cx="239572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가상 피팅 — diffusion 이미지 합성</a:t>
            </a:r>
          </a:p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사이즈 추천 — 여유분 계산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04608" y="3108960"/>
            <a:ext cx="74660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>
                <a:solidFill>
                  <a:srgbClr val="5A5A5E"/>
                </a:solidFill>
                <a:latin typeface="Noto Sans KR DemiLight"/>
                <a:ea typeface="Noto Sans KR DemiLight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51216" y="2148840"/>
            <a:ext cx="3017520" cy="2286000"/>
          </a:xfrm>
          <a:prstGeom prst="roundRect">
            <a:avLst>
              <a:gd name="adj" fmla="val 7500"/>
            </a:avLst>
          </a:prstGeom>
          <a:solidFill>
            <a:srgbClr val="1E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62112" y="2478024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spc="180">
                <a:solidFill>
                  <a:srgbClr val="5A5A5E"/>
                </a:solidFill>
                <a:latin typeface="Noto Sans KR Medium"/>
                <a:ea typeface="Noto Sans KR Medium"/>
              </a:rP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2112" y="2807208"/>
            <a:ext cx="23957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>
                <a:solidFill>
                  <a:srgbClr val="FFFFFF"/>
                </a:solidFill>
                <a:latin typeface="Noto Sans KR"/>
                <a:ea typeface="Noto Sans KR"/>
              </a:rPr>
              <a:t>출력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2112" y="3355848"/>
            <a:ext cx="239572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사이즈별 착용 모습</a:t>
            </a:r>
          </a:p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S · M · L 추천과 그 근거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983480"/>
            <a:ext cx="105457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98989E"/>
                </a:solidFill>
                <a:latin typeface="Noto Sans KR DemiLight"/>
                <a:ea typeface="Noto Sans KR DemiLight"/>
              </a:rPr>
              <a:t>별도의 실측 장비도, 추가 촬영도 없다. 쇼핑몰이 이미 갖고 있는 정보만으로 동작한다.</a:t>
            </a:r>
          </a:p>
        </p:txBody>
      </p:sp>
      <p:pic>
        <p:nvPicPr>
          <p:cNvPr id="18" name="Picture 17" descr="fitcheck_wordmark_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454335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06640" y="868680"/>
            <a:ext cx="3962095" cy="5074920"/>
          </a:xfrm>
          <a:prstGeom prst="roundRect">
            <a:avLst>
              <a:gd name="adj" fmla="val 5000"/>
            </a:avLst>
          </a:prstGeom>
          <a:solidFill>
            <a:srgbClr val="1E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ockup_up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1354" y="1188720"/>
            <a:ext cx="2052667" cy="4434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>
                <a:solidFill>
                  <a:srgbClr val="98989E"/>
                </a:solidFill>
                <a:latin typeface="Noto Sans KR Medium"/>
                <a:ea typeface="Noto Sans KR Medium"/>
              </a:rPr>
              <a:t>구현  01  ·  가상 피팅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58521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3300">
                <a:solidFill>
                  <a:srgbClr val="FFFFFF"/>
                </a:solidFill>
                <a:latin typeface="Noto Sans KR Light"/>
                <a:ea typeface="Noto Sans KR Light"/>
              </a:rPr>
              <a:t>사진 두 장으로</a:t>
            </a:r>
          </a:p>
          <a:p>
            <a:pPr algn="l">
              <a:lnSpc>
                <a:spcPct val="128000"/>
              </a:lnSpc>
            </a:pPr>
            <a:r>
              <a:rPr sz="3300">
                <a:solidFill>
                  <a:srgbClr val="FFFFFF"/>
                </a:solidFill>
                <a:latin typeface="Noto Sans KR Light"/>
                <a:ea typeface="Noto Sans KR Light"/>
              </a:rPr>
              <a:t>착용 모습을 만든다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3703320"/>
            <a:ext cx="4663440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3977639"/>
            <a:ext cx="58521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300"/>
              </a:spcAft>
            </a:pPr>
            <a:r>
              <a:rPr sz="1500">
                <a:solidFill>
                  <a:srgbClr val="98989E"/>
                </a:solidFill>
                <a:latin typeface="Noto Sans KR DemiLight"/>
                <a:ea typeface="Noto Sans KR DemiLight"/>
              </a:rPr>
              <a:t>사용자 전신 사진 + 옷 이미지 입력</a:t>
            </a:r>
          </a:p>
          <a:p>
            <a:pPr algn="l">
              <a:lnSpc>
                <a:spcPct val="130000"/>
              </a:lnSpc>
              <a:spcAft>
                <a:spcPts val="1300"/>
              </a:spcAft>
            </a:pPr>
            <a:r>
              <a:rPr sz="1500">
                <a:solidFill>
                  <a:srgbClr val="98989E"/>
                </a:solidFill>
                <a:latin typeface="Noto Sans KR DemiLight"/>
                <a:ea typeface="Noto Sans KR DemiLight"/>
              </a:rPr>
              <a:t>diffusion 기반 이미지 합성</a:t>
            </a:r>
          </a:p>
          <a:p>
            <a:pPr algn="l">
              <a:lnSpc>
                <a:spcPct val="130000"/>
              </a:lnSpc>
              <a:spcAft>
                <a:spcPts val="1300"/>
              </a:spcAft>
            </a:pPr>
            <a:r>
              <a:rPr sz="1500">
                <a:solidFill>
                  <a:srgbClr val="98989E"/>
                </a:solidFill>
                <a:latin typeface="Noto Sans KR DemiLight"/>
                <a:ea typeface="Noto Sans KR DemiLight"/>
              </a:rPr>
              <a:t>상의 · 하의 · 원피스 카테고리별 지원</a:t>
            </a:r>
          </a:p>
        </p:txBody>
      </p:sp>
      <p:pic>
        <p:nvPicPr>
          <p:cNvPr id="8" name="Picture 7" descr="fitcheck_wordmark_d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54335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1200" spc="3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모델 후보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500" y="1739900"/>
            <a:ext cx="10541000" cy="15763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lang="ko-KR" sz="4200" dirty="0">
                <a:solidFill>
                  <a:srgbClr val="FFFFFF"/>
                </a:solidFill>
                <a:latin typeface="Noto Sans KR Light"/>
                <a:ea typeface="Noto Sans KR Light"/>
              </a:rPr>
              <a:t>무엇으로 합성할지,</a:t>
            </a:r>
          </a:p>
          <a:p>
            <a:pPr algn="l">
              <a:lnSpc>
                <a:spcPct val="128000"/>
              </a:lnSpc>
            </a:pPr>
            <a:r>
              <a:rPr lang="ko-KR" sz="4200" dirty="0">
                <a:solidFill>
                  <a:srgbClr val="FFFFFF"/>
                </a:solidFill>
                <a:latin typeface="Noto Sans KR Light"/>
                <a:ea typeface="Noto Sans KR Light"/>
              </a:rPr>
              <a:t>네 후보를 같은 조건에서 비교한다</a:t>
            </a:r>
          </a:p>
        </p:txBody>
      </p:sp>
      <p:pic>
        <p:nvPicPr>
          <p:cNvPr id="8" name="Picture 7" descr="fitcheck_wordmark_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54335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09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825500" y="3378200"/>
            <a:ext cx="889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45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같은 인물 사진 · 같은 옷으로 네 후보를 비교해, 학기 여건에서 가장 균형 잡힌 모델을 주력으로 선정한다</a:t>
            </a:r>
          </a:p>
        </p:txBody>
      </p:sp>
      <p:cxnSp>
        <p:nvCxnSpPr>
          <p:cNvPr id="101" name="Connector 101"/>
          <p:cNvCxnSpPr/>
          <p:nvPr/>
        </p:nvCxnSpPr>
        <p:spPr>
          <a:xfrm>
            <a:off x="825500" y="3810000"/>
            <a:ext cx="105410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2"/>
          <p:cNvSpPr txBox="1"/>
          <p:nvPr/>
        </p:nvSpPr>
        <p:spPr>
          <a:xfrm>
            <a:off x="825500" y="4013200"/>
            <a:ext cx="24130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800" dirty="0">
                <a:solidFill>
                  <a:srgbClr val="FFFFFF"/>
                </a:solidFill>
                <a:latin typeface="Noto Sans KR"/>
                <a:ea typeface="Noto Sans KR"/>
              </a:rPr>
              <a:t>CatVTON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825500" y="4394200"/>
            <a:ext cx="241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200" dirty="0">
                <a:solidFill>
                  <a:srgbClr val="7E7E86"/>
                </a:solidFill>
                <a:latin typeface="Noto Sans KR"/>
                <a:ea typeface="Noto Sans KR"/>
              </a:rPr>
              <a:t>diffusion · 경량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825500" y="4724400"/>
            <a:ext cx="24130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ko-KR" sz="14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· 적은 GPU로도 구동</a:t>
            </a:r>
          </a:p>
          <a:p>
            <a:pPr algn="l">
              <a:lnSpc>
                <a:spcPct val="150000"/>
              </a:lnSpc>
            </a:pPr>
            <a:r>
              <a:rPr lang="ko-KR" sz="14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· 주름 · 그림자 자연스러움</a:t>
            </a:r>
          </a:p>
          <a:p>
            <a:pPr algn="l">
              <a:lnSpc>
                <a:spcPct val="150000"/>
              </a:lnSpc>
            </a:pPr>
            <a:r>
              <a:rPr lang="ko-KR" sz="14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· 프린트 변형 가능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825500" y="5689600"/>
            <a:ext cx="2413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400" dirty="0">
                <a:solidFill>
                  <a:srgbClr val="00B050"/>
                </a:solidFill>
                <a:latin typeface="Noto Sans KR DemiLight"/>
                <a:ea typeface="Noto Sans KR DemiLight"/>
              </a:rPr>
              <a:t>주력 후보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3492500" y="4013200"/>
            <a:ext cx="24130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800" dirty="0">
                <a:solidFill>
                  <a:srgbClr val="FFFFFF"/>
                </a:solidFill>
                <a:latin typeface="Noto Sans KR"/>
                <a:ea typeface="Noto Sans KR"/>
              </a:rPr>
              <a:t>IDM-VTON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3492500" y="4394200"/>
            <a:ext cx="241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200" dirty="0">
                <a:solidFill>
                  <a:srgbClr val="7E7E86"/>
                </a:solidFill>
                <a:latin typeface="Noto Sans KR"/>
                <a:ea typeface="Noto Sans KR"/>
              </a:rPr>
              <a:t>diffusion · 대형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3492500" y="4724400"/>
            <a:ext cx="24130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ko-KR" sz="14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· 공개 모델 중 최고 품질</a:t>
            </a:r>
          </a:p>
          <a:p>
            <a:pPr algn="l">
              <a:lnSpc>
                <a:spcPct val="150000"/>
              </a:lnSpc>
            </a:pPr>
            <a:r>
              <a:rPr lang="ko-KR" sz="14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· 로고 · 프린트 보존 우수</a:t>
            </a:r>
          </a:p>
          <a:p>
            <a:pPr algn="l">
              <a:lnSpc>
                <a:spcPct val="150000"/>
              </a:lnSpc>
            </a:pPr>
            <a:r>
              <a:rPr lang="ko-KR" sz="14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· 무겁고 생성이 느림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3492500" y="5689600"/>
            <a:ext cx="2413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400" dirty="0">
                <a:solidFill>
                  <a:srgbClr val="00B050"/>
                </a:solidFill>
                <a:latin typeface="Noto Sans KR DemiLight"/>
                <a:ea typeface="Noto Sans KR DemiLight"/>
              </a:rPr>
              <a:t>품질 상한선 비교용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6159500" y="4013200"/>
            <a:ext cx="24130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800" dirty="0">
                <a:solidFill>
                  <a:srgbClr val="FFFFFF"/>
                </a:solidFill>
                <a:latin typeface="Noto Sans KR"/>
                <a:ea typeface="Noto Sans KR"/>
              </a:rPr>
              <a:t>FASHN v1.5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6159500" y="4394200"/>
            <a:ext cx="241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200" dirty="0">
                <a:solidFill>
                  <a:srgbClr val="7E7E86"/>
                </a:solidFill>
                <a:latin typeface="Noto Sans KR"/>
                <a:ea typeface="Noto Sans KR"/>
              </a:rPr>
              <a:t>diffusion · 최신 구조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6159500" y="4724400"/>
            <a:ext cx="24130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ko-KR" sz="14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· 압축 없이 직접 생성</a:t>
            </a:r>
          </a:p>
          <a:p>
            <a:pPr algn="l">
              <a:lnSpc>
                <a:spcPct val="150000"/>
              </a:lnSpc>
            </a:pPr>
            <a:r>
              <a:rPr lang="ko-KR" sz="14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· 질감 표현에 유리</a:t>
            </a:r>
          </a:p>
          <a:p>
            <a:pPr algn="l">
              <a:lnSpc>
                <a:spcPct val="150000"/>
              </a:lnSpc>
            </a:pPr>
            <a:r>
              <a:rPr lang="ko-KR" sz="14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· 검증 사례 부족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6159500" y="5689600"/>
            <a:ext cx="2413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400" dirty="0">
                <a:solidFill>
                  <a:srgbClr val="00B050"/>
                </a:solidFill>
                <a:latin typeface="Noto Sans KR DemiLight"/>
                <a:ea typeface="Noto Sans KR DemiLight"/>
              </a:rPr>
              <a:t>대안 후보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8826500" y="4013200"/>
            <a:ext cx="24130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800" dirty="0">
                <a:solidFill>
                  <a:srgbClr val="FFFFFF"/>
                </a:solidFill>
                <a:latin typeface="Noto Sans KR"/>
                <a:ea typeface="Noto Sans KR"/>
              </a:rPr>
              <a:t>HR-VITON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8826500" y="4394200"/>
            <a:ext cx="241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200" dirty="0">
                <a:solidFill>
                  <a:srgbClr val="7E7E86"/>
                </a:solidFill>
                <a:latin typeface="Noto Sans KR"/>
                <a:ea typeface="Noto Sans KR"/>
              </a:rPr>
              <a:t>GAN · 옷 이미지 변형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8826500" y="4724400"/>
            <a:ext cx="24130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ko-KR" sz="14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· 1초 이내, 매우 빠름</a:t>
            </a:r>
          </a:p>
          <a:p>
            <a:pPr algn="l">
              <a:lnSpc>
                <a:spcPct val="150000"/>
              </a:lnSpc>
            </a:pPr>
            <a:r>
              <a:rPr lang="ko-KR" sz="14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· 글자 배치 보존 유리</a:t>
            </a:r>
          </a:p>
          <a:p>
            <a:pPr algn="l">
              <a:lnSpc>
                <a:spcPct val="150000"/>
              </a:lnSpc>
            </a:pPr>
            <a:r>
              <a:rPr lang="ko-KR" sz="14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· 일반 배경에 취약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8826500" y="5689600"/>
            <a:ext cx="2413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400" dirty="0">
                <a:solidFill>
                  <a:srgbClr val="00B050"/>
                </a:solidFill>
                <a:latin typeface="Noto Sans KR DemiLight"/>
                <a:ea typeface="Noto Sans KR DemiLight"/>
              </a:rPr>
              <a:t>속도 비교 기준</a:t>
            </a:r>
          </a:p>
        </p:txBody>
      </p:sp>
    </p:spTree>
    <p:extLst>
      <p:ext uri="{BB962C8B-B14F-4D97-AF65-F5344CB8AC3E}">
        <p14:creationId xmlns:p14="http://schemas.microsoft.com/office/powerpoint/2010/main" val="3027596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12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실험 계획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500" y="1739900"/>
            <a:ext cx="10541000" cy="15763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lang="ko-KR" sz="4200" dirty="0">
                <a:solidFill>
                  <a:srgbClr val="FFFFFF"/>
                </a:solidFill>
                <a:latin typeface="Noto Sans KR Light"/>
                <a:ea typeface="Noto Sans KR Light"/>
              </a:rPr>
              <a:t>같은 입력으로 비교하고,</a:t>
            </a:r>
          </a:p>
          <a:p>
            <a:pPr algn="l">
              <a:lnSpc>
                <a:spcPct val="128000"/>
              </a:lnSpc>
            </a:pPr>
            <a:r>
              <a:rPr lang="ko-KR" sz="4200" dirty="0">
                <a:solidFill>
                  <a:srgbClr val="FFFFFF"/>
                </a:solidFill>
                <a:latin typeface="Noto Sans KR Light"/>
                <a:ea typeface="Noto Sans KR Light"/>
              </a:rPr>
              <a:t>정해둔 기준으로 고른다</a:t>
            </a:r>
          </a:p>
        </p:txBody>
      </p:sp>
      <p:pic>
        <p:nvPicPr>
          <p:cNvPr id="8" name="Picture 7" descr="fitcheck_wordmark_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54335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09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825500" y="3378200"/>
            <a:ext cx="889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45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후보 4종을 동일 입력으로 비교 → 실제 휴대폰 사진으로 검증 → 판정 기준 합격률로 주력 모델을 확정한다</a:t>
            </a:r>
          </a:p>
        </p:txBody>
      </p:sp>
      <p:cxnSp>
        <p:nvCxnSpPr>
          <p:cNvPr id="101" name="Connector 101"/>
          <p:cNvCxnSpPr/>
          <p:nvPr/>
        </p:nvCxnSpPr>
        <p:spPr>
          <a:xfrm>
            <a:off x="825500" y="3810000"/>
            <a:ext cx="105410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2"/>
          <p:cNvSpPr txBox="1"/>
          <p:nvPr/>
        </p:nvSpPr>
        <p:spPr>
          <a:xfrm>
            <a:off x="825500" y="4013200"/>
            <a:ext cx="24765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800" dirty="0">
                <a:solidFill>
                  <a:srgbClr val="FFFFFF"/>
                </a:solidFill>
                <a:latin typeface="Noto Sans KR"/>
                <a:ea typeface="Noto Sans KR"/>
              </a:rPr>
              <a:t>01  동일 조건 비교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825500" y="4394200"/>
            <a:ext cx="2476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200" dirty="0">
                <a:solidFill>
                  <a:srgbClr val="7E7E86"/>
                </a:solidFill>
                <a:latin typeface="Noto Sans KR"/>
                <a:ea typeface="Noto Sans KR"/>
              </a:rPr>
              <a:t>9월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825500" y="4724400"/>
            <a:ext cx="24765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ko-KR" sz="14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· 같은 인물 · 같은 옷 입력</a:t>
            </a:r>
          </a:p>
          <a:p>
            <a:pPr algn="l">
              <a:lnSpc>
                <a:spcPct val="150000"/>
              </a:lnSpc>
            </a:pPr>
            <a:r>
              <a:rPr lang="ko-KR" sz="14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· 해상도 · 설정 고정</a:t>
            </a:r>
          </a:p>
          <a:p>
            <a:pPr algn="l">
              <a:lnSpc>
                <a:spcPct val="150000"/>
              </a:lnSpc>
            </a:pPr>
            <a:r>
              <a:rPr lang="ko-KR" sz="14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· 후보 4종 결과 수집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825500" y="5740400"/>
            <a:ext cx="24765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400" dirty="0">
                <a:solidFill>
                  <a:srgbClr val="00B050"/>
                </a:solidFill>
                <a:latin typeface="Noto Sans KR DemiLight"/>
                <a:ea typeface="Noto Sans KR DemiLight"/>
              </a:rPr>
              <a:t>산출물 — 모델 비교표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3492500" y="4013200"/>
            <a:ext cx="24765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800" dirty="0">
                <a:solidFill>
                  <a:srgbClr val="FFFFFF"/>
                </a:solidFill>
                <a:latin typeface="Noto Sans KR"/>
                <a:ea typeface="Noto Sans KR"/>
              </a:rPr>
              <a:t>02  실사진 검증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3492500" y="4394200"/>
            <a:ext cx="2476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200" dirty="0">
                <a:solidFill>
                  <a:srgbClr val="7E7E86"/>
                </a:solidFill>
                <a:latin typeface="Noto Sans KR"/>
                <a:ea typeface="Noto Sans KR"/>
              </a:rPr>
              <a:t>10월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3492500" y="4724400"/>
            <a:ext cx="24765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ko-KR" sz="14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· 휴대폰 촬영 · 일반 배경</a:t>
            </a:r>
          </a:p>
          <a:p>
            <a:pPr algn="l">
              <a:lnSpc>
                <a:spcPct val="150000"/>
              </a:lnSpc>
            </a:pPr>
            <a:r>
              <a:rPr lang="ko-KR" sz="14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· 자세 · 조명 변형 확인</a:t>
            </a:r>
          </a:p>
          <a:p>
            <a:pPr algn="l">
              <a:lnSpc>
                <a:spcPct val="150000"/>
              </a:lnSpc>
            </a:pPr>
            <a:r>
              <a:rPr lang="ko-KR" sz="14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· 실패 유형 정리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3492500" y="5740400"/>
            <a:ext cx="24765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400" dirty="0">
                <a:solidFill>
                  <a:srgbClr val="00B050"/>
                </a:solidFill>
                <a:latin typeface="Noto Sans KR DemiLight"/>
                <a:ea typeface="Noto Sans KR DemiLight"/>
              </a:rPr>
              <a:t>산출물 — 실패 사례집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6159500" y="4013200"/>
            <a:ext cx="24765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800" dirty="0">
                <a:solidFill>
                  <a:srgbClr val="FFFFFF"/>
                </a:solidFill>
                <a:latin typeface="Noto Sans KR"/>
                <a:ea typeface="Noto Sans KR"/>
              </a:rPr>
              <a:t>03  품질 판정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6159500" y="4394200"/>
            <a:ext cx="2476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200" dirty="0">
                <a:solidFill>
                  <a:srgbClr val="7E7E86"/>
                </a:solidFill>
                <a:latin typeface="Noto Sans KR"/>
                <a:ea typeface="Noto Sans KR"/>
              </a:rPr>
              <a:t>10월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6159500" y="4724400"/>
            <a:ext cx="24765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ko-KR" sz="14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· 색 · 프린트 · 얼룩 확인</a:t>
            </a:r>
          </a:p>
          <a:p>
            <a:pPr algn="l">
              <a:lnSpc>
                <a:spcPct val="150000"/>
              </a:lnSpc>
            </a:pPr>
            <a:r>
              <a:rPr lang="ko-KR" sz="14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· 형태 · 얼굴 · 배경 보존</a:t>
            </a:r>
          </a:p>
          <a:p>
            <a:pPr algn="l">
              <a:lnSpc>
                <a:spcPct val="150000"/>
              </a:lnSpc>
            </a:pPr>
            <a:r>
              <a:rPr lang="ko-KR" sz="14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· 항목별 합격률 산출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6159500" y="5740400"/>
            <a:ext cx="24765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400" dirty="0">
                <a:solidFill>
                  <a:srgbClr val="00B050"/>
                </a:solidFill>
                <a:latin typeface="Noto Sans KR DemiLight"/>
                <a:ea typeface="Noto Sans KR DemiLight"/>
              </a:rPr>
              <a:t>산출물 — 판정 기준표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8826500" y="4013200"/>
            <a:ext cx="24765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800" dirty="0">
                <a:solidFill>
                  <a:srgbClr val="FFFFFF"/>
                </a:solidFill>
                <a:latin typeface="Noto Sans KR"/>
                <a:ea typeface="Noto Sans KR"/>
              </a:rPr>
              <a:t>04  주력 모델 선정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8826500" y="4394200"/>
            <a:ext cx="2476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200" dirty="0">
                <a:solidFill>
                  <a:srgbClr val="7E7E86"/>
                </a:solidFill>
                <a:latin typeface="Noto Sans KR"/>
                <a:ea typeface="Noto Sans KR"/>
              </a:rPr>
              <a:t>11월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8826500" y="4724400"/>
            <a:ext cx="24765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ko-KR" sz="14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· 품질 · 속도 · GPU 균형</a:t>
            </a:r>
          </a:p>
          <a:p>
            <a:pPr algn="l">
              <a:lnSpc>
                <a:spcPct val="150000"/>
              </a:lnSpc>
            </a:pPr>
            <a:r>
              <a:rPr lang="ko-KR" sz="14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· 앱 적용 설정 확정</a:t>
            </a:r>
          </a:p>
          <a:p>
            <a:pPr algn="l">
              <a:lnSpc>
                <a:spcPct val="150000"/>
              </a:lnSpc>
            </a:pPr>
            <a:r>
              <a:rPr lang="ko-KR" sz="14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· 탈락 모델도 근거로 첨부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8826500" y="5740400"/>
            <a:ext cx="24765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400" dirty="0">
                <a:solidFill>
                  <a:srgbClr val="00B050"/>
                </a:solidFill>
                <a:latin typeface="Noto Sans KR DemiLight"/>
                <a:ea typeface="Noto Sans KR DemiLight"/>
              </a:rPr>
              <a:t>산출물 — 선정 근거</a:t>
            </a:r>
          </a:p>
        </p:txBody>
      </p:sp>
    </p:spTree>
    <p:extLst>
      <p:ext uri="{BB962C8B-B14F-4D97-AF65-F5344CB8AC3E}">
        <p14:creationId xmlns:p14="http://schemas.microsoft.com/office/powerpoint/2010/main" val="1407747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06640" y="868680"/>
            <a:ext cx="3962095" cy="5074920"/>
          </a:xfrm>
          <a:prstGeom prst="roundRect">
            <a:avLst>
              <a:gd name="adj" fmla="val 5000"/>
            </a:avLst>
          </a:prstGeom>
          <a:solidFill>
            <a:srgbClr val="1E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ockup_meas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1354" y="1188720"/>
            <a:ext cx="2052667" cy="4434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>
                <a:solidFill>
                  <a:srgbClr val="98989E"/>
                </a:solidFill>
                <a:latin typeface="Noto Sans KR Medium"/>
                <a:ea typeface="Noto Sans KR Medium"/>
              </a:rPr>
              <a:t>구현  02  ·  사이즈 추천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58521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3300">
                <a:solidFill>
                  <a:srgbClr val="FFFFFF"/>
                </a:solidFill>
                <a:latin typeface="Noto Sans KR Light"/>
                <a:ea typeface="Noto Sans KR Light"/>
              </a:rPr>
              <a:t>아는 치수만 넣어도</a:t>
            </a:r>
          </a:p>
          <a:p>
            <a:pPr algn="l">
              <a:lnSpc>
                <a:spcPct val="128000"/>
              </a:lnSpc>
            </a:pPr>
            <a:r>
              <a:rPr sz="3300">
                <a:solidFill>
                  <a:srgbClr val="FFFFFF"/>
                </a:solidFill>
                <a:latin typeface="Noto Sans KR Light"/>
                <a:ea typeface="Noto Sans KR Light"/>
              </a:rPr>
              <a:t>추천이 나온다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3703320"/>
            <a:ext cx="4663440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3977639"/>
            <a:ext cx="58521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300"/>
              </a:spcAft>
            </a:pPr>
            <a:r>
              <a:rPr sz="1500">
                <a:solidFill>
                  <a:srgbClr val="98989E"/>
                </a:solidFill>
                <a:latin typeface="Noto Sans KR DemiLight"/>
                <a:ea typeface="Noto Sans KR DemiLight"/>
              </a:rPr>
              <a:t>키 · 어깨너비 · 가슴둘레 · 허리둘레</a:t>
            </a:r>
          </a:p>
          <a:p>
            <a:pPr algn="l">
              <a:lnSpc>
                <a:spcPct val="130000"/>
              </a:lnSpc>
              <a:spcAft>
                <a:spcPts val="1300"/>
              </a:spcAft>
            </a:pPr>
            <a:r>
              <a:rPr sz="1500">
                <a:solidFill>
                  <a:srgbClr val="98989E"/>
                </a:solidFill>
                <a:latin typeface="Noto Sans KR DemiLight"/>
                <a:ea typeface="Noto Sans KR DemiLight"/>
              </a:rPr>
              <a:t>둘레 ↔ 단면 자동 변환</a:t>
            </a:r>
          </a:p>
          <a:p>
            <a:pPr algn="l">
              <a:lnSpc>
                <a:spcPct val="130000"/>
              </a:lnSpc>
              <a:spcAft>
                <a:spcPts val="1300"/>
              </a:spcAft>
            </a:pPr>
            <a:r>
              <a:rPr sz="1500">
                <a:solidFill>
                  <a:srgbClr val="98989E"/>
                </a:solidFill>
                <a:latin typeface="Noto Sans KR DemiLight"/>
                <a:ea typeface="Noto Sans KR DemiLight"/>
              </a:rPr>
              <a:t>여유분 계산 → S / M / L 판정</a:t>
            </a:r>
          </a:p>
        </p:txBody>
      </p:sp>
      <p:pic>
        <p:nvPicPr>
          <p:cNvPr id="8" name="Picture 7" descr="fitcheck_wordmark_d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54335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06640" y="868680"/>
            <a:ext cx="3962095" cy="5074920"/>
          </a:xfrm>
          <a:prstGeom prst="roundRect">
            <a:avLst>
              <a:gd name="adj" fmla="val 5000"/>
            </a:avLst>
          </a:prstGeom>
          <a:solidFill>
            <a:srgbClr val="1E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ockup_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1354" y="1188720"/>
            <a:ext cx="2052667" cy="4434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>
                <a:solidFill>
                  <a:srgbClr val="98989E"/>
                </a:solidFill>
                <a:latin typeface="Noto Sans KR Medium"/>
                <a:ea typeface="Noto Sans KR Medium"/>
              </a:rPr>
              <a:t>구현  03  ·  두 기능의 통합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58521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3300">
                <a:solidFill>
                  <a:srgbClr val="FFFFFF"/>
                </a:solidFill>
                <a:latin typeface="Noto Sans KR Light"/>
                <a:ea typeface="Noto Sans KR Light"/>
              </a:rPr>
              <a:t>같은 옷,</a:t>
            </a:r>
          </a:p>
          <a:p>
            <a:pPr algn="l">
              <a:lnSpc>
                <a:spcPct val="128000"/>
              </a:lnSpc>
            </a:pPr>
            <a:r>
              <a:rPr sz="3300">
                <a:solidFill>
                  <a:srgbClr val="FFFFFF"/>
                </a:solidFill>
                <a:latin typeface="Noto Sans KR Light"/>
                <a:ea typeface="Noto Sans KR Light"/>
              </a:rPr>
              <a:t>사이즈만 다르게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3703320"/>
            <a:ext cx="4663440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3977639"/>
            <a:ext cx="58521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300"/>
              </a:spcAft>
            </a:pPr>
            <a:r>
              <a:rPr sz="1500">
                <a:solidFill>
                  <a:srgbClr val="98989E"/>
                </a:solidFill>
                <a:latin typeface="Noto Sans KR DemiLight"/>
                <a:ea typeface="Noto Sans KR DemiLight"/>
              </a:rPr>
              <a:t>추천 사이즈별 착용 모습을 나란히 비교</a:t>
            </a:r>
          </a:p>
          <a:p>
            <a:pPr algn="l">
              <a:lnSpc>
                <a:spcPct val="130000"/>
              </a:lnSpc>
              <a:spcAft>
                <a:spcPts val="1300"/>
              </a:spcAft>
            </a:pPr>
            <a:r>
              <a:rPr sz="1500">
                <a:solidFill>
                  <a:srgbClr val="98989E"/>
                </a:solidFill>
                <a:latin typeface="Noto Sans KR DemiLight"/>
                <a:ea typeface="Noto Sans KR DemiLight"/>
              </a:rPr>
              <a:t>여유분을 실루엣에 반영</a:t>
            </a:r>
          </a:p>
          <a:p>
            <a:pPr algn="l">
              <a:lnSpc>
                <a:spcPct val="130000"/>
              </a:lnSpc>
              <a:spcAft>
                <a:spcPts val="1300"/>
              </a:spcAft>
            </a:pPr>
            <a:r>
              <a:rPr sz="1500">
                <a:solidFill>
                  <a:srgbClr val="98989E"/>
                </a:solidFill>
                <a:latin typeface="Noto Sans KR DemiLight"/>
                <a:ea typeface="Noto Sans KR DemiLight"/>
              </a:rPr>
              <a:t>이 연결이 과제의 핵심</a:t>
            </a:r>
          </a:p>
        </p:txBody>
      </p:sp>
      <p:pic>
        <p:nvPicPr>
          <p:cNvPr id="8" name="Picture 7" descr="fitcheck_wordmark_d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54335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>
                <a:solidFill>
                  <a:srgbClr val="98989E"/>
                </a:solidFill>
                <a:latin typeface="Noto Sans KR Medium"/>
                <a:ea typeface="Noto Sans KR Medium"/>
              </a:rPr>
              <a:t>기대 효과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4028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140">
                <a:solidFill>
                  <a:srgbClr val="5A5A5E"/>
                </a:solidFill>
                <a:latin typeface="Noto Sans KR Medium"/>
                <a:ea typeface="Noto Sans KR Medium"/>
              </a:rPr>
              <a:t>소비자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651760"/>
            <a:ext cx="3017520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926080"/>
            <a:ext cx="30175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>
                <a:solidFill>
                  <a:srgbClr val="FFFFFF"/>
                </a:solidFill>
                <a:latin typeface="Noto Sans KR Light"/>
                <a:ea typeface="Noto Sans KR Light"/>
              </a:rPr>
              <a:t>사이즈 실패로 인한</a:t>
            </a:r>
          </a:p>
          <a:p>
            <a:pPr algn="l">
              <a:lnSpc>
                <a:spcPct val="130000"/>
              </a:lnSpc>
            </a:pPr>
            <a:r>
              <a:rPr sz="2300">
                <a:solidFill>
                  <a:srgbClr val="FFFFFF"/>
                </a:solidFill>
                <a:latin typeface="Noto Sans KR Light"/>
                <a:ea typeface="Noto Sans KR Light"/>
              </a:rPr>
              <a:t>반품을 줄인다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>
                <a:solidFill>
                  <a:srgbClr val="98989E"/>
                </a:solidFill>
                <a:latin typeface="Noto Sans KR DemiLight"/>
                <a:ea typeface="Noto Sans KR DemiLight"/>
              </a:rPr>
              <a:t>사기 전에 맞는 사이즈로 입은 모습을 본다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87088" y="224028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140">
                <a:solidFill>
                  <a:srgbClr val="5A5A5E"/>
                </a:solidFill>
                <a:latin typeface="Noto Sans KR Medium"/>
                <a:ea typeface="Noto Sans KR Medium"/>
              </a:rPr>
              <a:t>판매 기업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87088" y="2651760"/>
            <a:ext cx="3017520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87088" y="2926080"/>
            <a:ext cx="30175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>
                <a:solidFill>
                  <a:srgbClr val="FFFFFF"/>
                </a:solidFill>
                <a:latin typeface="Noto Sans KR Light"/>
                <a:ea typeface="Noto Sans KR Light"/>
              </a:rPr>
              <a:t>반품 물류 · 재고</a:t>
            </a:r>
          </a:p>
          <a:p>
            <a:pPr algn="l">
              <a:lnSpc>
                <a:spcPct val="130000"/>
              </a:lnSpc>
            </a:pPr>
            <a:r>
              <a:rPr sz="2300">
                <a:solidFill>
                  <a:srgbClr val="FFFFFF"/>
                </a:solidFill>
                <a:latin typeface="Noto Sans KR Light"/>
                <a:ea typeface="Noto Sans KR Light"/>
              </a:rPr>
              <a:t>비용을 줄인다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7088" y="429768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>
                <a:solidFill>
                  <a:srgbClr val="98989E"/>
                </a:solidFill>
                <a:latin typeface="Noto Sans KR DemiLight"/>
                <a:ea typeface="Noto Sans KR DemiLight"/>
              </a:rPr>
              <a:t>사이즈 문의와 교환 응대 부담도 준다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1216" y="224028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140">
                <a:solidFill>
                  <a:srgbClr val="5A5A5E"/>
                </a:solidFill>
                <a:latin typeface="Noto Sans KR Medium"/>
                <a:ea typeface="Noto Sans KR Medium"/>
              </a:rPr>
              <a:t>확장성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351216" y="2651760"/>
            <a:ext cx="3017520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351216" y="2926080"/>
            <a:ext cx="30175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>
                <a:solidFill>
                  <a:srgbClr val="FFFFFF"/>
                </a:solidFill>
                <a:latin typeface="Noto Sans KR Light"/>
                <a:ea typeface="Noto Sans KR Light"/>
              </a:rPr>
              <a:t>치수표만 있으면</a:t>
            </a:r>
          </a:p>
          <a:p>
            <a:pPr algn="l">
              <a:lnSpc>
                <a:spcPct val="130000"/>
              </a:lnSpc>
            </a:pPr>
            <a:r>
              <a:rPr sz="2300">
                <a:solidFill>
                  <a:srgbClr val="FFFFFF"/>
                </a:solidFill>
                <a:latin typeface="Noto Sans KR Light"/>
                <a:ea typeface="Noto Sans KR Light"/>
              </a:rPr>
              <a:t>어떤 상품에도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1216" y="429768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>
                <a:solidFill>
                  <a:srgbClr val="98989E"/>
                </a:solidFill>
                <a:latin typeface="Noto Sans KR DemiLight"/>
                <a:ea typeface="Noto Sans KR DemiLight"/>
              </a:rPr>
              <a:t>쇼핑몰이 가진 데이터로 바로 적용된다</a:t>
            </a:r>
          </a:p>
        </p:txBody>
      </p:sp>
      <p:pic>
        <p:nvPicPr>
          <p:cNvPr id="15" name="Picture 14" descr="fitcheck_wordmark_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454335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>
                <a:solidFill>
                  <a:srgbClr val="98989E"/>
                </a:solidFill>
                <a:latin typeface="Noto Sans KR Medium"/>
                <a:ea typeface="Noto Sans KR Medium"/>
              </a:rPr>
              <a:t>일정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3611880"/>
            <a:ext cx="10545775" cy="0"/>
          </a:xfrm>
          <a:prstGeom prst="line">
            <a:avLst/>
          </a:prstGeom>
          <a:ln w="12700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781869" y="3516211"/>
            <a:ext cx="191338" cy="19133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210915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>
                <a:solidFill>
                  <a:srgbClr val="FFFFFF"/>
                </a:solidFill>
                <a:latin typeface="Noto Sans KR"/>
                <a:ea typeface="Noto Sans KR"/>
              </a:rPr>
              <a:t>9월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174339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모델 · 관련 연구 조사</a:t>
            </a:r>
          </a:p>
          <a:p>
            <a:pPr algn="ctr">
              <a:lnSpc>
                <a:spcPct val="135000"/>
              </a:lnSpc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과제 계획서 제출</a:t>
            </a:r>
          </a:p>
        </p:txBody>
      </p:sp>
      <p:sp>
        <p:nvSpPr>
          <p:cNvPr id="7" name="Oval 6"/>
          <p:cNvSpPr/>
          <p:nvPr/>
        </p:nvSpPr>
        <p:spPr>
          <a:xfrm>
            <a:off x="3915826" y="3541014"/>
            <a:ext cx="141732" cy="141732"/>
          </a:xfrm>
          <a:prstGeom prst="ellipse">
            <a:avLst/>
          </a:prstGeom>
          <a:solidFill>
            <a:srgbClr val="484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32114" y="2971800"/>
            <a:ext cx="210915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>
                <a:solidFill>
                  <a:srgbClr val="98989E"/>
                </a:solidFill>
                <a:latin typeface="Noto Sans KR DemiLight"/>
                <a:ea typeface="Noto Sans KR DemiLight"/>
              </a:rPr>
              <a:t>10월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14994" y="3977639"/>
            <a:ext cx="174339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dirty="0" err="1">
                <a:solidFill>
                  <a:srgbClr val="5A5A5E"/>
                </a:solidFill>
                <a:latin typeface="Noto Sans KR DemiLight"/>
                <a:ea typeface="Noto Sans KR DemiLight"/>
              </a:rPr>
              <a:t>여유분</a:t>
            </a:r>
            <a:r>
              <a:rPr sz="1300" dirty="0">
                <a:solidFill>
                  <a:srgbClr val="5A5A5E"/>
                </a:solidFill>
                <a:latin typeface="Noto Sans KR DemiLight"/>
                <a:ea typeface="Noto Sans KR DemiLight"/>
              </a:rPr>
              <a:t> </a:t>
            </a:r>
            <a:r>
              <a:rPr sz="1300" dirty="0" err="1">
                <a:solidFill>
                  <a:srgbClr val="5A5A5E"/>
                </a:solidFill>
                <a:latin typeface="Noto Sans KR DemiLight"/>
                <a:ea typeface="Noto Sans KR DemiLight"/>
              </a:rPr>
              <a:t>계산</a:t>
            </a:r>
            <a:r>
              <a:rPr sz="1300" dirty="0">
                <a:solidFill>
                  <a:srgbClr val="5A5A5E"/>
                </a:solidFill>
                <a:latin typeface="Noto Sans KR DemiLight"/>
                <a:ea typeface="Noto Sans KR DemiLight"/>
              </a:rPr>
              <a:t> </a:t>
            </a:r>
            <a:r>
              <a:rPr sz="1300" dirty="0" err="1">
                <a:solidFill>
                  <a:srgbClr val="5A5A5E"/>
                </a:solidFill>
                <a:latin typeface="Noto Sans KR DemiLight"/>
                <a:ea typeface="Noto Sans KR DemiLight"/>
              </a:rPr>
              <a:t>로직</a:t>
            </a:r>
            <a:r>
              <a:rPr sz="1300" dirty="0">
                <a:solidFill>
                  <a:srgbClr val="5A5A5E"/>
                </a:solidFill>
                <a:latin typeface="Noto Sans KR DemiLight"/>
                <a:ea typeface="Noto Sans KR DemiLight"/>
              </a:rPr>
              <a:t> </a:t>
            </a:r>
            <a:r>
              <a:rPr sz="1300" dirty="0" err="1">
                <a:solidFill>
                  <a:srgbClr val="5A5A5E"/>
                </a:solidFill>
                <a:latin typeface="Noto Sans KR DemiLight"/>
                <a:ea typeface="Noto Sans KR DemiLight"/>
              </a:rPr>
              <a:t>구현</a:t>
            </a:r>
            <a:endParaRPr sz="1300" dirty="0">
              <a:solidFill>
                <a:srgbClr val="5A5A5E"/>
              </a:solidFill>
              <a:latin typeface="Noto Sans KR DemiLight"/>
              <a:ea typeface="Noto Sans KR DemiLight"/>
            </a:endParaRPr>
          </a:p>
          <a:p>
            <a:pPr algn="ctr">
              <a:lnSpc>
                <a:spcPct val="135000"/>
              </a:lnSpc>
            </a:pPr>
            <a:r>
              <a:rPr sz="1300" dirty="0" err="1">
                <a:solidFill>
                  <a:srgbClr val="5A5A5E"/>
                </a:solidFill>
                <a:latin typeface="Noto Sans KR DemiLight"/>
                <a:ea typeface="Noto Sans KR DemiLight"/>
              </a:rPr>
              <a:t>가상</a:t>
            </a:r>
            <a:r>
              <a:rPr sz="1300" dirty="0">
                <a:solidFill>
                  <a:srgbClr val="5A5A5E"/>
                </a:solidFill>
                <a:latin typeface="Noto Sans KR DemiLight"/>
                <a:ea typeface="Noto Sans KR DemiLight"/>
              </a:rPr>
              <a:t> </a:t>
            </a:r>
            <a:r>
              <a:rPr sz="1300" dirty="0" err="1">
                <a:solidFill>
                  <a:srgbClr val="5A5A5E"/>
                </a:solidFill>
                <a:latin typeface="Noto Sans KR DemiLight"/>
                <a:ea typeface="Noto Sans KR DemiLight"/>
              </a:rPr>
              <a:t>피팅</a:t>
            </a:r>
            <a:r>
              <a:rPr sz="1300" dirty="0">
                <a:solidFill>
                  <a:srgbClr val="5A5A5E"/>
                </a:solidFill>
                <a:latin typeface="Noto Sans KR DemiLight"/>
                <a:ea typeface="Noto Sans KR DemiLight"/>
              </a:rPr>
              <a:t> </a:t>
            </a:r>
            <a:r>
              <a:rPr sz="1300" dirty="0" err="1">
                <a:solidFill>
                  <a:srgbClr val="5A5A5E"/>
                </a:solidFill>
                <a:latin typeface="Noto Sans KR DemiLight"/>
                <a:ea typeface="Noto Sans KR DemiLight"/>
              </a:rPr>
              <a:t>모델</a:t>
            </a:r>
            <a:r>
              <a:rPr sz="1300" dirty="0">
                <a:solidFill>
                  <a:srgbClr val="5A5A5E"/>
                </a:solidFill>
                <a:latin typeface="Noto Sans KR DemiLight"/>
                <a:ea typeface="Noto Sans KR DemiLight"/>
              </a:rPr>
              <a:t> </a:t>
            </a:r>
            <a:r>
              <a:rPr sz="1300" dirty="0" err="1">
                <a:solidFill>
                  <a:srgbClr val="5A5A5E"/>
                </a:solidFill>
                <a:latin typeface="Noto Sans KR DemiLight"/>
                <a:ea typeface="Noto Sans KR DemiLight"/>
              </a:rPr>
              <a:t>연동</a:t>
            </a:r>
            <a:endParaRPr sz="1300" dirty="0">
              <a:solidFill>
                <a:srgbClr val="5A5A5E"/>
              </a:solidFill>
              <a:latin typeface="Noto Sans KR DemiLight"/>
              <a:ea typeface="Noto Sans KR DemiLight"/>
            </a:endParaRPr>
          </a:p>
        </p:txBody>
      </p:sp>
      <p:sp>
        <p:nvSpPr>
          <p:cNvPr id="10" name="Oval 9"/>
          <p:cNvSpPr/>
          <p:nvPr/>
        </p:nvSpPr>
        <p:spPr>
          <a:xfrm>
            <a:off x="6024982" y="3541014"/>
            <a:ext cx="141732" cy="141732"/>
          </a:xfrm>
          <a:prstGeom prst="ellipse">
            <a:avLst/>
          </a:prstGeom>
          <a:solidFill>
            <a:srgbClr val="484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41270" y="2971800"/>
            <a:ext cx="210915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>
                <a:solidFill>
                  <a:srgbClr val="98989E"/>
                </a:solidFill>
                <a:latin typeface="Noto Sans KR DemiLight"/>
                <a:ea typeface="Noto Sans KR DemiLight"/>
              </a:rPr>
              <a:t>11월 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24150" y="3977639"/>
            <a:ext cx="174339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>
                <a:solidFill>
                  <a:srgbClr val="5A5A5E"/>
                </a:solidFill>
                <a:latin typeface="Noto Sans KR DemiLight"/>
                <a:ea typeface="Noto Sans KR DemiLight"/>
              </a:rPr>
              <a:t>중간발표</a:t>
            </a:r>
          </a:p>
        </p:txBody>
      </p:sp>
      <p:sp>
        <p:nvSpPr>
          <p:cNvPr id="13" name="Oval 12"/>
          <p:cNvSpPr/>
          <p:nvPr/>
        </p:nvSpPr>
        <p:spPr>
          <a:xfrm>
            <a:off x="8134136" y="3541014"/>
            <a:ext cx="141732" cy="141732"/>
          </a:xfrm>
          <a:prstGeom prst="ellipse">
            <a:avLst/>
          </a:prstGeom>
          <a:solidFill>
            <a:srgbClr val="484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50424" y="2971800"/>
            <a:ext cx="210915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>
                <a:solidFill>
                  <a:srgbClr val="98989E"/>
                </a:solidFill>
                <a:latin typeface="Noto Sans KR DemiLight"/>
                <a:ea typeface="Noto Sans KR DemiLight"/>
              </a:rPr>
              <a:t>11 – 12월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3304" y="3977639"/>
            <a:ext cx="174339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>
                <a:solidFill>
                  <a:srgbClr val="5A5A5E"/>
                </a:solidFill>
                <a:latin typeface="Noto Sans KR DemiLight"/>
                <a:ea typeface="Noto Sans KR DemiLight"/>
              </a:rPr>
              <a:t>사이즈별 핏 반영</a:t>
            </a:r>
          </a:p>
          <a:p>
            <a:pPr algn="ctr">
              <a:lnSpc>
                <a:spcPct val="135000"/>
              </a:lnSpc>
            </a:pPr>
            <a:r>
              <a:rPr sz="1300">
                <a:solidFill>
                  <a:srgbClr val="5A5A5E"/>
                </a:solidFill>
                <a:latin typeface="Noto Sans KR DemiLight"/>
                <a:ea typeface="Noto Sans KR DemiLight"/>
              </a:rPr>
              <a:t>앱 UI 통합</a:t>
            </a:r>
          </a:p>
        </p:txBody>
      </p:sp>
      <p:sp>
        <p:nvSpPr>
          <p:cNvPr id="16" name="Oval 15"/>
          <p:cNvSpPr/>
          <p:nvPr/>
        </p:nvSpPr>
        <p:spPr>
          <a:xfrm>
            <a:off x="10243292" y="3541014"/>
            <a:ext cx="141732" cy="141732"/>
          </a:xfrm>
          <a:prstGeom prst="ellipse">
            <a:avLst/>
          </a:prstGeom>
          <a:solidFill>
            <a:srgbClr val="484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59580" y="2971800"/>
            <a:ext cx="210915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>
                <a:solidFill>
                  <a:srgbClr val="98989E"/>
                </a:solidFill>
                <a:latin typeface="Noto Sans KR DemiLight"/>
                <a:ea typeface="Noto Sans KR DemiLight"/>
              </a:rPr>
              <a:t>12월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42460" y="3977639"/>
            <a:ext cx="174339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>
                <a:solidFill>
                  <a:srgbClr val="5A5A5E"/>
                </a:solidFill>
                <a:latin typeface="Noto Sans KR DemiLight"/>
                <a:ea typeface="Noto Sans KR DemiLight"/>
              </a:rPr>
              <a:t>최종발표</a:t>
            </a:r>
          </a:p>
        </p:txBody>
      </p:sp>
      <p:pic>
        <p:nvPicPr>
          <p:cNvPr id="19" name="Picture 18" descr="fitcheck_wordmark_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454335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12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진행 계획</a:t>
            </a:r>
          </a:p>
        </p:txBody>
      </p:sp>
      <p:pic>
        <p:nvPicPr>
          <p:cNvPr id="19" name="Picture 18" descr="fitcheck_wordmark_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454335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13</a:t>
            </a:r>
          </a:p>
        </p:txBody>
      </p:sp>
      <p:sp>
        <p:nvSpPr>
          <p:cNvPr id="200" name="TextBox 200"/>
          <p:cNvSpPr txBox="1"/>
          <p:nvPr/>
        </p:nvSpPr>
        <p:spPr>
          <a:xfrm>
            <a:off x="825500" y="1397000"/>
            <a:ext cx="105410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lang="ko-KR" sz="4200" dirty="0">
                <a:solidFill>
                  <a:srgbClr val="FFFFFF"/>
                </a:solidFill>
                <a:latin typeface="Noto Sans KR Light"/>
                <a:ea typeface="Noto Sans KR Light"/>
              </a:rPr>
              <a:t>언제까지 무엇을 끝내는가</a:t>
            </a:r>
          </a:p>
        </p:txBody>
      </p:sp>
      <p:sp>
        <p:nvSpPr>
          <p:cNvPr id="201" name="TextBox 201"/>
          <p:cNvSpPr txBox="1"/>
          <p:nvPr/>
        </p:nvSpPr>
        <p:spPr>
          <a:xfrm>
            <a:off x="825500" y="2387600"/>
            <a:ext cx="10541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45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9월 조사 · 설계  →  10월 모델 검증  →  11월 구현 · 통합  →  12월 평가 · 발표</a:t>
            </a:r>
          </a:p>
        </p:txBody>
      </p:sp>
      <p:cxnSp>
        <p:nvCxnSpPr>
          <p:cNvPr id="202" name="Connector 202"/>
          <p:cNvCxnSpPr/>
          <p:nvPr/>
        </p:nvCxnSpPr>
        <p:spPr>
          <a:xfrm>
            <a:off x="825500" y="2844800"/>
            <a:ext cx="105410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3"/>
          <p:cNvSpPr txBox="1"/>
          <p:nvPr/>
        </p:nvSpPr>
        <p:spPr>
          <a:xfrm>
            <a:off x="3276600" y="3022600"/>
            <a:ext cx="19304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400" dirty="0">
                <a:solidFill>
                  <a:srgbClr val="FFFFFF"/>
                </a:solidFill>
                <a:latin typeface="Noto Sans KR"/>
                <a:ea typeface="Noto Sans KR"/>
              </a:rPr>
              <a:t>9월</a:t>
            </a:r>
          </a:p>
        </p:txBody>
      </p:sp>
      <p:cxnSp>
        <p:nvCxnSpPr>
          <p:cNvPr id="204" name="Connector 204"/>
          <p:cNvCxnSpPr/>
          <p:nvPr/>
        </p:nvCxnSpPr>
        <p:spPr>
          <a:xfrm>
            <a:off x="3175000" y="3327400"/>
            <a:ext cx="0" cy="2489200"/>
          </a:xfrm>
          <a:prstGeom prst="line">
            <a:avLst/>
          </a:prstGeom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TextBox 205"/>
          <p:cNvSpPr txBox="1"/>
          <p:nvPr/>
        </p:nvSpPr>
        <p:spPr>
          <a:xfrm>
            <a:off x="5308600" y="3022600"/>
            <a:ext cx="19304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400" dirty="0">
                <a:solidFill>
                  <a:srgbClr val="FFFFFF"/>
                </a:solidFill>
                <a:latin typeface="Noto Sans KR"/>
                <a:ea typeface="Noto Sans KR"/>
              </a:rPr>
              <a:t>10월</a:t>
            </a:r>
          </a:p>
        </p:txBody>
      </p:sp>
      <p:cxnSp>
        <p:nvCxnSpPr>
          <p:cNvPr id="206" name="Connector 206"/>
          <p:cNvCxnSpPr/>
          <p:nvPr/>
        </p:nvCxnSpPr>
        <p:spPr>
          <a:xfrm>
            <a:off x="5207000" y="3327400"/>
            <a:ext cx="0" cy="2489200"/>
          </a:xfrm>
          <a:prstGeom prst="line">
            <a:avLst/>
          </a:prstGeom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TextBox 207"/>
          <p:cNvSpPr txBox="1"/>
          <p:nvPr/>
        </p:nvSpPr>
        <p:spPr>
          <a:xfrm>
            <a:off x="7340600" y="3022600"/>
            <a:ext cx="19304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400" dirty="0">
                <a:solidFill>
                  <a:srgbClr val="FFFFFF"/>
                </a:solidFill>
                <a:latin typeface="Noto Sans KR"/>
                <a:ea typeface="Noto Sans KR"/>
              </a:rPr>
              <a:t>11월</a:t>
            </a:r>
          </a:p>
        </p:txBody>
      </p:sp>
      <p:cxnSp>
        <p:nvCxnSpPr>
          <p:cNvPr id="208" name="Connector 208"/>
          <p:cNvCxnSpPr/>
          <p:nvPr/>
        </p:nvCxnSpPr>
        <p:spPr>
          <a:xfrm>
            <a:off x="7239000" y="3327400"/>
            <a:ext cx="0" cy="2489200"/>
          </a:xfrm>
          <a:prstGeom prst="line">
            <a:avLst/>
          </a:prstGeom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TextBox 209"/>
          <p:cNvSpPr txBox="1"/>
          <p:nvPr/>
        </p:nvSpPr>
        <p:spPr>
          <a:xfrm>
            <a:off x="9372600" y="3022600"/>
            <a:ext cx="19304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400" dirty="0">
                <a:solidFill>
                  <a:srgbClr val="FFFFFF"/>
                </a:solidFill>
                <a:latin typeface="Noto Sans KR"/>
                <a:ea typeface="Noto Sans KR"/>
              </a:rPr>
              <a:t>12월</a:t>
            </a:r>
          </a:p>
        </p:txBody>
      </p:sp>
      <p:cxnSp>
        <p:nvCxnSpPr>
          <p:cNvPr id="210" name="Connector 210"/>
          <p:cNvCxnSpPr/>
          <p:nvPr/>
        </p:nvCxnSpPr>
        <p:spPr>
          <a:xfrm>
            <a:off x="9271000" y="3327400"/>
            <a:ext cx="0" cy="2489200"/>
          </a:xfrm>
          <a:prstGeom prst="line">
            <a:avLst/>
          </a:prstGeom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1"/>
          <p:cNvCxnSpPr/>
          <p:nvPr/>
        </p:nvCxnSpPr>
        <p:spPr>
          <a:xfrm>
            <a:off x="11303000" y="3327400"/>
            <a:ext cx="0" cy="2489200"/>
          </a:xfrm>
          <a:prstGeom prst="line">
            <a:avLst/>
          </a:prstGeom>
          <a:ln w="9525">
            <a:solidFill>
              <a:srgbClr val="2A2A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TextBox 212"/>
          <p:cNvSpPr txBox="1"/>
          <p:nvPr/>
        </p:nvSpPr>
        <p:spPr>
          <a:xfrm>
            <a:off x="825500" y="3505200"/>
            <a:ext cx="22225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400" dirty="0">
                <a:solidFill>
                  <a:srgbClr val="FFFFFF"/>
                </a:solidFill>
                <a:latin typeface="Noto Sans KR DemiLight"/>
                <a:ea typeface="Noto Sans KR DemiLight"/>
              </a:rPr>
              <a:t>조사 · 설계</a:t>
            </a:r>
          </a:p>
        </p:txBody>
      </p:sp>
      <p:sp>
        <p:nvSpPr>
          <p:cNvPr id="213" name="Bar 213"/>
          <p:cNvSpPr/>
          <p:nvPr/>
        </p:nvSpPr>
        <p:spPr>
          <a:xfrm>
            <a:off x="3175000" y="3543300"/>
            <a:ext cx="2032000" cy="177800"/>
          </a:xfrm>
          <a:prstGeom prst="rect">
            <a:avLst/>
          </a:prstGeom>
          <a:solidFill>
            <a:srgbClr val="4A4A5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4" name="TextBox 214"/>
          <p:cNvSpPr txBox="1"/>
          <p:nvPr/>
        </p:nvSpPr>
        <p:spPr>
          <a:xfrm>
            <a:off x="825500" y="3987800"/>
            <a:ext cx="22225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400" dirty="0">
                <a:solidFill>
                  <a:srgbClr val="FFFFFF"/>
                </a:solidFill>
                <a:latin typeface="Noto Sans KR DemiLight"/>
                <a:ea typeface="Noto Sans KR DemiLight"/>
              </a:rPr>
              <a:t>모델 비교 실험</a:t>
            </a:r>
          </a:p>
        </p:txBody>
      </p:sp>
      <p:sp>
        <p:nvSpPr>
          <p:cNvPr id="215" name="Bar 215"/>
          <p:cNvSpPr/>
          <p:nvPr/>
        </p:nvSpPr>
        <p:spPr>
          <a:xfrm>
            <a:off x="4191000" y="4025900"/>
            <a:ext cx="3048000" cy="1778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6" name="TextBox 216"/>
          <p:cNvSpPr txBox="1"/>
          <p:nvPr/>
        </p:nvSpPr>
        <p:spPr>
          <a:xfrm>
            <a:off x="825500" y="4470400"/>
            <a:ext cx="22225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400" dirty="0">
                <a:solidFill>
                  <a:srgbClr val="FFFFFF"/>
                </a:solidFill>
                <a:latin typeface="Noto Sans KR DemiLight"/>
                <a:ea typeface="Noto Sans KR DemiLight"/>
              </a:rPr>
              <a:t>품질 개선</a:t>
            </a:r>
          </a:p>
        </p:txBody>
      </p:sp>
      <p:sp>
        <p:nvSpPr>
          <p:cNvPr id="217" name="Bar 217"/>
          <p:cNvSpPr/>
          <p:nvPr/>
        </p:nvSpPr>
        <p:spPr>
          <a:xfrm>
            <a:off x="6223000" y="4508500"/>
            <a:ext cx="2540000" cy="177800"/>
          </a:xfrm>
          <a:prstGeom prst="rect">
            <a:avLst/>
          </a:prstGeom>
          <a:solidFill>
            <a:srgbClr val="4A4A5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8" name="TextBox 218"/>
          <p:cNvSpPr txBox="1"/>
          <p:nvPr/>
        </p:nvSpPr>
        <p:spPr>
          <a:xfrm>
            <a:off x="825500" y="4953000"/>
            <a:ext cx="22225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400" dirty="0">
                <a:solidFill>
                  <a:srgbClr val="FFFFFF"/>
                </a:solidFill>
                <a:latin typeface="Noto Sans KR DemiLight"/>
                <a:ea typeface="Noto Sans KR DemiLight"/>
              </a:rPr>
              <a:t>사이즈 추천 구현</a:t>
            </a:r>
          </a:p>
        </p:txBody>
      </p:sp>
      <p:sp>
        <p:nvSpPr>
          <p:cNvPr id="219" name="Bar 219"/>
          <p:cNvSpPr/>
          <p:nvPr/>
        </p:nvSpPr>
        <p:spPr>
          <a:xfrm>
            <a:off x="7035800" y="4991100"/>
            <a:ext cx="2235200" cy="1778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0" name="TextBox 220"/>
          <p:cNvSpPr txBox="1"/>
          <p:nvPr/>
        </p:nvSpPr>
        <p:spPr>
          <a:xfrm>
            <a:off x="825500" y="5435600"/>
            <a:ext cx="22225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400" dirty="0">
                <a:solidFill>
                  <a:srgbClr val="FFFFFF"/>
                </a:solidFill>
                <a:latin typeface="Noto Sans KR DemiLight"/>
                <a:ea typeface="Noto Sans KR DemiLight"/>
              </a:rPr>
              <a:t>통합 · 평가 · 발표</a:t>
            </a:r>
          </a:p>
        </p:txBody>
      </p:sp>
      <p:sp>
        <p:nvSpPr>
          <p:cNvPr id="221" name="Bar 221"/>
          <p:cNvSpPr/>
          <p:nvPr/>
        </p:nvSpPr>
        <p:spPr>
          <a:xfrm>
            <a:off x="8255000" y="5473700"/>
            <a:ext cx="3048000" cy="177800"/>
          </a:xfrm>
          <a:prstGeom prst="rect">
            <a:avLst/>
          </a:prstGeom>
          <a:solidFill>
            <a:srgbClr val="4A4A50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643068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12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역할 분담</a:t>
            </a:r>
          </a:p>
        </p:txBody>
      </p:sp>
      <p:pic>
        <p:nvPicPr>
          <p:cNvPr id="19" name="Picture 18" descr="fitcheck_wordmark_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454335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13</a:t>
            </a:r>
          </a:p>
        </p:txBody>
      </p:sp>
      <p:sp>
        <p:nvSpPr>
          <p:cNvPr id="200" name="TextBox 200"/>
          <p:cNvSpPr txBox="1"/>
          <p:nvPr/>
        </p:nvSpPr>
        <p:spPr>
          <a:xfrm>
            <a:off x="825500" y="1397000"/>
            <a:ext cx="105410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lang="ko-KR" sz="4200" dirty="0">
                <a:solidFill>
                  <a:srgbClr val="FFFFFF"/>
                </a:solidFill>
                <a:latin typeface="Noto Sans KR Light"/>
                <a:ea typeface="Noto Sans KR Light"/>
              </a:rPr>
              <a:t>네 갈래로 나눠 동시에 진행한다</a:t>
            </a:r>
          </a:p>
        </p:txBody>
      </p:sp>
      <p:sp>
        <p:nvSpPr>
          <p:cNvPr id="201" name="TextBox 201"/>
          <p:cNvSpPr txBox="1"/>
          <p:nvPr/>
        </p:nvSpPr>
        <p:spPr>
          <a:xfrm>
            <a:off x="825500" y="2387600"/>
            <a:ext cx="10541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45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담당자는 팀 구성 확정 후 기입한다 · 품질 판정과 평가는 전원이 함께 참여한다</a:t>
            </a:r>
          </a:p>
        </p:txBody>
      </p:sp>
      <p:cxnSp>
        <p:nvCxnSpPr>
          <p:cNvPr id="202" name="Connector 202"/>
          <p:cNvCxnSpPr/>
          <p:nvPr/>
        </p:nvCxnSpPr>
        <p:spPr>
          <a:xfrm>
            <a:off x="825500" y="2844800"/>
            <a:ext cx="105410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TextBox 300"/>
          <p:cNvSpPr txBox="1"/>
          <p:nvPr/>
        </p:nvSpPr>
        <p:spPr>
          <a:xfrm>
            <a:off x="825500" y="3327400"/>
            <a:ext cx="24765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800" dirty="0">
                <a:solidFill>
                  <a:srgbClr val="FFFFFF"/>
                </a:solidFill>
                <a:latin typeface="Noto Sans KR"/>
                <a:ea typeface="Noto Sans KR"/>
              </a:rPr>
              <a:t>AI 합성</a:t>
            </a:r>
          </a:p>
        </p:txBody>
      </p:sp>
      <p:sp>
        <p:nvSpPr>
          <p:cNvPr id="301" name="TextBox 301"/>
          <p:cNvSpPr txBox="1"/>
          <p:nvPr/>
        </p:nvSpPr>
        <p:spPr>
          <a:xfrm>
            <a:off x="825500" y="3759200"/>
            <a:ext cx="24765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400" dirty="0">
                <a:solidFill>
                  <a:srgbClr val="00B050"/>
                </a:solidFill>
                <a:latin typeface="Noto Sans KR DemiLight"/>
                <a:ea typeface="Noto Sans KR DemiLight"/>
              </a:rPr>
              <a:t>담당  [            ]</a:t>
            </a:r>
          </a:p>
        </p:txBody>
      </p:sp>
      <p:sp>
        <p:nvSpPr>
          <p:cNvPr id="302" name="TextBox 302"/>
          <p:cNvSpPr txBox="1"/>
          <p:nvPr/>
        </p:nvSpPr>
        <p:spPr>
          <a:xfrm>
            <a:off x="825500" y="4216400"/>
            <a:ext cx="2476500" cy="10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ko-KR" sz="14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· 모델 비교 실험</a:t>
            </a:r>
          </a:p>
          <a:p>
            <a:pPr algn="l">
              <a:lnSpc>
                <a:spcPct val="150000"/>
              </a:lnSpc>
            </a:pPr>
            <a:r>
              <a:rPr lang="ko-KR" sz="14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· 품질 개선 실험</a:t>
            </a:r>
          </a:p>
          <a:p>
            <a:pPr algn="l">
              <a:lnSpc>
                <a:spcPct val="150000"/>
              </a:lnSpc>
            </a:pPr>
            <a:r>
              <a:rPr lang="ko-KR" sz="14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· 앱 적용 설정 확정</a:t>
            </a:r>
          </a:p>
        </p:txBody>
      </p:sp>
      <p:sp>
        <p:nvSpPr>
          <p:cNvPr id="303" name="TextBox 303"/>
          <p:cNvSpPr txBox="1"/>
          <p:nvPr/>
        </p:nvSpPr>
        <p:spPr>
          <a:xfrm>
            <a:off x="825500" y="5207000"/>
            <a:ext cx="24765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400" dirty="0">
                <a:solidFill>
                  <a:srgbClr val="98989E"/>
                </a:solidFill>
                <a:latin typeface="Noto Sans KR"/>
                <a:ea typeface="Noto Sans KR"/>
              </a:rPr>
              <a:t>산출물 — 모델 선정 근거</a:t>
            </a:r>
          </a:p>
        </p:txBody>
      </p:sp>
      <p:sp>
        <p:nvSpPr>
          <p:cNvPr id="304" name="TextBox 304"/>
          <p:cNvSpPr txBox="1"/>
          <p:nvPr/>
        </p:nvSpPr>
        <p:spPr>
          <a:xfrm>
            <a:off x="3492500" y="3327400"/>
            <a:ext cx="24765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800" dirty="0">
                <a:solidFill>
                  <a:srgbClr val="FFFFFF"/>
                </a:solidFill>
                <a:latin typeface="Noto Sans KR"/>
                <a:ea typeface="Noto Sans KR"/>
              </a:rPr>
              <a:t>사이즈 추천</a:t>
            </a:r>
          </a:p>
        </p:txBody>
      </p:sp>
      <p:sp>
        <p:nvSpPr>
          <p:cNvPr id="305" name="TextBox 305"/>
          <p:cNvSpPr txBox="1"/>
          <p:nvPr/>
        </p:nvSpPr>
        <p:spPr>
          <a:xfrm>
            <a:off x="3492500" y="3759200"/>
            <a:ext cx="24765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400" dirty="0">
                <a:solidFill>
                  <a:srgbClr val="00B050"/>
                </a:solidFill>
                <a:latin typeface="Noto Sans KR DemiLight"/>
                <a:ea typeface="Noto Sans KR DemiLight"/>
              </a:rPr>
              <a:t>담당  [            ]</a:t>
            </a:r>
          </a:p>
        </p:txBody>
      </p:sp>
      <p:sp>
        <p:nvSpPr>
          <p:cNvPr id="306" name="TextBox 306"/>
          <p:cNvSpPr txBox="1"/>
          <p:nvPr/>
        </p:nvSpPr>
        <p:spPr>
          <a:xfrm>
            <a:off x="3492500" y="4216400"/>
            <a:ext cx="2476500" cy="10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ko-KR" sz="14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· 치수표 수집 · 정리</a:t>
            </a:r>
          </a:p>
          <a:p>
            <a:pPr algn="l">
              <a:lnSpc>
                <a:spcPct val="150000"/>
              </a:lnSpc>
            </a:pPr>
            <a:r>
              <a:rPr lang="ko-KR" sz="14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· 여유분 계산 로직</a:t>
            </a:r>
          </a:p>
          <a:p>
            <a:pPr algn="l">
              <a:lnSpc>
                <a:spcPct val="150000"/>
              </a:lnSpc>
            </a:pPr>
            <a:r>
              <a:rPr lang="ko-KR" sz="14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· 추천 규칙 설계</a:t>
            </a:r>
          </a:p>
        </p:txBody>
      </p:sp>
      <p:sp>
        <p:nvSpPr>
          <p:cNvPr id="307" name="TextBox 307"/>
          <p:cNvSpPr txBox="1"/>
          <p:nvPr/>
        </p:nvSpPr>
        <p:spPr>
          <a:xfrm>
            <a:off x="3492500" y="5207000"/>
            <a:ext cx="24765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400" dirty="0">
                <a:solidFill>
                  <a:srgbClr val="98989E"/>
                </a:solidFill>
                <a:latin typeface="Noto Sans KR"/>
                <a:ea typeface="Noto Sans KR"/>
              </a:rPr>
              <a:t>산출물 — 추천 규칙 문서</a:t>
            </a:r>
          </a:p>
        </p:txBody>
      </p:sp>
      <p:sp>
        <p:nvSpPr>
          <p:cNvPr id="308" name="TextBox 308"/>
          <p:cNvSpPr txBox="1"/>
          <p:nvPr/>
        </p:nvSpPr>
        <p:spPr>
          <a:xfrm>
            <a:off x="6159500" y="3327400"/>
            <a:ext cx="24765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800" dirty="0">
                <a:solidFill>
                  <a:srgbClr val="FFFFFF"/>
                </a:solidFill>
                <a:latin typeface="Noto Sans KR"/>
                <a:ea typeface="Noto Sans KR"/>
              </a:rPr>
              <a:t>앱 개발</a:t>
            </a:r>
          </a:p>
        </p:txBody>
      </p:sp>
      <p:sp>
        <p:nvSpPr>
          <p:cNvPr id="309" name="TextBox 309"/>
          <p:cNvSpPr txBox="1"/>
          <p:nvPr/>
        </p:nvSpPr>
        <p:spPr>
          <a:xfrm>
            <a:off x="6159500" y="3759200"/>
            <a:ext cx="24765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400" dirty="0">
                <a:solidFill>
                  <a:srgbClr val="00B050"/>
                </a:solidFill>
                <a:latin typeface="Noto Sans KR DemiLight"/>
                <a:ea typeface="Noto Sans KR DemiLight"/>
              </a:rPr>
              <a:t>담당  [            ]</a:t>
            </a:r>
          </a:p>
        </p:txBody>
      </p:sp>
      <p:sp>
        <p:nvSpPr>
          <p:cNvPr id="310" name="TextBox 310"/>
          <p:cNvSpPr txBox="1"/>
          <p:nvPr/>
        </p:nvSpPr>
        <p:spPr>
          <a:xfrm>
            <a:off x="6159500" y="4216400"/>
            <a:ext cx="2476500" cy="10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ko-KR" sz="14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· 화면 설계 · 구현</a:t>
            </a:r>
          </a:p>
          <a:p>
            <a:pPr algn="l">
              <a:lnSpc>
                <a:spcPct val="150000"/>
              </a:lnSpc>
            </a:pPr>
            <a:r>
              <a:rPr lang="ko-KR" sz="14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· 두 기능 통합</a:t>
            </a:r>
          </a:p>
          <a:p>
            <a:pPr algn="l">
              <a:lnSpc>
                <a:spcPct val="150000"/>
              </a:lnSpc>
            </a:pPr>
            <a:r>
              <a:rPr lang="ko-KR" sz="14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· 결과 비교 화면</a:t>
            </a:r>
          </a:p>
        </p:txBody>
      </p:sp>
      <p:sp>
        <p:nvSpPr>
          <p:cNvPr id="311" name="TextBox 311"/>
          <p:cNvSpPr txBox="1"/>
          <p:nvPr/>
        </p:nvSpPr>
        <p:spPr>
          <a:xfrm>
            <a:off x="6159500" y="5207000"/>
            <a:ext cx="24765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400" dirty="0">
                <a:solidFill>
                  <a:srgbClr val="98989E"/>
                </a:solidFill>
                <a:latin typeface="Noto Sans KR"/>
                <a:ea typeface="Noto Sans KR"/>
              </a:rPr>
              <a:t>산출물 — 프로토타입 앱</a:t>
            </a:r>
          </a:p>
        </p:txBody>
      </p:sp>
      <p:sp>
        <p:nvSpPr>
          <p:cNvPr id="312" name="TextBox 312"/>
          <p:cNvSpPr txBox="1"/>
          <p:nvPr/>
        </p:nvSpPr>
        <p:spPr>
          <a:xfrm>
            <a:off x="8826500" y="3327400"/>
            <a:ext cx="24765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800" dirty="0">
                <a:solidFill>
                  <a:srgbClr val="FFFFFF"/>
                </a:solidFill>
                <a:latin typeface="Noto Sans KR"/>
                <a:ea typeface="Noto Sans KR"/>
              </a:rPr>
              <a:t>데이터 · 평가</a:t>
            </a:r>
          </a:p>
        </p:txBody>
      </p:sp>
      <p:sp>
        <p:nvSpPr>
          <p:cNvPr id="313" name="TextBox 313"/>
          <p:cNvSpPr txBox="1"/>
          <p:nvPr/>
        </p:nvSpPr>
        <p:spPr>
          <a:xfrm>
            <a:off x="8826500" y="3759200"/>
            <a:ext cx="24765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400" dirty="0">
                <a:solidFill>
                  <a:srgbClr val="00B050"/>
                </a:solidFill>
                <a:latin typeface="Noto Sans KR DemiLight"/>
                <a:ea typeface="Noto Sans KR DemiLight"/>
              </a:rPr>
              <a:t>담당  [            ]</a:t>
            </a:r>
          </a:p>
        </p:txBody>
      </p:sp>
      <p:sp>
        <p:nvSpPr>
          <p:cNvPr id="314" name="TextBox 314"/>
          <p:cNvSpPr txBox="1"/>
          <p:nvPr/>
        </p:nvSpPr>
        <p:spPr>
          <a:xfrm>
            <a:off x="8826500" y="4216400"/>
            <a:ext cx="2476500" cy="10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ko-KR" sz="14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· 테스트 사진 · 옷 수집</a:t>
            </a:r>
          </a:p>
          <a:p>
            <a:pPr algn="l">
              <a:lnSpc>
                <a:spcPct val="150000"/>
              </a:lnSpc>
            </a:pPr>
            <a:r>
              <a:rPr lang="ko-KR" sz="14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· 품질 판정 진행</a:t>
            </a:r>
          </a:p>
          <a:p>
            <a:pPr algn="l">
              <a:lnSpc>
                <a:spcPct val="150000"/>
              </a:lnSpc>
            </a:pPr>
            <a:r>
              <a:rPr lang="ko-KR" sz="140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· 사용성 평가 설계</a:t>
            </a:r>
          </a:p>
        </p:txBody>
      </p:sp>
      <p:sp>
        <p:nvSpPr>
          <p:cNvPr id="315" name="TextBox 315"/>
          <p:cNvSpPr txBox="1"/>
          <p:nvPr/>
        </p:nvSpPr>
        <p:spPr>
          <a:xfrm>
            <a:off x="8826500" y="5207000"/>
            <a:ext cx="24765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sz="1400" dirty="0">
                <a:solidFill>
                  <a:srgbClr val="98989E"/>
                </a:solidFill>
                <a:latin typeface="Noto Sans KR"/>
                <a:ea typeface="Noto Sans KR"/>
              </a:rPr>
              <a:t>산출물 — 평가 결과 보고</a:t>
            </a:r>
          </a:p>
        </p:txBody>
      </p:sp>
    </p:spTree>
    <p:extLst>
      <p:ext uri="{BB962C8B-B14F-4D97-AF65-F5344CB8AC3E}">
        <p14:creationId xmlns:p14="http://schemas.microsoft.com/office/powerpoint/2010/main" val="39288890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606040"/>
            <a:ext cx="1054577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>
                <a:solidFill>
                  <a:srgbClr val="FFFFFF"/>
                </a:solidFill>
                <a:latin typeface="Noto Sans KR Light"/>
                <a:ea typeface="Noto Sans KR Light"/>
              </a:rPr>
              <a:t>감사합니다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611880"/>
            <a:ext cx="105457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spc="120">
                <a:solidFill>
                  <a:srgbClr val="98989E"/>
                </a:solidFill>
                <a:latin typeface="Noto Sans KR DemiLight"/>
                <a:ea typeface="Noto Sans KR DemiLight"/>
              </a:rPr>
              <a:t>Q  &amp;  A</a:t>
            </a:r>
          </a:p>
        </p:txBody>
      </p:sp>
      <p:pic>
        <p:nvPicPr>
          <p:cNvPr id="4" name="Picture 3" descr="fitcheck_lockup_v_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4364" y="4617720"/>
            <a:ext cx="1022966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>
                <a:solidFill>
                  <a:srgbClr val="98989E"/>
                </a:solidFill>
                <a:latin typeface="Noto Sans KR Medium"/>
                <a:ea typeface="Noto Sans KR Medium"/>
              </a:rPr>
              <a:t>APPENDIX  ·  참고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5A5A5E"/>
                </a:solidFill>
                <a:latin typeface="Noto Sans KR Medium"/>
                <a:ea typeface="Noto Sans KR Medium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325880"/>
            <a:ext cx="10042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dirty="0" err="1">
                <a:solidFill>
                  <a:srgbClr val="FFFFFF"/>
                </a:solidFill>
                <a:latin typeface="Noto Sans KR"/>
                <a:ea typeface="Noto Sans KR"/>
              </a:rPr>
              <a:t>국내</a:t>
            </a:r>
            <a:r>
              <a:rPr sz="1300" dirty="0">
                <a:solidFill>
                  <a:srgbClr val="FFFFFF"/>
                </a:solidFill>
                <a:latin typeface="Noto Sans KR"/>
                <a:ea typeface="Noto Sans KR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Noto Sans KR"/>
                <a:ea typeface="Noto Sans KR"/>
              </a:rPr>
              <a:t>온라인</a:t>
            </a:r>
            <a:r>
              <a:rPr sz="1300" dirty="0">
                <a:solidFill>
                  <a:srgbClr val="FFFFFF"/>
                </a:solidFill>
                <a:latin typeface="Noto Sans KR"/>
                <a:ea typeface="Noto Sans KR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Noto Sans KR"/>
                <a:ea typeface="Noto Sans KR"/>
              </a:rPr>
              <a:t>패션</a:t>
            </a:r>
            <a:r>
              <a:rPr sz="1300" dirty="0">
                <a:solidFill>
                  <a:srgbClr val="FFFFFF"/>
                </a:solidFill>
                <a:latin typeface="Noto Sans KR"/>
                <a:ea typeface="Noto Sans KR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Noto Sans KR"/>
                <a:ea typeface="Noto Sans KR"/>
              </a:rPr>
              <a:t>거래액</a:t>
            </a:r>
            <a:r>
              <a:rPr sz="1300" dirty="0">
                <a:solidFill>
                  <a:srgbClr val="FFFFFF"/>
                </a:solidFill>
                <a:latin typeface="Noto Sans KR"/>
                <a:ea typeface="Noto Sans KR"/>
              </a:rPr>
              <a:t> 58조 3,060억 원 (2025년)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591056"/>
            <a:ext cx="100428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국가데이터처</a:t>
            </a:r>
            <a:r>
              <a:rPr sz="105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(옛 </a:t>
            </a:r>
            <a:r>
              <a:rPr sz="105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통계청</a:t>
            </a:r>
            <a:r>
              <a:rPr sz="105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), </a:t>
            </a:r>
            <a:r>
              <a:rPr sz="105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온라인쇼핑동향조사</a:t>
            </a:r>
            <a:r>
              <a:rPr sz="105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— </a:t>
            </a:r>
            <a:r>
              <a:rPr sz="105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파이낸셜뉴스</a:t>
            </a:r>
            <a:r>
              <a:rPr sz="105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2026. 9. 6. </a:t>
            </a:r>
            <a:r>
              <a:rPr sz="105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보도</a:t>
            </a:r>
            <a:r>
              <a:rPr sz="1050" dirty="0">
                <a:solidFill>
                  <a:srgbClr val="98989E"/>
                </a:solidFill>
                <a:latin typeface="Noto Sans KR DemiLight"/>
                <a:ea typeface="Noto Sans KR DemiLight"/>
              </a:rPr>
              <a:t> </a:t>
            </a:r>
            <a:r>
              <a:rPr sz="1050" dirty="0" err="1">
                <a:solidFill>
                  <a:srgbClr val="98989E"/>
                </a:solidFill>
                <a:latin typeface="Noto Sans KR DemiLight"/>
                <a:ea typeface="Noto Sans KR DemiLight"/>
              </a:rPr>
              <a:t>인용</a:t>
            </a:r>
            <a:r>
              <a:rPr sz="1000" dirty="0">
                <a:solidFill>
                  <a:srgbClr val="5A5A5E"/>
                </a:solidFill>
                <a:latin typeface="Noto Sans KR"/>
                <a:ea typeface="Noto Sans KR"/>
              </a:rPr>
              <a:t>   fnnews.com/news/202609061200229124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7568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5A5A5E"/>
                </a:solidFill>
                <a:latin typeface="Noto Sans KR Medium"/>
                <a:ea typeface="Noto Sans KR Medium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075688"/>
            <a:ext cx="10042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dirty="0" err="1">
                <a:solidFill>
                  <a:srgbClr val="FFFFFF"/>
                </a:solidFill>
                <a:latin typeface="Noto Sans KR"/>
                <a:ea typeface="Noto Sans KR"/>
              </a:rPr>
              <a:t>패션</a:t>
            </a:r>
            <a:r>
              <a:rPr sz="1300" dirty="0">
                <a:solidFill>
                  <a:srgbClr val="FFFFFF"/>
                </a:solidFill>
                <a:latin typeface="Noto Sans KR"/>
                <a:ea typeface="Noto Sans KR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Noto Sans KR"/>
                <a:ea typeface="Noto Sans KR"/>
              </a:rPr>
              <a:t>평균</a:t>
            </a:r>
            <a:r>
              <a:rPr sz="1300" dirty="0">
                <a:solidFill>
                  <a:srgbClr val="FFFFFF"/>
                </a:solidFill>
                <a:latin typeface="Noto Sans KR"/>
                <a:ea typeface="Noto Sans KR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Noto Sans KR"/>
                <a:ea typeface="Noto Sans KR"/>
              </a:rPr>
              <a:t>반품률</a:t>
            </a:r>
            <a:r>
              <a:rPr sz="1300" dirty="0">
                <a:solidFill>
                  <a:srgbClr val="FFFFFF"/>
                </a:solidFill>
                <a:latin typeface="Noto Sans KR"/>
                <a:ea typeface="Noto Sans KR"/>
              </a:rPr>
              <a:t> 약 30%, </a:t>
            </a:r>
            <a:r>
              <a:rPr sz="1300" dirty="0" err="1">
                <a:solidFill>
                  <a:srgbClr val="FFFFFF"/>
                </a:solidFill>
                <a:latin typeface="Noto Sans KR"/>
                <a:ea typeface="Noto Sans KR"/>
              </a:rPr>
              <a:t>온라인</a:t>
            </a:r>
            <a:r>
              <a:rPr sz="1300" dirty="0">
                <a:solidFill>
                  <a:srgbClr val="FFFFFF"/>
                </a:solidFill>
                <a:latin typeface="Noto Sans KR"/>
                <a:ea typeface="Noto Sans KR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Noto Sans KR"/>
                <a:ea typeface="Noto Sans KR"/>
              </a:rPr>
              <a:t>반품률은</a:t>
            </a:r>
            <a:r>
              <a:rPr sz="1300" dirty="0">
                <a:solidFill>
                  <a:srgbClr val="FFFFFF"/>
                </a:solidFill>
                <a:latin typeface="Noto Sans KR"/>
                <a:ea typeface="Noto Sans KR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Noto Sans KR"/>
                <a:ea typeface="Noto Sans KR"/>
              </a:rPr>
              <a:t>오프라인의</a:t>
            </a:r>
            <a:r>
              <a:rPr sz="1300" dirty="0">
                <a:solidFill>
                  <a:srgbClr val="FFFFFF"/>
                </a:solidFill>
                <a:latin typeface="Noto Sans KR"/>
                <a:ea typeface="Noto Sans KR"/>
              </a:rPr>
              <a:t> 3배 </a:t>
            </a:r>
            <a:r>
              <a:rPr sz="1300" dirty="0" err="1">
                <a:solidFill>
                  <a:srgbClr val="FFFFFF"/>
                </a:solidFill>
                <a:latin typeface="Noto Sans KR"/>
                <a:ea typeface="Noto Sans KR"/>
              </a:rPr>
              <a:t>이상</a:t>
            </a:r>
            <a:r>
              <a:rPr sz="1300" dirty="0">
                <a:solidFill>
                  <a:srgbClr val="FFFFFF"/>
                </a:solidFill>
                <a:latin typeface="Noto Sans KR"/>
                <a:ea typeface="Noto Sans KR"/>
              </a:rPr>
              <a:t> · </a:t>
            </a:r>
            <a:r>
              <a:rPr sz="1300" dirty="0" err="1">
                <a:solidFill>
                  <a:srgbClr val="FFFFFF"/>
                </a:solidFill>
                <a:latin typeface="Noto Sans KR"/>
                <a:ea typeface="Noto Sans KR"/>
              </a:rPr>
              <a:t>사이즈·핏·색상</a:t>
            </a:r>
            <a:r>
              <a:rPr sz="1300" dirty="0">
                <a:solidFill>
                  <a:srgbClr val="FFFFFF"/>
                </a:solidFill>
                <a:latin typeface="Noto Sans KR"/>
                <a:ea typeface="Noto Sans KR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Noto Sans KR"/>
                <a:ea typeface="Noto Sans KR"/>
              </a:rPr>
              <a:t>문제로</a:t>
            </a:r>
            <a:r>
              <a:rPr sz="1300" dirty="0">
                <a:solidFill>
                  <a:srgbClr val="FFFFFF"/>
                </a:solidFill>
                <a:latin typeface="Noto Sans KR"/>
                <a:ea typeface="Noto Sans KR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Noto Sans KR"/>
                <a:ea typeface="Noto Sans KR"/>
              </a:rPr>
              <a:t>인한</a:t>
            </a:r>
            <a:r>
              <a:rPr sz="1300" dirty="0">
                <a:solidFill>
                  <a:srgbClr val="FFFFFF"/>
                </a:solidFill>
                <a:latin typeface="Noto Sans KR"/>
                <a:ea typeface="Noto Sans KR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Noto Sans KR"/>
                <a:ea typeface="Noto Sans KR"/>
              </a:rPr>
              <a:t>반품</a:t>
            </a:r>
            <a:r>
              <a:rPr sz="1300" dirty="0">
                <a:solidFill>
                  <a:srgbClr val="FFFFFF"/>
                </a:solidFill>
                <a:latin typeface="Noto Sans KR"/>
                <a:ea typeface="Noto Sans KR"/>
              </a:rPr>
              <a:t> 45% (</a:t>
            </a:r>
            <a:r>
              <a:rPr sz="1300" dirty="0" err="1">
                <a:solidFill>
                  <a:srgbClr val="FFFFFF"/>
                </a:solidFill>
                <a:latin typeface="Noto Sans KR"/>
                <a:ea typeface="Noto Sans KR"/>
              </a:rPr>
              <a:t>Narvar</a:t>
            </a:r>
            <a:r>
              <a:rPr sz="1300" dirty="0">
                <a:solidFill>
                  <a:srgbClr val="FFFFFF"/>
                </a:solidFill>
                <a:latin typeface="Noto Sans KR"/>
                <a:ea typeface="Noto Sans KR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Noto Sans KR"/>
                <a:ea typeface="Noto Sans KR"/>
              </a:rPr>
              <a:t>소비자</a:t>
            </a:r>
            <a:r>
              <a:rPr sz="1300" dirty="0">
                <a:solidFill>
                  <a:srgbClr val="FFFFFF"/>
                </a:solidFill>
                <a:latin typeface="Noto Sans KR"/>
                <a:ea typeface="Noto Sans KR"/>
              </a:rPr>
              <a:t> </a:t>
            </a:r>
            <a:r>
              <a:rPr sz="1300" dirty="0" err="1">
                <a:solidFill>
                  <a:srgbClr val="FFFFFF"/>
                </a:solidFill>
                <a:latin typeface="Noto Sans KR"/>
                <a:ea typeface="Noto Sans KR"/>
              </a:rPr>
              <a:t>조사</a:t>
            </a:r>
            <a:r>
              <a:rPr sz="1300" dirty="0">
                <a:solidFill>
                  <a:srgbClr val="FFFFFF"/>
                </a:solidFill>
                <a:latin typeface="Noto Sans KR"/>
                <a:ea typeface="Noto Sans KR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340864"/>
            <a:ext cx="100428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>
                <a:solidFill>
                  <a:srgbClr val="98989E"/>
                </a:solidFill>
                <a:latin typeface="Noto Sans KR DemiLight"/>
                <a:ea typeface="Noto Sans KR DemiLight"/>
              </a:rPr>
              <a:t>물류신문, "성장하는 패션 물류 시장, 경쟁 키워드 '반품'" (2024)</a:t>
            </a:r>
            <a:r>
              <a:rPr sz="1000">
                <a:solidFill>
                  <a:srgbClr val="5A5A5E"/>
                </a:solidFill>
                <a:latin typeface="Noto Sans KR"/>
                <a:ea typeface="Noto Sans KR"/>
              </a:rPr>
              <a:t>   klnews.co.kr/news/articleView.html?idxno=312851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25496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5A5A5E"/>
                </a:solidFill>
                <a:latin typeface="Noto Sans KR Medium"/>
                <a:ea typeface="Noto Sans KR Medium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825496"/>
            <a:ext cx="10042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FFFFFF"/>
                </a:solidFill>
                <a:latin typeface="Noto Sans KR"/>
                <a:ea typeface="Noto Sans KR"/>
              </a:rPr>
              <a:t>의류 판매자의 53%가 사이즈·핏을 반품 사유 1순위로 지목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090672"/>
            <a:ext cx="100428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>
                <a:solidFill>
                  <a:srgbClr val="98989E"/>
                </a:solidFill>
                <a:latin typeface="Noto Sans KR DemiLight"/>
                <a:ea typeface="Noto Sans KR DemiLight"/>
              </a:rPr>
              <a:t>Coresight Research (2023) — 업계 보고서 2차 인용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75304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5A5A5E"/>
                </a:solidFill>
                <a:latin typeface="Noto Sans KR Medium"/>
                <a:ea typeface="Noto Sans KR Medium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575304"/>
            <a:ext cx="10042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FFFFFF"/>
                </a:solidFill>
                <a:latin typeface="Noto Sans KR"/>
                <a:ea typeface="Noto Sans KR"/>
              </a:rPr>
              <a:t>화면 속 사이즈와 실제 치수의 차이가 주요 반품 사유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840480"/>
            <a:ext cx="100428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>
                <a:solidFill>
                  <a:srgbClr val="98989E"/>
                </a:solidFill>
                <a:latin typeface="Noto Sans KR DemiLight"/>
                <a:ea typeface="Noto Sans KR DemiLight"/>
              </a:rPr>
              <a:t>김지수 · 나영주 (2020). 패션 온라인 쇼핑몰 유형에 따른 반품이유와 반품물류서비스 만족도. 감성과학, 23(1), 3–16.</a:t>
            </a:r>
            <a:r>
              <a:rPr sz="1000">
                <a:solidFill>
                  <a:srgbClr val="5A5A5E"/>
                </a:solidFill>
                <a:latin typeface="Noto Sans KR"/>
                <a:ea typeface="Noto Sans KR"/>
              </a:rPr>
              <a:t>   scienceon.kisti.re.kr  (JAKO202022663815694)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325112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5A5A5E"/>
                </a:solidFill>
                <a:latin typeface="Noto Sans KR Medium"/>
                <a:ea typeface="Noto Sans KR Medium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325112"/>
            <a:ext cx="10042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FFFFFF"/>
                </a:solidFill>
                <a:latin typeface="Noto Sans KR"/>
                <a:ea typeface="Noto Sans KR"/>
              </a:rPr>
              <a:t>온라인 판매의 19.3%가 반품될 것으로 전망 (2025년, 전 품목)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590288"/>
            <a:ext cx="100428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>
                <a:solidFill>
                  <a:srgbClr val="98989E"/>
                </a:solidFill>
                <a:latin typeface="Noto Sans KR DemiLight"/>
                <a:ea typeface="Noto Sans KR DemiLight"/>
              </a:rPr>
              <a:t>National Retail Federation (NRF), 2025 Retail Returns Landscape</a:t>
            </a:r>
            <a:r>
              <a:rPr sz="1000">
                <a:solidFill>
                  <a:srgbClr val="5A5A5E"/>
                </a:solidFill>
                <a:latin typeface="Noto Sans KR"/>
                <a:ea typeface="Noto Sans KR"/>
              </a:rPr>
              <a:t>   nrf.com/research/2025-retail-returns-landscape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7492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5A5A5E"/>
                </a:solidFill>
                <a:latin typeface="Noto Sans KR Medium"/>
                <a:ea typeface="Noto Sans KR Medium"/>
              </a:rP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5074920"/>
            <a:ext cx="10042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FFFFFF"/>
                </a:solidFill>
                <a:latin typeface="Noto Sans KR"/>
                <a:ea typeface="Noto Sans KR"/>
              </a:rPr>
              <a:t>가상 피팅 구현에 활용할 diffusion 기반 모델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5340096"/>
            <a:ext cx="100428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>
                <a:solidFill>
                  <a:srgbClr val="98989E"/>
                </a:solidFill>
                <a:latin typeface="Noto Sans KR DemiLight"/>
                <a:ea typeface="Noto Sans KR DemiLight"/>
              </a:rPr>
              <a:t>Chong, Z. et al. (2024). CatVTON: Concatenation Is All You Need for Virtual Try-On with Diffusion Models. arXiv:2407.15886</a:t>
            </a:r>
            <a:r>
              <a:rPr sz="1000">
                <a:solidFill>
                  <a:srgbClr val="5A5A5E"/>
                </a:solidFill>
                <a:latin typeface="Noto Sans KR"/>
                <a:ea typeface="Noto Sans KR"/>
              </a:rPr>
              <a:t>   arxiv.org/abs/2407.15886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5843016"/>
            <a:ext cx="10042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5A5A5E"/>
                </a:solidFill>
                <a:latin typeface="Noto Sans KR DemiLight"/>
                <a:ea typeface="Noto Sans KR DemiLight"/>
              </a:rPr>
              <a:t>구현 화면 이미지는 팀이 직접 제작한 UI 목업이다.</a:t>
            </a:r>
          </a:p>
        </p:txBody>
      </p:sp>
      <p:pic>
        <p:nvPicPr>
          <p:cNvPr id="22" name="Picture 21" descr="fitcheck_wordmark_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454335" y="61722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608FFED-AD44-407F-B8CE-97CA0A24AB84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336ac5d0-7eb1-49fc-96c5-e3fe69b01eb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2499</Words>
  <Application>Microsoft Office PowerPoint</Application>
  <PresentationFormat>와이드스크린</PresentationFormat>
  <Paragraphs>357</Paragraphs>
  <Slides>17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4" baseType="lpstr">
      <vt:lpstr>Noto Sans KR</vt:lpstr>
      <vt:lpstr>Noto Sans KR DemiLight</vt:lpstr>
      <vt:lpstr>Noto Sans KR Light</vt:lpstr>
      <vt:lpstr>Noto Sans KR Medium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정지훈</cp:lastModifiedBy>
  <cp:revision>32</cp:revision>
  <dcterms:created xsi:type="dcterms:W3CDTF">2013-01-27T09:14:16Z</dcterms:created>
  <dcterms:modified xsi:type="dcterms:W3CDTF">2026-09-13T17:07:32Z</dcterms:modified>
  <cp:category/>
</cp:coreProperties>
</file>