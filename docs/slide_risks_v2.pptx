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50초]</a:t>
            </a:r>
          </a:p>
          <a:p/>
          <a:p>
            <a:r>
              <a:t>마지막으로 예상되는 어려움과 대응입니다.</a:t>
            </a:r>
          </a:p>
          <a:p/>
          <a:p>
            <a:r>
              <a:t>첫째, AI 합성은 같은 사진으로도 결과가 매번 달라서, 여러 장을 만들어 가장 자연스러운 한 장을 고르게 합니다. 둘째, 사용자 사진은 자세나 배경이 제각각이라 촬영 가이드를 주고 맞지 않는 사진은 다시 찍도록 안내합니다.</a:t>
            </a:r>
          </a:p>
          <a:p/>
          <a:p>
            <a:r>
              <a:t>셋째, 쇼핑몰마다 치수표 형식이 다릅니다. 치수표는 캡처하면 AI가 읽어서 정리하는데, 처음 보는 형식이 나오면 그 예외 규칙을 시스템 프롬프트에 추가하는 방식으로 대응합니다.</a:t>
            </a:r>
          </a:p>
          <a:p/>
          <a:p>
            <a:r>
              <a:t>넷째, 생성 시간이 오래 걸리지만 품질을 우선하고, 기다리는 동안 사이즈 추천을 먼저 보여 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우려되는 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>
                <a:solidFill>
                  <a:srgbClr val="FFFFFF"/>
                </a:solidFill>
                <a:latin typeface="Noto Sans KR Light"/>
                <a:ea typeface="Noto Sans KR Light"/>
              </a:rPr>
              <a:t>예상되는 어려움과 대응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5135728" cy="1783080"/>
          </a:xfrm>
          <a:prstGeom prst="roundRect">
            <a:avLst>
              <a:gd name="adj" fmla="val 6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40487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98989E"/>
                </a:solidFill>
                <a:latin typeface="Noto Sans KR Medium"/>
                <a:ea typeface="Noto Sans KR Medium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368296"/>
            <a:ext cx="4038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결과가 매번 조금씩 달라진다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07208"/>
            <a:ext cx="44956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AI 합성은 같은 사진으로도 실행할 때마다 결과가 다르다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461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30D158"/>
                </a:solidFill>
                <a:latin typeface="Noto Sans KR Medium"/>
                <a:ea typeface="Noto Sans KR Medium"/>
              </a:rPr>
              <a:t>대응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236976"/>
            <a:ext cx="39470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Noto Sans KR"/>
                <a:ea typeface="Noto Sans KR"/>
              </a:rPr>
              <a:t>여러 장을 만들어 가장 자연스러운 한 장을 고르게 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8" y="2148840"/>
            <a:ext cx="5135728" cy="1783080"/>
          </a:xfrm>
          <a:prstGeom prst="roundRect">
            <a:avLst>
              <a:gd name="adj" fmla="val 6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3048" y="240487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98989E"/>
                </a:solidFill>
                <a:latin typeface="Noto Sans KR Medium"/>
                <a:ea typeface="Noto Sans KR Medium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0248" y="2368296"/>
            <a:ext cx="4038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사용자 사진이 제각각이다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8" y="2807208"/>
            <a:ext cx="44956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자세 · 배경 · 조명에 따라 결과가 어색해질 수 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8" y="32461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30D158"/>
                </a:solidFill>
                <a:latin typeface="Noto Sans KR Medium"/>
                <a:ea typeface="Noto Sans KR Medium"/>
              </a:rPr>
              <a:t>대응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1688" y="3236976"/>
            <a:ext cx="39470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Noto Sans KR"/>
                <a:ea typeface="Noto Sans KR"/>
              </a:rPr>
              <a:t>촬영 가이드를 주고, 맞지 않는 사진은 다시 찍게 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60520"/>
            <a:ext cx="5135728" cy="1783080"/>
          </a:xfrm>
          <a:prstGeom prst="roundRect">
            <a:avLst>
              <a:gd name="adj" fmla="val 6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4165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98989E"/>
                </a:solidFill>
                <a:latin typeface="Noto Sans KR Medium"/>
                <a:ea typeface="Noto Sans KR Medium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379976"/>
            <a:ext cx="4038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쇼핑몰마다 치수표 형식이 다르다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818888"/>
            <a:ext cx="44956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항목 이름 · 단위 · 표 모양이 쇼핑몰마다 제각각이다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257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30D158"/>
                </a:solidFill>
                <a:latin typeface="Noto Sans KR Medium"/>
                <a:ea typeface="Noto Sans KR Medium"/>
              </a:rPr>
              <a:t>대응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5248656"/>
            <a:ext cx="39470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Noto Sans KR"/>
                <a:ea typeface="Noto Sans KR"/>
              </a:rPr>
              <a:t>새 형식은 시스템 프롬프트에 예외 규칙으로 추가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8" y="4160520"/>
            <a:ext cx="5135728" cy="1783080"/>
          </a:xfrm>
          <a:prstGeom prst="roundRect">
            <a:avLst>
              <a:gd name="adj" fmla="val 6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048" y="44165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98989E"/>
                </a:solidFill>
                <a:latin typeface="Noto Sans KR Medium"/>
                <a:ea typeface="Noto Sans KR Medium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0248" y="4379976"/>
            <a:ext cx="4038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생성 시간이 오래 걸린다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8" y="4818888"/>
            <a:ext cx="44956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품질 좋은 모델일수록 한 장에 수십 초 이상 걸린다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3048" y="5257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30D158"/>
                </a:solidFill>
                <a:latin typeface="Noto Sans KR Medium"/>
                <a:ea typeface="Noto Sans KR Medium"/>
              </a:rPr>
              <a:t>대응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1688" y="5248656"/>
            <a:ext cx="39470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Noto Sans KR"/>
                <a:ea typeface="Noto Sans KR"/>
              </a:rPr>
              <a:t>품질을 우선하고, 기다리는 동안 추천을 먼저 보여 준다</a:t>
            </a:r>
          </a:p>
        </p:txBody>
      </p:sp>
      <p:pic>
        <p:nvPicPr>
          <p:cNvPr id="28" name="Picture 27" descr="fitcheck_wordmark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