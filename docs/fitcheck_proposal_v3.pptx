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89" r:id="rId2"/>
    <p:sldId id="290" r:id="rId3"/>
    <p:sldId id="291" r:id="rId4"/>
    <p:sldId id="292" r:id="rId5"/>
    <p:sldId id="293" r:id="rId6"/>
    <p:sldId id="294" r:id="rId7"/>
    <p:sldId id="296" r:id="rId8"/>
    <p:sldId id="297" r:id="rId9"/>
    <p:sldId id="298" r:id="rId10"/>
    <p:sldId id="299" r:id="rId11"/>
    <p:sldId id="300" r:id="rId12"/>
    <p:sldId id="301" r:id="rId13"/>
    <p:sldId id="30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0378" autoAdjust="0"/>
  </p:normalViewPr>
  <p:slideViewPr>
    <p:cSldViewPr snapToGrid="0" snapToObjects="1">
      <p:cViewPr varScale="1">
        <p:scale>
          <a:sx n="91" d="100"/>
          <a:sy n="91" d="100"/>
        </p:scale>
        <p:origin x="131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5369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3.pn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3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tcheck_lockup_v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0585" y="1234440"/>
            <a:ext cx="2250525" cy="2011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3703320"/>
            <a:ext cx="10545775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900" dirty="0">
                <a:solidFill>
                  <a:srgbClr val="FFFFFF"/>
                </a:solidFill>
                <a:latin typeface="Noto Sans KR Light"/>
                <a:ea typeface="Noto Sans KR Light"/>
              </a:rPr>
              <a:t>Diffusion </a:t>
            </a:r>
            <a:r>
              <a:rPr lang="ko-KR" altLang="en-US" sz="2900" dirty="0">
                <a:solidFill>
                  <a:srgbClr val="FFFFFF"/>
                </a:solidFill>
                <a:latin typeface="Noto Sans KR Light"/>
                <a:ea typeface="Noto Sans KR Light"/>
              </a:rPr>
              <a:t>모델 기반 </a:t>
            </a:r>
            <a:r>
              <a:rPr sz="29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가상</a:t>
            </a:r>
            <a:r>
              <a:rPr sz="29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29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피팅</a:t>
            </a:r>
            <a:r>
              <a:rPr sz="2900" dirty="0">
                <a:solidFill>
                  <a:srgbClr val="FFFFFF"/>
                </a:solidFill>
                <a:latin typeface="Noto Sans KR Light"/>
                <a:ea typeface="Noto Sans KR Light"/>
              </a:rPr>
              <a:t> 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4282635"/>
            <a:ext cx="1054577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spc="8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과제</a:t>
            </a:r>
            <a:r>
              <a:rPr sz="1400" spc="8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400" spc="8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계획</a:t>
            </a:r>
            <a:r>
              <a:rPr sz="1400" spc="8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400" spc="8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발표</a:t>
            </a:r>
            <a:endParaRPr sz="1400" spc="80" dirty="0">
              <a:solidFill>
                <a:srgbClr val="98989E"/>
              </a:solidFill>
              <a:latin typeface="Noto Sans KR DemiLight"/>
              <a:ea typeface="Noto Sans KR DemiLigh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852500"/>
            <a:ext cx="10545775" cy="8848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150" dirty="0">
                <a:solidFill>
                  <a:schemeClr val="bg1"/>
                </a:solidFill>
                <a:latin typeface="Noto Sans KR"/>
                <a:ea typeface="Noto Sans KR"/>
              </a:rPr>
              <a:t>1</a:t>
            </a:r>
            <a:r>
              <a:rPr lang="ko-KR" altLang="en-US" sz="1150" dirty="0">
                <a:solidFill>
                  <a:schemeClr val="bg1"/>
                </a:solidFill>
                <a:latin typeface="Noto Sans KR"/>
                <a:ea typeface="Noto Sans KR"/>
              </a:rPr>
              <a:t>조</a:t>
            </a:r>
            <a:endParaRPr lang="en-US" sz="1150" dirty="0">
              <a:solidFill>
                <a:schemeClr val="bg1"/>
              </a:solidFill>
              <a:latin typeface="Noto Sans KR"/>
              <a:ea typeface="Noto Sans KR"/>
            </a:endParaRPr>
          </a:p>
          <a:p>
            <a:pPr algn="ctr">
              <a:lnSpc>
                <a:spcPct val="100000"/>
              </a:lnSpc>
            </a:pPr>
            <a:r>
              <a:rPr lang="en-US" sz="1150" dirty="0">
                <a:solidFill>
                  <a:schemeClr val="bg1"/>
                </a:solidFill>
                <a:latin typeface="Noto Sans KR"/>
                <a:ea typeface="Noto Sans KR"/>
              </a:rPr>
              <a:t>2023315685 </a:t>
            </a:r>
            <a:r>
              <a:rPr lang="ko-KR" altLang="en-US" sz="1150" dirty="0">
                <a:solidFill>
                  <a:schemeClr val="bg1"/>
                </a:solidFill>
                <a:latin typeface="Noto Sans KR"/>
                <a:ea typeface="Noto Sans KR"/>
              </a:rPr>
              <a:t>정지훈</a:t>
            </a:r>
            <a:endParaRPr lang="en-US" altLang="ko-KR" sz="1150" dirty="0">
              <a:solidFill>
                <a:schemeClr val="bg1"/>
              </a:solidFill>
              <a:latin typeface="Noto Sans KR"/>
              <a:ea typeface="Noto Sans KR"/>
            </a:endParaRPr>
          </a:p>
          <a:p>
            <a:pPr algn="ctr">
              <a:lnSpc>
                <a:spcPct val="100000"/>
              </a:lnSpc>
            </a:pPr>
            <a:r>
              <a:rPr lang="en-US" altLang="ko-KR" sz="1150" dirty="0">
                <a:solidFill>
                  <a:schemeClr val="bg1"/>
                </a:solidFill>
                <a:latin typeface="Noto Sans KR"/>
                <a:ea typeface="Noto Sans KR"/>
              </a:rPr>
              <a:t>2023315740 </a:t>
            </a:r>
            <a:r>
              <a:rPr lang="ko-KR" altLang="en-US" sz="1150" dirty="0" err="1">
                <a:solidFill>
                  <a:schemeClr val="bg1"/>
                </a:solidFill>
                <a:latin typeface="Noto Sans KR"/>
                <a:ea typeface="Noto Sans KR"/>
              </a:rPr>
              <a:t>이재홍</a:t>
            </a:r>
            <a:endParaRPr lang="en-US" altLang="ko-KR" sz="1150" dirty="0">
              <a:solidFill>
                <a:schemeClr val="bg1"/>
              </a:solidFill>
              <a:latin typeface="Noto Sans KR"/>
              <a:ea typeface="Noto Sans KR"/>
            </a:endParaRPr>
          </a:p>
          <a:p>
            <a:pPr algn="ctr">
              <a:lnSpc>
                <a:spcPct val="100000"/>
              </a:lnSpc>
            </a:pPr>
            <a:r>
              <a:rPr lang="en-US" altLang="ko-KR" sz="1150" dirty="0">
                <a:solidFill>
                  <a:schemeClr val="bg1"/>
                </a:solidFill>
                <a:latin typeface="Noto Sans KR"/>
                <a:ea typeface="Noto Sans KR"/>
              </a:rPr>
              <a:t>2021310416 </a:t>
            </a:r>
            <a:r>
              <a:rPr lang="ko-KR" altLang="en-US" sz="1150" dirty="0">
                <a:solidFill>
                  <a:schemeClr val="bg1"/>
                </a:solidFill>
                <a:latin typeface="Noto Sans KR"/>
                <a:ea typeface="Noto Sans KR"/>
              </a:rPr>
              <a:t>이은재</a:t>
            </a:r>
            <a:endParaRPr lang="en-US" altLang="ko-KR" sz="1150" dirty="0">
              <a:solidFill>
                <a:schemeClr val="bg1"/>
              </a:solidFill>
              <a:latin typeface="Noto Sans KR"/>
              <a:ea typeface="Noto Sans KR"/>
            </a:endParaRPr>
          </a:p>
          <a:p>
            <a:pPr algn="ctr">
              <a:lnSpc>
                <a:spcPct val="100000"/>
              </a:lnSpc>
            </a:pPr>
            <a:r>
              <a:rPr lang="en-US" altLang="ko-KR" sz="1150" dirty="0">
                <a:solidFill>
                  <a:schemeClr val="bg1"/>
                </a:solidFill>
                <a:latin typeface="Noto Sans KR"/>
                <a:ea typeface="Noto Sans KR"/>
              </a:rPr>
              <a:t>2023315664 </a:t>
            </a:r>
            <a:r>
              <a:rPr lang="ko-KR" altLang="en-US" sz="1150" dirty="0">
                <a:solidFill>
                  <a:schemeClr val="bg1"/>
                </a:solidFill>
                <a:latin typeface="Noto Sans KR"/>
                <a:ea typeface="Noto Sans KR"/>
              </a:rPr>
              <a:t>박정우</a:t>
            </a:r>
            <a:endParaRPr sz="1150" dirty="0">
              <a:solidFill>
                <a:schemeClr val="bg1"/>
              </a:solidFill>
              <a:latin typeface="Noto Sans KR"/>
              <a:ea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2737501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eck_size_fai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8964" y="987552"/>
            <a:ext cx="3935871" cy="5074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713232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90">
                <a:solidFill>
                  <a:srgbClr val="98989E"/>
                </a:solidFill>
                <a:latin typeface="Noto Sans KR Medium"/>
                <a:ea typeface="Noto Sans KR Medium"/>
              </a:rPr>
              <a:t>개인적 경험에서 출발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6061264" cy="15763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42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무신사에서</a:t>
            </a:r>
            <a:r>
              <a:rPr sz="4200" dirty="0">
                <a:solidFill>
                  <a:srgbClr val="FFFFFF"/>
                </a:solidFill>
                <a:latin typeface="Noto Sans KR Light"/>
                <a:ea typeface="Noto Sans KR Light"/>
              </a:rPr>
              <a:t> 산 </a:t>
            </a:r>
            <a:r>
              <a:rPr sz="42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옷을</a:t>
            </a:r>
            <a:endParaRPr sz="4200" dirty="0">
              <a:solidFill>
                <a:srgbClr val="FFFFFF"/>
              </a:solidFill>
              <a:latin typeface="Noto Sans KR Light"/>
              <a:ea typeface="Noto Sans KR Light"/>
            </a:endParaRPr>
          </a:p>
          <a:p>
            <a:pPr algn="l">
              <a:lnSpc>
                <a:spcPct val="128000"/>
              </a:lnSpc>
            </a:pPr>
            <a:r>
              <a:rPr sz="4200" dirty="0">
                <a:solidFill>
                  <a:srgbClr val="00B050"/>
                </a:solidFill>
                <a:latin typeface="Noto Sans KR Light"/>
                <a:ea typeface="Noto Sans KR Light"/>
              </a:rPr>
              <a:t>또 </a:t>
            </a:r>
            <a:r>
              <a:rPr sz="4200" dirty="0" err="1">
                <a:solidFill>
                  <a:srgbClr val="00B050"/>
                </a:solidFill>
                <a:latin typeface="Noto Sans KR Light"/>
                <a:ea typeface="Noto Sans KR Light"/>
              </a:rPr>
              <a:t>환불했다</a:t>
            </a:r>
            <a:endParaRPr sz="4200" dirty="0">
              <a:solidFill>
                <a:srgbClr val="00B050"/>
              </a:solidFill>
              <a:latin typeface="Noto Sans KR Light"/>
              <a:ea typeface="Noto Sans KR Ligh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606126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98989E"/>
                </a:solidFill>
                <a:latin typeface="Noto Sans KR DemiLight"/>
                <a:ea typeface="Noto Sans KR DemiLight"/>
              </a:rPr>
              <a:t>사이즈도, 핏도 나와 맞지 않았다.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00600"/>
            <a:ext cx="606126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FFFFFF"/>
                </a:solidFill>
                <a:latin typeface="Noto Sans KR"/>
                <a:ea typeface="Noto Sans KR"/>
              </a:rPr>
              <a:t>“돈도 시간도 아깝다..”</a:t>
            </a:r>
          </a:p>
        </p:txBody>
      </p:sp>
      <p:pic>
        <p:nvPicPr>
          <p:cNvPr id="7" name="Picture 6" descr="fitcheck_wordmark_d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454335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>
                <a:solidFill>
                  <a:srgbClr val="5A5A5E"/>
                </a:solidFill>
                <a:latin typeface="Noto Sans KR"/>
                <a:ea typeface="Noto Sans KR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6785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C3D7F554-7C97-012D-54A2-A0DD19A10E59}"/>
              </a:ext>
            </a:extLst>
          </p:cNvPr>
          <p:cNvSpPr txBox="1"/>
          <p:nvPr/>
        </p:nvSpPr>
        <p:spPr>
          <a:xfrm>
            <a:off x="822960" y="713232"/>
            <a:ext cx="10545775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90" dirty="0" err="1">
                <a:solidFill>
                  <a:srgbClr val="98989E"/>
                </a:solidFill>
                <a:latin typeface="Noto Sans KR Medium"/>
                <a:ea typeface="Noto Sans KR Medium"/>
              </a:rPr>
              <a:t>문제</a:t>
            </a:r>
            <a:r>
              <a:rPr lang="ko-KR" altLang="en-US" sz="1150" spc="90" dirty="0">
                <a:solidFill>
                  <a:srgbClr val="98989E"/>
                </a:solidFill>
                <a:latin typeface="Noto Sans KR Medium"/>
                <a:ea typeface="Noto Sans KR Medium"/>
              </a:rPr>
              <a:t>정의</a:t>
            </a:r>
            <a:endParaRPr sz="1150" spc="90" dirty="0">
              <a:solidFill>
                <a:srgbClr val="98989E"/>
              </a:solidFill>
              <a:latin typeface="Noto Sans KR Medium"/>
              <a:ea typeface="Noto Sans KR Medium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20E65AE-5768-3F9C-4A08-684B3CC7DF50}"/>
              </a:ext>
            </a:extLst>
          </p:cNvPr>
          <p:cNvSpPr txBox="1"/>
          <p:nvPr/>
        </p:nvSpPr>
        <p:spPr>
          <a:xfrm>
            <a:off x="822960" y="1508760"/>
            <a:ext cx="9601200" cy="15012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lang="ko-KR" sz="4000" dirty="0">
                <a:solidFill>
                  <a:srgbClr val="FFFFFF"/>
                </a:solidFill>
                <a:latin typeface="Noto Sans KR Light"/>
                <a:ea typeface="Noto Sans KR Light"/>
              </a:rPr>
              <a:t>온라인에서는 입어볼 수 없고,</a:t>
            </a:r>
          </a:p>
          <a:p>
            <a:pPr algn="l">
              <a:lnSpc>
                <a:spcPct val="128000"/>
              </a:lnSpc>
            </a:pPr>
            <a:r>
              <a:rPr lang="ko-KR" sz="4000" b="1" dirty="0">
                <a:solidFill>
                  <a:srgbClr val="00B050"/>
                </a:solidFill>
                <a:latin typeface="Noto Sans KR Light"/>
                <a:ea typeface="Noto Sans KR Light"/>
              </a:rPr>
              <a:t>반품 1위 </a:t>
            </a:r>
            <a:r>
              <a:rPr lang="ko-KR" altLang="en-US" sz="4000" b="1" dirty="0">
                <a:solidFill>
                  <a:srgbClr val="00B050"/>
                </a:solidFill>
                <a:latin typeface="Noto Sans KR Light"/>
                <a:ea typeface="Noto Sans KR Light"/>
              </a:rPr>
              <a:t>원</a:t>
            </a:r>
            <a:r>
              <a:rPr lang="ko-KR" sz="4000" b="1" dirty="0">
                <a:solidFill>
                  <a:srgbClr val="00B050"/>
                </a:solidFill>
                <a:latin typeface="Noto Sans KR Light"/>
                <a:ea typeface="Noto Sans KR Light"/>
              </a:rPr>
              <a:t>인은 사이즈다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7DB6B96-DB7B-F68B-145C-8EA85A708B7F}"/>
              </a:ext>
            </a:extLst>
          </p:cNvPr>
          <p:cNvSpPr txBox="1"/>
          <p:nvPr/>
        </p:nvSpPr>
        <p:spPr>
          <a:xfrm>
            <a:off x="822960" y="3310128"/>
            <a:ext cx="1005840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조사에</a:t>
            </a:r>
            <a:r>
              <a:rPr sz="145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</a:t>
            </a:r>
            <a:r>
              <a:rPr sz="145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따라</a:t>
            </a:r>
            <a:r>
              <a:rPr sz="145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</a:t>
            </a:r>
            <a:r>
              <a:rPr sz="145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사이즈</a:t>
            </a:r>
            <a:r>
              <a:rPr sz="145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· </a:t>
            </a:r>
            <a:r>
              <a:rPr sz="145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핏이</a:t>
            </a:r>
            <a:r>
              <a:rPr sz="145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</a:t>
            </a:r>
            <a:r>
              <a:rPr sz="145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전체</a:t>
            </a:r>
            <a:r>
              <a:rPr sz="145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</a:t>
            </a:r>
            <a:r>
              <a:rPr sz="145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반품</a:t>
            </a:r>
            <a:r>
              <a:rPr sz="145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</a:t>
            </a:r>
            <a:r>
              <a:rPr sz="145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사유의</a:t>
            </a:r>
            <a:r>
              <a:rPr sz="145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45 – 53%</a:t>
            </a:r>
            <a:r>
              <a:rPr sz="1100" dirty="0">
                <a:solidFill>
                  <a:schemeClr val="bg1"/>
                </a:solidFill>
                <a:latin typeface="Noto Sans KR"/>
                <a:ea typeface="Noto Sans KR"/>
              </a:rPr>
              <a:t>   </a:t>
            </a:r>
            <a:r>
              <a:rPr sz="1100" dirty="0" err="1">
                <a:solidFill>
                  <a:srgbClr val="5A5A5E"/>
                </a:solidFill>
                <a:latin typeface="Noto Sans KR"/>
                <a:ea typeface="Noto Sans KR"/>
              </a:rPr>
              <a:t>Narvar</a:t>
            </a:r>
            <a:r>
              <a:rPr sz="1100" dirty="0">
                <a:solidFill>
                  <a:srgbClr val="5A5A5E"/>
                </a:solidFill>
                <a:latin typeface="Noto Sans KR"/>
                <a:ea typeface="Noto Sans KR"/>
              </a:rPr>
              <a:t> </a:t>
            </a:r>
            <a:r>
              <a:rPr sz="1100" dirty="0" err="1">
                <a:solidFill>
                  <a:srgbClr val="5A5A5E"/>
                </a:solidFill>
                <a:latin typeface="Noto Sans KR"/>
                <a:ea typeface="Noto Sans KR"/>
              </a:rPr>
              <a:t>소비자</a:t>
            </a:r>
            <a:r>
              <a:rPr sz="1100" dirty="0">
                <a:solidFill>
                  <a:srgbClr val="5A5A5E"/>
                </a:solidFill>
                <a:latin typeface="Noto Sans KR"/>
                <a:ea typeface="Noto Sans KR"/>
              </a:rPr>
              <a:t> </a:t>
            </a:r>
            <a:r>
              <a:rPr sz="1100" dirty="0" err="1">
                <a:solidFill>
                  <a:srgbClr val="5A5A5E"/>
                </a:solidFill>
                <a:latin typeface="Noto Sans KR"/>
                <a:ea typeface="Noto Sans KR"/>
              </a:rPr>
              <a:t>조사</a:t>
            </a:r>
            <a:r>
              <a:rPr sz="1100" dirty="0">
                <a:solidFill>
                  <a:srgbClr val="5A5A5E"/>
                </a:solidFill>
                <a:latin typeface="Noto Sans KR"/>
                <a:ea typeface="Noto Sans KR"/>
              </a:rPr>
              <a:t>(</a:t>
            </a:r>
            <a:r>
              <a:rPr sz="1100" dirty="0" err="1">
                <a:solidFill>
                  <a:srgbClr val="5A5A5E"/>
                </a:solidFill>
                <a:latin typeface="Noto Sans KR"/>
                <a:ea typeface="Noto Sans KR"/>
              </a:rPr>
              <a:t>색상</a:t>
            </a:r>
            <a:r>
              <a:rPr sz="1100" dirty="0">
                <a:solidFill>
                  <a:srgbClr val="5A5A5E"/>
                </a:solidFill>
                <a:latin typeface="Noto Sans KR"/>
                <a:ea typeface="Noto Sans KR"/>
              </a:rPr>
              <a:t> </a:t>
            </a:r>
            <a:r>
              <a:rPr sz="1100" dirty="0" err="1">
                <a:solidFill>
                  <a:srgbClr val="5A5A5E"/>
                </a:solidFill>
                <a:latin typeface="Noto Sans KR"/>
                <a:ea typeface="Noto Sans KR"/>
              </a:rPr>
              <a:t>포함</a:t>
            </a:r>
            <a:r>
              <a:rPr sz="1100" dirty="0">
                <a:solidFill>
                  <a:srgbClr val="5A5A5E"/>
                </a:solidFill>
                <a:latin typeface="Noto Sans KR"/>
                <a:ea typeface="Noto Sans KR"/>
              </a:rPr>
              <a:t>) · </a:t>
            </a:r>
            <a:r>
              <a:rPr sz="1100" dirty="0" err="1">
                <a:solidFill>
                  <a:srgbClr val="5A5A5E"/>
                </a:solidFill>
                <a:latin typeface="Noto Sans KR"/>
                <a:ea typeface="Noto Sans KR"/>
              </a:rPr>
              <a:t>Coresight</a:t>
            </a:r>
            <a:r>
              <a:rPr sz="1100" dirty="0">
                <a:solidFill>
                  <a:srgbClr val="5A5A5E"/>
                </a:solidFill>
                <a:latin typeface="Noto Sans KR"/>
                <a:ea typeface="Noto Sans KR"/>
              </a:rPr>
              <a:t> Research 2023</a:t>
            </a:r>
          </a:p>
        </p:txBody>
      </p:sp>
      <p:cxnSp>
        <p:nvCxnSpPr>
          <p:cNvPr id="33" name="Connector 5">
            <a:extLst>
              <a:ext uri="{FF2B5EF4-FFF2-40B4-BE49-F238E27FC236}">
                <a16:creationId xmlns:a16="http://schemas.microsoft.com/office/drawing/2014/main" id="{EDA0C47F-0AE3-C24C-AF21-A5B811F77BF6}"/>
              </a:ext>
            </a:extLst>
          </p:cNvPr>
          <p:cNvCxnSpPr/>
          <p:nvPr/>
        </p:nvCxnSpPr>
        <p:spPr>
          <a:xfrm>
            <a:off x="822960" y="4117116"/>
            <a:ext cx="10545775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9E6445F2-C542-77AF-2BB4-C64DA9293BC5}"/>
              </a:ext>
            </a:extLst>
          </p:cNvPr>
          <p:cNvSpPr txBox="1"/>
          <p:nvPr/>
        </p:nvSpPr>
        <p:spPr>
          <a:xfrm>
            <a:off x="825500" y="4345716"/>
            <a:ext cx="34290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dirty="0">
                <a:solidFill>
                  <a:schemeClr val="bg1"/>
                </a:solidFill>
                <a:latin typeface="Noto Sans KR Light"/>
                <a:ea typeface="Noto Sans KR Light"/>
              </a:rPr>
              <a:t>약 30%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5F05475-1651-1380-ABBF-309520AD20B4}"/>
              </a:ext>
            </a:extLst>
          </p:cNvPr>
          <p:cNvSpPr txBox="1"/>
          <p:nvPr/>
        </p:nvSpPr>
        <p:spPr>
          <a:xfrm>
            <a:off x="825500" y="4912644"/>
            <a:ext cx="3429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14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온라인 패션 평균 반품률 (오프라인 8%)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01AFD28-7943-7563-95B3-44DF39C835E3}"/>
              </a:ext>
            </a:extLst>
          </p:cNvPr>
          <p:cNvSpPr txBox="1"/>
          <p:nvPr/>
        </p:nvSpPr>
        <p:spPr>
          <a:xfrm>
            <a:off x="825500" y="5241828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5A5A5E"/>
                </a:solidFill>
                <a:latin typeface="Noto Sans KR"/>
                <a:ea typeface="Noto Sans KR"/>
              </a:rPr>
              <a:t>물류신문, 2024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360EDE2-EAD0-D6C2-7BF9-903BEDA00DA1}"/>
              </a:ext>
            </a:extLst>
          </p:cNvPr>
          <p:cNvSpPr txBox="1"/>
          <p:nvPr/>
        </p:nvSpPr>
        <p:spPr>
          <a:xfrm>
            <a:off x="4381500" y="4345716"/>
            <a:ext cx="34290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dirty="0">
                <a:solidFill>
                  <a:schemeClr val="bg1"/>
                </a:solidFill>
                <a:latin typeface="Noto Sans KR Light"/>
                <a:ea typeface="Noto Sans KR Light"/>
              </a:rPr>
              <a:t>58.3조원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683911D-F2E2-7939-8E77-E9728E8BE1D6}"/>
              </a:ext>
            </a:extLst>
          </p:cNvPr>
          <p:cNvSpPr txBox="1"/>
          <p:nvPr/>
        </p:nvSpPr>
        <p:spPr>
          <a:xfrm>
            <a:off x="4381500" y="4912644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국내</a:t>
            </a:r>
            <a:r>
              <a:rPr sz="13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3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온라인</a:t>
            </a:r>
            <a:r>
              <a:rPr sz="13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3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패션</a:t>
            </a:r>
            <a:r>
              <a:rPr sz="13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3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거래액</a:t>
            </a:r>
            <a:r>
              <a:rPr sz="13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(2025년)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6C075E3-DAE2-EF26-6455-C03FEA391C8D}"/>
              </a:ext>
            </a:extLst>
          </p:cNvPr>
          <p:cNvSpPr txBox="1"/>
          <p:nvPr/>
        </p:nvSpPr>
        <p:spPr>
          <a:xfrm>
            <a:off x="4381500" y="5241828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5A5A5E"/>
                </a:solidFill>
                <a:latin typeface="Noto Sans KR"/>
                <a:ea typeface="Noto Sans KR"/>
              </a:rPr>
              <a:t>국가데이터처(옛 통계청)</a:t>
            </a:r>
          </a:p>
        </p:txBody>
      </p:sp>
      <p:pic>
        <p:nvPicPr>
          <p:cNvPr id="40" name="Picture 12" descr="fitcheck_wordmark_dim.png">
            <a:extLst>
              <a:ext uri="{FF2B5EF4-FFF2-40B4-BE49-F238E27FC236}">
                <a16:creationId xmlns:a16="http://schemas.microsoft.com/office/drawing/2014/main" id="{A664C9B9-B911-5F51-4A29-00D6EF02D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EE3C5461-1497-27BD-9E06-97A0BF3A06FF}"/>
              </a:ext>
            </a:extLst>
          </p:cNvPr>
          <p:cNvSpPr txBox="1"/>
          <p:nvPr/>
        </p:nvSpPr>
        <p:spPr>
          <a:xfrm>
            <a:off x="10454335" y="6172200"/>
            <a:ext cx="9144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 dirty="0">
                <a:solidFill>
                  <a:srgbClr val="5A5A5E"/>
                </a:solidFill>
                <a:latin typeface="Noto Sans KR"/>
                <a:ea typeface="Noto Sans KR"/>
              </a:rPr>
              <a:t>0</a:t>
            </a:r>
            <a:r>
              <a:rPr lang="en-US" sz="1050" spc="80" dirty="0">
                <a:solidFill>
                  <a:srgbClr val="5A5A5E"/>
                </a:solidFill>
                <a:latin typeface="Noto Sans KR"/>
                <a:ea typeface="Noto Sans KR"/>
              </a:rPr>
              <a:t>3</a:t>
            </a:r>
            <a:endParaRPr sz="1050" spc="80" dirty="0">
              <a:solidFill>
                <a:srgbClr val="5A5A5E"/>
              </a:solidFill>
              <a:latin typeface="Noto Sans KR"/>
              <a:ea typeface="Noto Sans KR"/>
            </a:endParaRPr>
          </a:p>
        </p:txBody>
      </p:sp>
      <p:sp>
        <p:nvSpPr>
          <p:cNvPr id="42" name="TextBox 30">
            <a:extLst>
              <a:ext uri="{FF2B5EF4-FFF2-40B4-BE49-F238E27FC236}">
                <a16:creationId xmlns:a16="http://schemas.microsoft.com/office/drawing/2014/main" id="{9CAD1575-5E54-960F-9823-07E2C9364110}"/>
              </a:ext>
            </a:extLst>
          </p:cNvPr>
          <p:cNvSpPr txBox="1"/>
          <p:nvPr/>
        </p:nvSpPr>
        <p:spPr>
          <a:xfrm>
            <a:off x="7937500" y="4345716"/>
            <a:ext cx="34290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sz="3000" dirty="0">
                <a:solidFill>
                  <a:schemeClr val="bg1"/>
                </a:solidFill>
                <a:latin typeface="Noto Sans KR Light"/>
                <a:ea typeface="Noto Sans KR Light"/>
              </a:rPr>
              <a:t>연 5~8조원</a:t>
            </a:r>
          </a:p>
        </p:txBody>
      </p:sp>
      <p:sp>
        <p:nvSpPr>
          <p:cNvPr id="43" name="TextBox 31">
            <a:extLst>
              <a:ext uri="{FF2B5EF4-FFF2-40B4-BE49-F238E27FC236}">
                <a16:creationId xmlns:a16="http://schemas.microsoft.com/office/drawing/2014/main" id="{8535F751-9B98-5A96-CEC4-BE56BE8A4E0F}"/>
              </a:ext>
            </a:extLst>
          </p:cNvPr>
          <p:cNvSpPr txBox="1"/>
          <p:nvPr/>
        </p:nvSpPr>
        <p:spPr>
          <a:xfrm>
            <a:off x="7937500" y="4912644"/>
            <a:ext cx="3429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14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사이즈 미스로 </a:t>
            </a:r>
            <a:r>
              <a:rPr lang="ko-KR" altLang="en-US" sz="14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발생하는</a:t>
            </a:r>
            <a:r>
              <a:rPr lang="ko-KR" sz="14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거래액 (추정)</a:t>
            </a:r>
          </a:p>
        </p:txBody>
      </p:sp>
      <p:sp>
        <p:nvSpPr>
          <p:cNvPr id="44" name="TextBox 32">
            <a:extLst>
              <a:ext uri="{FF2B5EF4-FFF2-40B4-BE49-F238E27FC236}">
                <a16:creationId xmlns:a16="http://schemas.microsoft.com/office/drawing/2014/main" id="{37DA6625-E09C-E36F-8E0A-5E610F99E996}"/>
              </a:ext>
            </a:extLst>
          </p:cNvPr>
          <p:cNvSpPr txBox="1"/>
          <p:nvPr/>
        </p:nvSpPr>
        <p:spPr>
          <a:xfrm>
            <a:off x="7937500" y="5241828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1100" dirty="0">
                <a:solidFill>
                  <a:srgbClr val="5A5A5E"/>
                </a:solidFill>
                <a:latin typeface="Noto Sans KR"/>
                <a:ea typeface="Noto Sans KR"/>
              </a:rPr>
              <a:t>58.3조원 × 반품률 20~30% × 사이즈 사유 약 50%</a:t>
            </a:r>
          </a:p>
        </p:txBody>
      </p:sp>
    </p:spTree>
    <p:extLst>
      <p:ext uri="{BB962C8B-B14F-4D97-AF65-F5344CB8AC3E}">
        <p14:creationId xmlns:p14="http://schemas.microsoft.com/office/powerpoint/2010/main" val="3932581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13232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90">
                <a:solidFill>
                  <a:srgbClr val="98989E"/>
                </a:solidFill>
                <a:latin typeface="Noto Sans KR Medium"/>
                <a:ea typeface="Noto Sans KR Medium"/>
              </a:rPr>
              <a:t>해결 방안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45775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40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입어보기</a:t>
            </a:r>
            <a:r>
              <a:rPr sz="40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40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전에</a:t>
            </a:r>
            <a:r>
              <a:rPr sz="4000" dirty="0">
                <a:solidFill>
                  <a:srgbClr val="FFFFFF"/>
                </a:solidFill>
                <a:latin typeface="Noto Sans KR Light"/>
                <a:ea typeface="Noto Sans KR Light"/>
              </a:rPr>
              <a:t>,</a:t>
            </a:r>
          </a:p>
          <a:p>
            <a:pPr algn="l">
              <a:lnSpc>
                <a:spcPct val="128000"/>
              </a:lnSpc>
            </a:pPr>
            <a:r>
              <a:rPr sz="40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어울리는지</a:t>
            </a:r>
            <a:r>
              <a:rPr sz="40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40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그리고</a:t>
            </a:r>
            <a:r>
              <a:rPr sz="40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40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맞는지까지</a:t>
            </a:r>
            <a:endParaRPr sz="4000" dirty="0">
              <a:solidFill>
                <a:srgbClr val="FFFFFF"/>
              </a:solidFill>
              <a:latin typeface="Noto Sans KR Light"/>
              <a:ea typeface="Noto Sans KR Ligh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246120"/>
            <a:ext cx="1054577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dirty="0" err="1">
                <a:solidFill>
                  <a:srgbClr val="00B050"/>
                </a:solidFill>
                <a:latin typeface="Noto Sans KR DemiLight"/>
                <a:ea typeface="Noto Sans KR DemiLight"/>
              </a:rPr>
              <a:t>FitCheck</a:t>
            </a:r>
            <a:r>
              <a:rPr sz="16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— </a:t>
            </a:r>
            <a:r>
              <a:rPr sz="16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입어보지</a:t>
            </a:r>
            <a:r>
              <a:rPr sz="16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6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않고도</a:t>
            </a:r>
            <a:r>
              <a:rPr sz="16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6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어울림과</a:t>
            </a:r>
            <a:r>
              <a:rPr sz="16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6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사이즈를</a:t>
            </a:r>
            <a:r>
              <a:rPr sz="16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6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함께</a:t>
            </a:r>
            <a:r>
              <a:rPr sz="16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6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확인하는</a:t>
            </a:r>
            <a:r>
              <a:rPr sz="16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6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가상</a:t>
            </a:r>
            <a:r>
              <a:rPr sz="16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6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피팅</a:t>
            </a:r>
            <a:r>
              <a:rPr sz="16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앱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3977639"/>
            <a:ext cx="10545775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4251960"/>
            <a:ext cx="490712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spc="60" dirty="0" err="1">
                <a:solidFill>
                  <a:srgbClr val="00B050"/>
                </a:solidFill>
                <a:latin typeface="Noto Sans KR Medium"/>
                <a:ea typeface="Noto Sans KR Medium"/>
              </a:rPr>
              <a:t>가상</a:t>
            </a:r>
            <a:r>
              <a:rPr sz="1400" spc="60" dirty="0">
                <a:solidFill>
                  <a:srgbClr val="00B050"/>
                </a:solidFill>
                <a:latin typeface="Noto Sans KR Medium"/>
                <a:ea typeface="Noto Sans KR Medium"/>
              </a:rPr>
              <a:t> </a:t>
            </a:r>
            <a:r>
              <a:rPr sz="1400" spc="60" dirty="0" err="1">
                <a:solidFill>
                  <a:srgbClr val="00B050"/>
                </a:solidFill>
                <a:latin typeface="Noto Sans KR Medium"/>
                <a:ea typeface="Noto Sans KR Medium"/>
              </a:rPr>
              <a:t>착용</a:t>
            </a:r>
            <a:r>
              <a:rPr sz="1400" spc="60" dirty="0">
                <a:solidFill>
                  <a:srgbClr val="00B050"/>
                </a:solidFill>
                <a:latin typeface="Noto Sans KR Medium"/>
                <a:ea typeface="Noto Sans KR Medium"/>
              </a:rPr>
              <a:t> </a:t>
            </a:r>
            <a:r>
              <a:rPr sz="1400" spc="60" dirty="0" err="1">
                <a:solidFill>
                  <a:srgbClr val="00B050"/>
                </a:solidFill>
                <a:latin typeface="Noto Sans KR Medium"/>
                <a:ea typeface="Noto Sans KR Medium"/>
              </a:rPr>
              <a:t>이미지</a:t>
            </a:r>
            <a:endParaRPr sz="1400" spc="60" dirty="0">
              <a:solidFill>
                <a:srgbClr val="00B050"/>
              </a:solidFill>
              <a:latin typeface="Noto Sans KR Medium"/>
              <a:ea typeface="Noto Sans KR Mediu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4663440"/>
            <a:ext cx="4907128" cy="799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dirty="0">
                <a:solidFill>
                  <a:srgbClr val="FFFFFF"/>
                </a:solidFill>
                <a:latin typeface="Noto Sans KR Light"/>
                <a:ea typeface="Noto Sans KR Light"/>
              </a:rPr>
              <a:t>내 </a:t>
            </a:r>
            <a:r>
              <a:rPr sz="21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사진에</a:t>
            </a:r>
            <a:r>
              <a:rPr sz="21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21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옷을</a:t>
            </a:r>
            <a:r>
              <a:rPr sz="21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21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합성해</a:t>
            </a:r>
            <a:endParaRPr sz="2100" dirty="0">
              <a:solidFill>
                <a:srgbClr val="FFFFFF"/>
              </a:solidFill>
              <a:latin typeface="Noto Sans KR Light"/>
              <a:ea typeface="Noto Sans KR Light"/>
            </a:endParaRPr>
          </a:p>
          <a:p>
            <a:pPr algn="l">
              <a:lnSpc>
                <a:spcPct val="130000"/>
              </a:lnSpc>
            </a:pPr>
            <a:r>
              <a:rPr sz="21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어울리는지</a:t>
            </a:r>
            <a:r>
              <a:rPr sz="21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21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먼저</a:t>
            </a:r>
            <a:r>
              <a:rPr sz="21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21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확인</a:t>
            </a:r>
            <a:endParaRPr sz="2100" dirty="0">
              <a:solidFill>
                <a:srgbClr val="FFFFFF"/>
              </a:solidFill>
              <a:latin typeface="Noto Sans KR Light"/>
              <a:ea typeface="Noto Sans KR Ligh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95848" y="4251960"/>
            <a:ext cx="490712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spc="60" dirty="0" err="1">
                <a:solidFill>
                  <a:srgbClr val="00B050"/>
                </a:solidFill>
                <a:latin typeface="Noto Sans KR Medium"/>
                <a:ea typeface="Noto Sans KR Medium"/>
              </a:rPr>
              <a:t>사이즈</a:t>
            </a:r>
            <a:r>
              <a:rPr sz="1400" spc="60" dirty="0">
                <a:solidFill>
                  <a:srgbClr val="00B050"/>
                </a:solidFill>
                <a:latin typeface="Noto Sans KR Medium"/>
                <a:ea typeface="Noto Sans KR Medium"/>
              </a:rPr>
              <a:t> </a:t>
            </a:r>
            <a:r>
              <a:rPr sz="1400" spc="60" dirty="0" err="1">
                <a:solidFill>
                  <a:srgbClr val="00B050"/>
                </a:solidFill>
                <a:latin typeface="Noto Sans KR Medium"/>
                <a:ea typeface="Noto Sans KR Medium"/>
              </a:rPr>
              <a:t>추천</a:t>
            </a:r>
            <a:endParaRPr sz="1400" spc="60" dirty="0">
              <a:solidFill>
                <a:srgbClr val="00B050"/>
              </a:solidFill>
              <a:latin typeface="Noto Sans KR Medium"/>
              <a:ea typeface="Noto Sans KR Medium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95848" y="4663440"/>
            <a:ext cx="4907128" cy="799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신체</a:t>
            </a:r>
            <a:r>
              <a:rPr sz="21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21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치수와</a:t>
            </a:r>
            <a:r>
              <a:rPr sz="2100" dirty="0">
                <a:solidFill>
                  <a:srgbClr val="FFFFFF"/>
                </a:solidFill>
                <a:latin typeface="Noto Sans KR Light"/>
                <a:ea typeface="Noto Sans KR Light"/>
              </a:rPr>
              <a:t> 옷 </a:t>
            </a:r>
            <a:r>
              <a:rPr sz="21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치수표를</a:t>
            </a:r>
            <a:r>
              <a:rPr sz="21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21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비교해</a:t>
            </a:r>
            <a:endParaRPr sz="2100" dirty="0">
              <a:solidFill>
                <a:srgbClr val="FFFFFF"/>
              </a:solidFill>
              <a:latin typeface="Noto Sans KR Light"/>
              <a:ea typeface="Noto Sans KR Light"/>
            </a:endParaRPr>
          </a:p>
          <a:p>
            <a:pPr algn="l">
              <a:lnSpc>
                <a:spcPct val="130000"/>
              </a:lnSpc>
            </a:pPr>
            <a:r>
              <a:rPr sz="21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맞는</a:t>
            </a:r>
            <a:r>
              <a:rPr sz="21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21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사이즈</a:t>
            </a:r>
            <a:r>
              <a:rPr lang="ko-KR" altLang="en-US" sz="2100" dirty="0">
                <a:solidFill>
                  <a:srgbClr val="FFFFFF"/>
                </a:solidFill>
                <a:latin typeface="Noto Sans KR Light"/>
                <a:ea typeface="Noto Sans KR Light"/>
              </a:rPr>
              <a:t>를</a:t>
            </a:r>
            <a:r>
              <a:rPr lang="en-US" altLang="ko-KR" sz="21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lang="ko-KR" altLang="en-US" sz="2100" dirty="0">
                <a:solidFill>
                  <a:srgbClr val="FFFFFF"/>
                </a:solidFill>
                <a:latin typeface="Noto Sans KR Light"/>
                <a:ea typeface="Noto Sans KR Light"/>
              </a:rPr>
              <a:t>추천</a:t>
            </a:r>
            <a:endParaRPr sz="2100" dirty="0">
              <a:solidFill>
                <a:srgbClr val="FFFFFF"/>
              </a:solidFill>
              <a:latin typeface="Noto Sans KR Light"/>
              <a:ea typeface="Noto Sans KR Light"/>
            </a:endParaRPr>
          </a:p>
        </p:txBody>
      </p:sp>
      <p:pic>
        <p:nvPicPr>
          <p:cNvPr id="10" name="Picture 9" descr="fitcheck_wordmark_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454335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>
                <a:solidFill>
                  <a:srgbClr val="5A5A5E"/>
                </a:solidFill>
                <a:latin typeface="Noto Sans KR"/>
                <a:ea typeface="Noto Sans KR"/>
              </a:rPr>
              <a:t>04</a:t>
            </a:r>
          </a:p>
        </p:txBody>
      </p:sp>
      <p:pic>
        <p:nvPicPr>
          <p:cNvPr id="12" name="Picture 1" descr="fitcheck_lockup_v_white.png">
            <a:extLst>
              <a:ext uri="{FF2B5EF4-FFF2-40B4-BE49-F238E27FC236}">
                <a16:creationId xmlns:a16="http://schemas.microsoft.com/office/drawing/2014/main" id="{B6F5C5F0-9505-16BD-82EE-D8FC3E50C8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7160" y="1480661"/>
            <a:ext cx="2250525" cy="201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199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13232"/>
            <a:ext cx="10545775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50" spc="90" dirty="0">
                <a:solidFill>
                  <a:srgbClr val="98989E"/>
                </a:solidFill>
                <a:latin typeface="Noto Sans KR Medium"/>
                <a:ea typeface="Noto Sans KR Medium"/>
              </a:rPr>
              <a:t>전체 파이프라인 </a:t>
            </a:r>
            <a:endParaRPr sz="1150" spc="90" dirty="0">
              <a:solidFill>
                <a:srgbClr val="98989E"/>
              </a:solidFill>
              <a:latin typeface="Noto Sans KR Medium"/>
              <a:ea typeface="Noto Sans KR Medium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822959" y="2286000"/>
            <a:ext cx="3017520" cy="2286000"/>
          </a:xfrm>
          <a:prstGeom prst="roundRect">
            <a:avLst>
              <a:gd name="adj" fmla="val 7500"/>
            </a:avLst>
          </a:prstGeom>
          <a:solidFill>
            <a:srgbClr val="1E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3855" y="2615184"/>
            <a:ext cx="618248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spc="180">
                <a:solidFill>
                  <a:srgbClr val="5A5A5E"/>
                </a:solidFill>
                <a:latin typeface="Noto Sans KR Medium"/>
                <a:ea typeface="Noto Sans KR Medium"/>
              </a:rPr>
              <a:t>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5" y="2944368"/>
            <a:ext cx="2395728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dirty="0" err="1">
                <a:solidFill>
                  <a:srgbClr val="FFFFFF"/>
                </a:solidFill>
                <a:latin typeface="Noto Sans KR"/>
                <a:ea typeface="Noto Sans KR"/>
              </a:rPr>
              <a:t>입력</a:t>
            </a:r>
            <a:endParaRPr sz="1900" dirty="0">
              <a:solidFill>
                <a:srgbClr val="FFFFFF"/>
              </a:solidFill>
              <a:latin typeface="Noto Sans KR"/>
              <a:ea typeface="Noto Sans K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40479" y="3246120"/>
            <a:ext cx="74660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dirty="0">
                <a:solidFill>
                  <a:srgbClr val="5A5A5E"/>
                </a:solidFill>
                <a:latin typeface="Noto Sans KR DemiLight"/>
                <a:ea typeface="Noto Sans KR DemiLight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87087" y="2286000"/>
            <a:ext cx="3017520" cy="2286000"/>
          </a:xfrm>
          <a:prstGeom prst="roundRect">
            <a:avLst>
              <a:gd name="adj" fmla="val 7500"/>
            </a:avLst>
          </a:prstGeom>
          <a:solidFill>
            <a:srgbClr val="1E1E22"/>
          </a:solidFill>
          <a:ln w="381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4897983" y="2615184"/>
            <a:ext cx="902741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spc="180">
                <a:solidFill>
                  <a:srgbClr val="5A5A5E"/>
                </a:solidFill>
                <a:latin typeface="Noto Sans KR Medium"/>
                <a:ea typeface="Noto Sans KR Medium"/>
              </a:rPr>
              <a:t>PROCESS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7983" y="2944368"/>
            <a:ext cx="23957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>
                <a:solidFill>
                  <a:srgbClr val="FFFFFF"/>
                </a:solidFill>
                <a:latin typeface="Noto Sans KR"/>
                <a:ea typeface="Noto Sans KR"/>
              </a:rPr>
              <a:t>처리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7983" y="3493008"/>
            <a:ext cx="2395728" cy="6021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가상</a:t>
            </a:r>
            <a:r>
              <a:rPr sz="13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</a:t>
            </a: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피팅</a:t>
            </a:r>
            <a:r>
              <a:rPr sz="13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— AI </a:t>
            </a: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이미지</a:t>
            </a:r>
            <a:r>
              <a:rPr sz="13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</a:t>
            </a: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합성</a:t>
            </a:r>
            <a:endParaRPr sz="1300" dirty="0">
              <a:solidFill>
                <a:schemeClr val="bg1"/>
              </a:solidFill>
              <a:latin typeface="Noto Sans KR DemiLight"/>
              <a:ea typeface="Noto Sans KR DemiLight"/>
            </a:endParaRPr>
          </a:p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사이즈</a:t>
            </a:r>
            <a:r>
              <a:rPr sz="13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</a:t>
            </a: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추천</a:t>
            </a:r>
            <a:r>
              <a:rPr sz="13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— </a:t>
            </a: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여유분</a:t>
            </a:r>
            <a:r>
              <a:rPr sz="13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</a:t>
            </a: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계산</a:t>
            </a:r>
            <a:endParaRPr sz="1300" dirty="0">
              <a:solidFill>
                <a:schemeClr val="bg1"/>
              </a:solidFill>
              <a:latin typeface="Noto Sans KR DemiLight"/>
              <a:ea typeface="Noto Sans KR DemiLigh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04607" y="3246120"/>
            <a:ext cx="74660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>
                <a:solidFill>
                  <a:srgbClr val="5A5A5E"/>
                </a:solidFill>
                <a:latin typeface="Noto Sans KR DemiLight"/>
                <a:ea typeface="Noto Sans KR DemiLight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51215" y="2286000"/>
            <a:ext cx="3017520" cy="2286000"/>
          </a:xfrm>
          <a:prstGeom prst="roundRect">
            <a:avLst>
              <a:gd name="adj" fmla="val 7500"/>
            </a:avLst>
          </a:prstGeom>
          <a:solidFill>
            <a:srgbClr val="1E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62111" y="2615184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spc="180">
                <a:solidFill>
                  <a:srgbClr val="5A5A5E"/>
                </a:solidFill>
                <a:latin typeface="Noto Sans KR Medium"/>
                <a:ea typeface="Noto Sans KR Medium"/>
              </a:rP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2111" y="2944368"/>
            <a:ext cx="23957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>
                <a:solidFill>
                  <a:srgbClr val="FFFFFF"/>
                </a:solidFill>
                <a:latin typeface="Noto Sans KR"/>
                <a:ea typeface="Noto Sans KR"/>
              </a:rPr>
              <a:t>출력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2111" y="3493008"/>
            <a:ext cx="2395728" cy="6021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lang="ko-KR" altLang="en-US" sz="13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예상되는 </a:t>
            </a: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착용</a:t>
            </a:r>
            <a:r>
              <a:rPr sz="13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</a:t>
            </a: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모습</a:t>
            </a:r>
            <a:endParaRPr sz="1300" dirty="0">
              <a:solidFill>
                <a:schemeClr val="bg1"/>
              </a:solidFill>
              <a:latin typeface="Noto Sans KR DemiLight"/>
              <a:ea typeface="Noto Sans KR DemiLight"/>
            </a:endParaRPr>
          </a:p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3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S · M · L </a:t>
            </a: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추천과</a:t>
            </a:r>
            <a:r>
              <a:rPr sz="13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그 </a:t>
            </a: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근거</a:t>
            </a:r>
            <a:endParaRPr sz="1300" dirty="0">
              <a:solidFill>
                <a:schemeClr val="bg1"/>
              </a:solidFill>
              <a:latin typeface="Noto Sans KR DemiLight"/>
              <a:ea typeface="Noto Sans KR DemiLight"/>
            </a:endParaRPr>
          </a:p>
        </p:txBody>
      </p:sp>
      <p:pic>
        <p:nvPicPr>
          <p:cNvPr id="18" name="Picture 17" descr="fitcheck_wordmark_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454335" y="6172200"/>
            <a:ext cx="9144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>
                <a:solidFill>
                  <a:srgbClr val="5A5A5E"/>
                </a:solidFill>
                <a:latin typeface="Noto Sans KR"/>
                <a:ea typeface="Noto Sans KR"/>
              </a:rPr>
              <a:t>05</a:t>
            </a:r>
          </a:p>
        </p:txBody>
      </p:sp>
      <p:pic>
        <p:nvPicPr>
          <p:cNvPr id="20" name="Graphic 20" descr="INPUT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28288" y="2505553"/>
            <a:ext cx="355600" cy="355600"/>
          </a:xfrm>
          <a:prstGeom prst="rect">
            <a:avLst/>
          </a:prstGeom>
        </p:spPr>
      </p:pic>
      <p:pic>
        <p:nvPicPr>
          <p:cNvPr id="21" name="Graphic 21" descr="PROCESS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18016" y="2506534"/>
            <a:ext cx="355600" cy="355600"/>
          </a:xfrm>
          <a:prstGeom prst="rect">
            <a:avLst/>
          </a:prstGeom>
        </p:spPr>
      </p:pic>
      <p:pic>
        <p:nvPicPr>
          <p:cNvPr id="22" name="Graphic 22" descr="OUTPUT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13874" y="2492248"/>
            <a:ext cx="355600" cy="3556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4D8AE83-F65D-A0FF-2C6F-9A4A649358AB}"/>
              </a:ext>
            </a:extLst>
          </p:cNvPr>
          <p:cNvSpPr txBox="1"/>
          <p:nvPr/>
        </p:nvSpPr>
        <p:spPr>
          <a:xfrm>
            <a:off x="1133855" y="3493008"/>
            <a:ext cx="2395728" cy="6021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사용자</a:t>
            </a:r>
            <a:r>
              <a:rPr sz="13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— </a:t>
            </a: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전신</a:t>
            </a:r>
            <a:r>
              <a:rPr sz="13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</a:t>
            </a: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사진</a:t>
            </a:r>
            <a:r>
              <a:rPr sz="13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, </a:t>
            </a: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신체</a:t>
            </a:r>
            <a:r>
              <a:rPr sz="13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</a:t>
            </a: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치수</a:t>
            </a:r>
            <a:endParaRPr sz="1300" dirty="0">
              <a:solidFill>
                <a:schemeClr val="bg1"/>
              </a:solidFill>
              <a:latin typeface="Noto Sans KR DemiLight"/>
              <a:ea typeface="Noto Sans KR DemiLight"/>
            </a:endParaRPr>
          </a:p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3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옷 — </a:t>
            </a: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상품</a:t>
            </a:r>
            <a:r>
              <a:rPr sz="13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</a:t>
            </a: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이미지</a:t>
            </a:r>
            <a:r>
              <a:rPr sz="13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, </a:t>
            </a: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치수표</a:t>
            </a:r>
            <a:endParaRPr sz="1300" dirty="0">
              <a:solidFill>
                <a:schemeClr val="bg1"/>
              </a:solidFill>
              <a:latin typeface="Noto Sans KR DemiLight"/>
              <a:ea typeface="Noto Sans KR DemiLigh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78B52A-A0E8-D5F7-11C9-C4112C2360BF}"/>
              </a:ext>
            </a:extLst>
          </p:cNvPr>
          <p:cNvSpPr txBox="1"/>
          <p:nvPr/>
        </p:nvSpPr>
        <p:spPr>
          <a:xfrm>
            <a:off x="4834137" y="4704739"/>
            <a:ext cx="2523419" cy="390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lang="en-US" altLang="ko-KR" sz="16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*Diffusion </a:t>
            </a:r>
            <a:r>
              <a:rPr lang="ko-KR" altLang="en-US" sz="16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모델 사용 예정</a:t>
            </a:r>
          </a:p>
        </p:txBody>
      </p:sp>
    </p:spTree>
    <p:extLst>
      <p:ext uri="{BB962C8B-B14F-4D97-AF65-F5344CB8AC3E}">
        <p14:creationId xmlns:p14="http://schemas.microsoft.com/office/powerpoint/2010/main" val="2466198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5">
            <a:extLst>
              <a:ext uri="{FF2B5EF4-FFF2-40B4-BE49-F238E27FC236}">
                <a16:creationId xmlns:a16="http://schemas.microsoft.com/office/drawing/2014/main" id="{033EF481-6499-BD7B-56A8-E80A69901A23}"/>
              </a:ext>
            </a:extLst>
          </p:cNvPr>
          <p:cNvSpPr/>
          <p:nvPr/>
        </p:nvSpPr>
        <p:spPr>
          <a:xfrm>
            <a:off x="1004695" y="1069848"/>
            <a:ext cx="7565751" cy="5074920"/>
          </a:xfrm>
          <a:prstGeom prst="roundRect">
            <a:avLst>
              <a:gd name="adj" fmla="val 5000"/>
            </a:avLst>
          </a:prstGeom>
          <a:solidFill>
            <a:srgbClr val="1E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713232"/>
            <a:ext cx="10545775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50" spc="90" dirty="0">
                <a:solidFill>
                  <a:srgbClr val="98989E"/>
                </a:solidFill>
                <a:latin typeface="Noto Sans KR Medium"/>
                <a:ea typeface="Noto Sans KR Medium"/>
              </a:rPr>
              <a:t>목표 </a:t>
            </a:r>
            <a:r>
              <a:rPr sz="1150" spc="90" dirty="0" err="1">
                <a:solidFill>
                  <a:srgbClr val="98989E"/>
                </a:solidFill>
                <a:latin typeface="Noto Sans KR Medium"/>
                <a:ea typeface="Noto Sans KR Medium"/>
              </a:rPr>
              <a:t>구현</a:t>
            </a:r>
            <a:endParaRPr sz="1150" spc="90" dirty="0">
              <a:solidFill>
                <a:srgbClr val="98989E"/>
              </a:solidFill>
              <a:latin typeface="Noto Sans KR Medium"/>
              <a:ea typeface="Noto Sans KR Medium"/>
            </a:endParaRPr>
          </a:p>
        </p:txBody>
      </p:sp>
      <p:pic>
        <p:nvPicPr>
          <p:cNvPr id="8" name="Picture 7" descr="fitcheck_wordmark_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54335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>
                <a:solidFill>
                  <a:srgbClr val="5A5A5E"/>
                </a:solidFill>
                <a:latin typeface="Noto Sans KR"/>
                <a:ea typeface="Noto Sans KR"/>
              </a:rPr>
              <a:t>06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5685" y="1344168"/>
            <a:ext cx="1829882" cy="40690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7E0E727-B416-F288-D05A-B5190BABD945}"/>
              </a:ext>
            </a:extLst>
          </p:cNvPr>
          <p:cNvSpPr txBox="1"/>
          <p:nvPr/>
        </p:nvSpPr>
        <p:spPr>
          <a:xfrm>
            <a:off x="3936557" y="5522976"/>
            <a:ext cx="182988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>
                <a:solidFill>
                  <a:srgbClr val="98989E"/>
                </a:solidFill>
                <a:latin typeface="Noto Sans KR"/>
                <a:ea typeface="Noto Sans KR"/>
              </a:rPr>
              <a:t>치수 입력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7544D1-B508-CDC3-2112-9380E7A85C42}"/>
              </a:ext>
            </a:extLst>
          </p:cNvPr>
          <p:cNvSpPr txBox="1"/>
          <p:nvPr/>
        </p:nvSpPr>
        <p:spPr>
          <a:xfrm>
            <a:off x="6269359" y="5522976"/>
            <a:ext cx="182988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>
                <a:solidFill>
                  <a:srgbClr val="98989E"/>
                </a:solidFill>
                <a:latin typeface="Noto Sans KR"/>
                <a:ea typeface="Noto Sans KR"/>
              </a:rPr>
              <a:t>추천 결과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5D9248-2C5D-D132-7315-64F919F1AC38}"/>
              </a:ext>
            </a:extLst>
          </p:cNvPr>
          <p:cNvSpPr txBox="1"/>
          <p:nvPr/>
        </p:nvSpPr>
        <p:spPr>
          <a:xfrm>
            <a:off x="5766439" y="3195828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>
                <a:solidFill>
                  <a:srgbClr val="5A5A5E"/>
                </a:solidFill>
                <a:latin typeface="Noto Sans KR DemiLight"/>
                <a:ea typeface="Noto Sans KR DemiLight"/>
              </a:rPr>
              <a:t>→</a:t>
            </a:r>
          </a:p>
        </p:txBody>
      </p:sp>
      <p:pic>
        <p:nvPicPr>
          <p:cNvPr id="14" name="Picture 16" descr="image.png">
            <a:extLst>
              <a:ext uri="{FF2B5EF4-FFF2-40B4-BE49-F238E27FC236}">
                <a16:creationId xmlns:a16="http://schemas.microsoft.com/office/drawing/2014/main" id="{18CD9D8B-99C1-2376-A982-463235C6A3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6557" y="1344168"/>
            <a:ext cx="1829882" cy="4069080"/>
          </a:xfrm>
          <a:prstGeom prst="rect">
            <a:avLst/>
          </a:prstGeom>
        </p:spPr>
      </p:pic>
      <p:pic>
        <p:nvPicPr>
          <p:cNvPr id="15" name="Picture 17" descr="image.png">
            <a:extLst>
              <a:ext uri="{FF2B5EF4-FFF2-40B4-BE49-F238E27FC236}">
                <a16:creationId xmlns:a16="http://schemas.microsoft.com/office/drawing/2014/main" id="{FB6EFE0D-89DB-3B0A-8CBC-834D53459E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9359" y="1344168"/>
            <a:ext cx="1829882" cy="406908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2763997-1E3F-C607-C41C-1131B2B0736C}"/>
              </a:ext>
            </a:extLst>
          </p:cNvPr>
          <p:cNvSpPr txBox="1"/>
          <p:nvPr/>
        </p:nvSpPr>
        <p:spPr>
          <a:xfrm>
            <a:off x="3936557" y="5522976"/>
            <a:ext cx="182988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dirty="0" err="1">
                <a:solidFill>
                  <a:srgbClr val="98989E"/>
                </a:solidFill>
                <a:latin typeface="Noto Sans KR"/>
                <a:ea typeface="Noto Sans KR"/>
              </a:rPr>
              <a:t>치수</a:t>
            </a:r>
            <a:r>
              <a:rPr sz="1100" dirty="0">
                <a:solidFill>
                  <a:srgbClr val="98989E"/>
                </a:solidFill>
                <a:latin typeface="Noto Sans KR"/>
                <a:ea typeface="Noto Sans KR"/>
              </a:rPr>
              <a:t> </a:t>
            </a:r>
            <a:r>
              <a:rPr sz="1100" dirty="0" err="1">
                <a:solidFill>
                  <a:srgbClr val="98989E"/>
                </a:solidFill>
                <a:latin typeface="Noto Sans KR"/>
                <a:ea typeface="Noto Sans KR"/>
              </a:rPr>
              <a:t>입력</a:t>
            </a:r>
            <a:endParaRPr sz="1100" dirty="0">
              <a:solidFill>
                <a:srgbClr val="98989E"/>
              </a:solidFill>
              <a:latin typeface="Noto Sans KR"/>
              <a:ea typeface="Noto Sans KR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2D9C67-3E72-34F5-E127-0BB4F1C09744}"/>
              </a:ext>
            </a:extLst>
          </p:cNvPr>
          <p:cNvSpPr txBox="1"/>
          <p:nvPr/>
        </p:nvSpPr>
        <p:spPr>
          <a:xfrm>
            <a:off x="6269359" y="5522976"/>
            <a:ext cx="182988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>
                <a:solidFill>
                  <a:srgbClr val="98989E"/>
                </a:solidFill>
                <a:latin typeface="Noto Sans KR"/>
                <a:ea typeface="Noto Sans KR"/>
              </a:rPr>
              <a:t>추천 결과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6CD5FE-BB30-3C0A-4DF2-23149E2E5985}"/>
              </a:ext>
            </a:extLst>
          </p:cNvPr>
          <p:cNvSpPr txBox="1"/>
          <p:nvPr/>
        </p:nvSpPr>
        <p:spPr>
          <a:xfrm>
            <a:off x="5766439" y="3195828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dirty="0">
                <a:solidFill>
                  <a:srgbClr val="5A5A5E"/>
                </a:solidFill>
                <a:latin typeface="Noto Sans KR DemiLight"/>
                <a:ea typeface="Noto Sans KR DemiLight"/>
              </a:rPr>
              <a:t>→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EDF4CD9-D644-2F22-11F6-D79DC0A9C929}"/>
              </a:ext>
            </a:extLst>
          </p:cNvPr>
          <p:cNvSpPr txBox="1"/>
          <p:nvPr/>
        </p:nvSpPr>
        <p:spPr>
          <a:xfrm>
            <a:off x="618416" y="313822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800" dirty="0">
                <a:solidFill>
                  <a:srgbClr val="5A5A5E"/>
                </a:solidFill>
                <a:latin typeface="Noto Sans KR DemiLight"/>
                <a:ea typeface="Noto Sans KR DemiLight"/>
              </a:rPr>
              <a:t>→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55FFCC-FE99-715A-508E-E47633933B0D}"/>
              </a:ext>
            </a:extLst>
          </p:cNvPr>
          <p:cNvSpPr txBox="1"/>
          <p:nvPr/>
        </p:nvSpPr>
        <p:spPr>
          <a:xfrm>
            <a:off x="8956725" y="2513843"/>
            <a:ext cx="2887206" cy="1238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lang="ko-KR" altLang="en-US" sz="3300" dirty="0">
                <a:solidFill>
                  <a:srgbClr val="FFFFFF"/>
                </a:solidFill>
                <a:latin typeface="Noto Sans KR Light"/>
                <a:ea typeface="Noto Sans KR Light"/>
              </a:rPr>
              <a:t>가상 피팅과</a:t>
            </a:r>
            <a:endParaRPr lang="en-US" altLang="ko-KR" sz="3300" dirty="0">
              <a:solidFill>
                <a:srgbClr val="FFFFFF"/>
              </a:solidFill>
              <a:latin typeface="Noto Sans KR Light"/>
              <a:ea typeface="Noto Sans KR Light"/>
            </a:endParaRPr>
          </a:p>
          <a:p>
            <a:pPr algn="l">
              <a:lnSpc>
                <a:spcPct val="128000"/>
              </a:lnSpc>
            </a:pPr>
            <a:r>
              <a:rPr lang="ko-KR" altLang="en-US" sz="3300" dirty="0">
                <a:solidFill>
                  <a:srgbClr val="FFFFFF"/>
                </a:solidFill>
                <a:latin typeface="Noto Sans KR Light"/>
                <a:ea typeface="Noto Sans KR Light"/>
              </a:rPr>
              <a:t>사이즈 추천까지</a:t>
            </a:r>
            <a:endParaRPr sz="3300" dirty="0">
              <a:solidFill>
                <a:srgbClr val="FFFFFF"/>
              </a:solidFill>
              <a:latin typeface="Noto Sans KR Light"/>
              <a:ea typeface="Noto Sans KR Ligh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67597C1-6B7F-2C3F-CBF1-9D66888ADB55}"/>
              </a:ext>
            </a:extLst>
          </p:cNvPr>
          <p:cNvSpPr txBox="1"/>
          <p:nvPr/>
        </p:nvSpPr>
        <p:spPr>
          <a:xfrm>
            <a:off x="1603755" y="5550408"/>
            <a:ext cx="182988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100" dirty="0">
                <a:solidFill>
                  <a:srgbClr val="98989E"/>
                </a:solidFill>
                <a:latin typeface="Noto Sans KR"/>
                <a:ea typeface="Noto Sans KR"/>
              </a:rPr>
              <a:t>필요한 사진을 입력</a:t>
            </a:r>
            <a:endParaRPr sz="1100" dirty="0">
              <a:solidFill>
                <a:srgbClr val="98989E"/>
              </a:solidFill>
              <a:latin typeface="Noto Sans KR"/>
              <a:ea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969015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13232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90">
                <a:solidFill>
                  <a:srgbClr val="98989E"/>
                </a:solidFill>
                <a:latin typeface="Noto Sans KR Medium"/>
                <a:ea typeface="Noto Sans KR Medium"/>
              </a:rPr>
              <a:t>기대 효과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4028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140">
                <a:solidFill>
                  <a:srgbClr val="5A5A5E"/>
                </a:solidFill>
                <a:latin typeface="Noto Sans KR Medium"/>
                <a:ea typeface="Noto Sans KR Medium"/>
              </a:rPr>
              <a:t>소비자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651760"/>
            <a:ext cx="3017520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926080"/>
            <a:ext cx="3017520" cy="8755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사이즈</a:t>
            </a:r>
            <a:r>
              <a:rPr sz="23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실패로</a:t>
            </a:r>
            <a:r>
              <a:rPr sz="23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인한</a:t>
            </a:r>
            <a:endParaRPr sz="2300" dirty="0">
              <a:solidFill>
                <a:srgbClr val="FFFFFF"/>
              </a:solidFill>
              <a:latin typeface="Noto Sans KR Light"/>
              <a:ea typeface="Noto Sans KR Light"/>
            </a:endParaRPr>
          </a:p>
          <a:p>
            <a:pPr algn="l">
              <a:lnSpc>
                <a:spcPct val="130000"/>
              </a:lnSpc>
            </a:pPr>
            <a:r>
              <a:rPr sz="23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반품</a:t>
            </a:r>
            <a:r>
              <a:rPr lang="en-US" sz="23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lang="ko-KR" altLang="en-US" sz="2300" dirty="0">
                <a:solidFill>
                  <a:srgbClr val="FFFFFF"/>
                </a:solidFill>
                <a:latin typeface="Noto Sans KR Light"/>
                <a:ea typeface="Noto Sans KR Light"/>
              </a:rPr>
              <a:t>↓</a:t>
            </a:r>
            <a:endParaRPr sz="2300" dirty="0">
              <a:solidFill>
                <a:srgbClr val="FFFFFF"/>
              </a:solidFill>
              <a:latin typeface="Noto Sans KR Light"/>
              <a:ea typeface="Noto Sans KR Ligh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3017520" cy="259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ko-KR" altLang="en-US" sz="135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고객 만족도 상승</a:t>
            </a:r>
            <a:endParaRPr sz="1350" dirty="0">
              <a:solidFill>
                <a:srgbClr val="98989E"/>
              </a:solidFill>
              <a:latin typeface="Noto Sans KR DemiLight"/>
              <a:ea typeface="Noto Sans KR DemiLigh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87088" y="224028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140">
                <a:solidFill>
                  <a:srgbClr val="5A5A5E"/>
                </a:solidFill>
                <a:latin typeface="Noto Sans KR Medium"/>
                <a:ea typeface="Noto Sans KR Medium"/>
              </a:rPr>
              <a:t>판매 기업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87088" y="2651760"/>
            <a:ext cx="3017520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87088" y="2926080"/>
            <a:ext cx="3017520" cy="8755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반품</a:t>
            </a:r>
            <a:r>
              <a:rPr lang="ko-KR" altLang="en-US" sz="2300" dirty="0">
                <a:solidFill>
                  <a:srgbClr val="FFFFFF"/>
                </a:solidFill>
                <a:latin typeface="Noto Sans KR Light"/>
                <a:ea typeface="Noto Sans KR Light"/>
              </a:rPr>
              <a:t>에</a:t>
            </a:r>
            <a:endParaRPr lang="en-US" altLang="ko-KR" sz="2300" dirty="0">
              <a:solidFill>
                <a:srgbClr val="FFFFFF"/>
              </a:solidFill>
              <a:latin typeface="Noto Sans KR Light"/>
              <a:ea typeface="Noto Sans KR Light"/>
            </a:endParaRPr>
          </a:p>
          <a:p>
            <a:pPr algn="l">
              <a:lnSpc>
                <a:spcPct val="130000"/>
              </a:lnSpc>
            </a:pPr>
            <a:r>
              <a:rPr lang="ko-KR" altLang="en-US" sz="2300" dirty="0">
                <a:solidFill>
                  <a:srgbClr val="FFFFFF"/>
                </a:solidFill>
                <a:latin typeface="Noto Sans KR Light"/>
                <a:ea typeface="Noto Sans KR Light"/>
              </a:rPr>
              <a:t>소모되는 </a:t>
            </a:r>
            <a:r>
              <a:rPr sz="23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비용</a:t>
            </a:r>
            <a:r>
              <a:rPr lang="en-US" sz="23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lang="ko-KR" altLang="en-US" sz="2300" dirty="0">
                <a:solidFill>
                  <a:srgbClr val="FFFFFF"/>
                </a:solidFill>
                <a:latin typeface="Noto Sans KR Light"/>
                <a:ea typeface="Noto Sans KR Light"/>
              </a:rPr>
              <a:t>↓</a:t>
            </a:r>
            <a:endParaRPr sz="2300" dirty="0">
              <a:solidFill>
                <a:srgbClr val="FFFFFF"/>
              </a:solidFill>
              <a:latin typeface="Noto Sans KR Light"/>
              <a:ea typeface="Noto Sans KR Ligh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87088" y="4297680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사이즈</a:t>
            </a:r>
            <a:r>
              <a:rPr sz="135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35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문의와</a:t>
            </a:r>
            <a:r>
              <a:rPr sz="135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35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교환</a:t>
            </a:r>
            <a:r>
              <a:rPr sz="135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35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응대</a:t>
            </a:r>
            <a:r>
              <a:rPr sz="135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35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부담도</a:t>
            </a:r>
            <a:r>
              <a:rPr sz="135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35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준다</a:t>
            </a:r>
            <a:endParaRPr sz="1350" dirty="0">
              <a:solidFill>
                <a:srgbClr val="98989E"/>
              </a:solidFill>
              <a:latin typeface="Noto Sans KR DemiLight"/>
              <a:ea typeface="Noto Sans KR DemiLigh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51216" y="224028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140">
                <a:solidFill>
                  <a:srgbClr val="5A5A5E"/>
                </a:solidFill>
                <a:latin typeface="Noto Sans KR Medium"/>
                <a:ea typeface="Noto Sans KR Medium"/>
              </a:rPr>
              <a:t>확장성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351216" y="2651760"/>
            <a:ext cx="3017520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351216" y="2926080"/>
            <a:ext cx="3017520" cy="8755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치수표만</a:t>
            </a:r>
            <a:r>
              <a:rPr sz="23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있으면</a:t>
            </a:r>
            <a:endParaRPr sz="2300" dirty="0">
              <a:solidFill>
                <a:srgbClr val="FFFFFF"/>
              </a:solidFill>
              <a:latin typeface="Noto Sans KR Light"/>
              <a:ea typeface="Noto Sans KR Light"/>
            </a:endParaRPr>
          </a:p>
          <a:p>
            <a:pPr algn="l">
              <a:lnSpc>
                <a:spcPct val="130000"/>
              </a:lnSpc>
            </a:pPr>
            <a:r>
              <a:rPr sz="23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어떤</a:t>
            </a:r>
            <a:r>
              <a:rPr sz="23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상품에도</a:t>
            </a:r>
            <a:r>
              <a:rPr lang="en-US" sz="23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lang="ko-KR" altLang="en-US" sz="2300" dirty="0">
                <a:solidFill>
                  <a:srgbClr val="FFFFFF"/>
                </a:solidFill>
                <a:latin typeface="Noto Sans KR Light"/>
                <a:ea typeface="Noto Sans KR Light"/>
              </a:rPr>
              <a:t>적용</a:t>
            </a:r>
            <a:endParaRPr lang="en-US" sz="2300" dirty="0">
              <a:solidFill>
                <a:srgbClr val="FFFFFF"/>
              </a:solidFill>
              <a:latin typeface="Noto Sans KR Light"/>
              <a:ea typeface="Noto Sans KR Ligh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51216" y="4297680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>
                <a:solidFill>
                  <a:srgbClr val="98989E"/>
                </a:solidFill>
                <a:latin typeface="Noto Sans KR DemiLight"/>
                <a:ea typeface="Noto Sans KR DemiLight"/>
              </a:rPr>
              <a:t>쇼핑몰이 가진 데이터로 바로 적용된다</a:t>
            </a:r>
          </a:p>
        </p:txBody>
      </p:sp>
      <p:pic>
        <p:nvPicPr>
          <p:cNvPr id="15" name="Picture 14" descr="fitcheck_wordmark_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454335" y="6172200"/>
            <a:ext cx="9144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>
                <a:solidFill>
                  <a:srgbClr val="5A5A5E"/>
                </a:solidFill>
                <a:latin typeface="Noto Sans KR"/>
                <a:ea typeface="Noto Sans KR"/>
              </a:rPr>
              <a:t>08</a:t>
            </a:r>
          </a:p>
        </p:txBody>
      </p:sp>
      <p:pic>
        <p:nvPicPr>
          <p:cNvPr id="17" name="Graphic 17" descr="소비자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5500" y="1645920"/>
            <a:ext cx="381000" cy="381000"/>
          </a:xfrm>
          <a:prstGeom prst="rect">
            <a:avLst/>
          </a:prstGeom>
        </p:spPr>
      </p:pic>
      <p:pic>
        <p:nvPicPr>
          <p:cNvPr id="18" name="Graphic 18" descr="판매 기업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84700" y="1645920"/>
            <a:ext cx="381000" cy="381000"/>
          </a:xfrm>
          <a:prstGeom prst="rect">
            <a:avLst/>
          </a:prstGeom>
        </p:spPr>
      </p:pic>
      <p:pic>
        <p:nvPicPr>
          <p:cNvPr id="19" name="Graphic 19" descr="확장성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18500" y="1687195"/>
            <a:ext cx="381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965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13232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90">
                <a:solidFill>
                  <a:srgbClr val="98989E"/>
                </a:solidFill>
                <a:latin typeface="Noto Sans KR Medium"/>
                <a:ea typeface="Noto Sans KR Medium"/>
              </a:rPr>
              <a:t>합성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4577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>
                <a:solidFill>
                  <a:srgbClr val="FFFFFF"/>
                </a:solidFill>
                <a:latin typeface="Noto Sans KR Light"/>
                <a:ea typeface="Noto Sans KR Light"/>
              </a:rPr>
              <a:t>diffusion 모델을 선택한 이유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95848" y="2286000"/>
            <a:ext cx="0" cy="393192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286000"/>
            <a:ext cx="48614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FFFFFF"/>
                </a:solidFill>
                <a:latin typeface="Noto Sans KR Medium"/>
                <a:ea typeface="Noto Sans KR Medium"/>
              </a:rPr>
              <a:t>diffusion 모델이란?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48614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98989E"/>
                </a:solidFill>
                <a:latin typeface="Noto Sans KR DemiLight"/>
                <a:ea typeface="Noto Sans KR DemiLight"/>
              </a:rPr>
              <a:t>노이즈에서 조금씩 다듬어 사진을 만드는 AI</a:t>
            </a:r>
          </a:p>
        </p:txBody>
      </p:sp>
      <p:pic>
        <p:nvPicPr>
          <p:cNvPr id="7" name="Picture 6" descr="diffusion_step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429000"/>
            <a:ext cx="1037044" cy="13827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4884877"/>
            <a:ext cx="10370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>
                <a:solidFill>
                  <a:srgbClr val="98989E"/>
                </a:solidFill>
                <a:latin typeface="Noto Sans KR"/>
                <a:ea typeface="Noto Sans KR"/>
              </a:rPr>
              <a:t>노이즈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0004" y="3974058"/>
            <a:ext cx="23774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5A5A5E"/>
                </a:solidFill>
                <a:latin typeface="Noto Sans KR DemiLight"/>
                <a:ea typeface="Noto Sans KR DemiLight"/>
              </a:rPr>
              <a:t>→</a:t>
            </a:r>
          </a:p>
        </p:txBody>
      </p:sp>
      <p:pic>
        <p:nvPicPr>
          <p:cNvPr id="10" name="Picture 9" descr="diffusion_step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7748" y="3429000"/>
            <a:ext cx="1037044" cy="13827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097748" y="4884877"/>
            <a:ext cx="10370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>
                <a:solidFill>
                  <a:srgbClr val="98989E"/>
                </a:solidFill>
                <a:latin typeface="Noto Sans KR"/>
                <a:ea typeface="Noto Sans KR"/>
              </a:rPr>
              <a:t>윤곽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4792" y="3974058"/>
            <a:ext cx="23774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5A5A5E"/>
                </a:solidFill>
                <a:latin typeface="Noto Sans KR DemiLight"/>
                <a:ea typeface="Noto Sans KR DemiLight"/>
              </a:rPr>
              <a:t>→</a:t>
            </a:r>
          </a:p>
        </p:txBody>
      </p:sp>
      <p:pic>
        <p:nvPicPr>
          <p:cNvPr id="13" name="Picture 12" descr="diffusion_step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2536" y="3429000"/>
            <a:ext cx="1037044" cy="13827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72536" y="4884877"/>
            <a:ext cx="10370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>
                <a:solidFill>
                  <a:srgbClr val="98989E"/>
                </a:solidFill>
                <a:latin typeface="Noto Sans KR"/>
                <a:ea typeface="Noto Sans KR"/>
              </a:rPr>
              <a:t>형태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9580" y="3974058"/>
            <a:ext cx="23774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5A5A5E"/>
                </a:solidFill>
                <a:latin typeface="Noto Sans KR DemiLight"/>
                <a:ea typeface="Noto Sans KR DemiLight"/>
              </a:rPr>
              <a:t>→</a:t>
            </a:r>
          </a:p>
        </p:txBody>
      </p:sp>
      <p:pic>
        <p:nvPicPr>
          <p:cNvPr id="16" name="Picture 15" descr="diffusion_step_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7324" y="3429000"/>
            <a:ext cx="1037044" cy="138272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647324" y="4884877"/>
            <a:ext cx="10370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>
                <a:solidFill>
                  <a:srgbClr val="30D158"/>
                </a:solidFill>
                <a:latin typeface="Noto Sans KR"/>
                <a:ea typeface="Noto Sans KR"/>
              </a:rPr>
              <a:t>완성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7328" y="2286000"/>
            <a:ext cx="486140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FFFFFF"/>
                </a:solidFill>
                <a:latin typeface="Noto Sans KR Medium"/>
                <a:ea typeface="Noto Sans KR Medium"/>
              </a:rPr>
              <a:t>기존 방식(GAN)과 비교하면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7328" y="2670048"/>
            <a:ext cx="486140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5A5A5E"/>
                </a:solidFill>
                <a:latin typeface="Noto Sans KR"/>
                <a:ea typeface="Noto Sans KR"/>
              </a:rPr>
              <a:t>같은 옷을 입힌 결과  ·  출처: Choi et al., IDM-VTON (ECCV 2024) Fig. 4</a:t>
            </a:r>
          </a:p>
        </p:txBody>
      </p:sp>
      <p:pic>
        <p:nvPicPr>
          <p:cNvPr id="20" name="Picture 19" descr="gan_vs_diffusion_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7328" y="3017520"/>
            <a:ext cx="1334434" cy="17830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507328" y="4855464"/>
            <a:ext cx="151731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98989E"/>
                </a:solidFill>
                <a:latin typeface="Noto Sans KR"/>
                <a:ea typeface="Noto Sans KR"/>
              </a:rPr>
              <a:t>입력 옷</a:t>
            </a:r>
          </a:p>
        </p:txBody>
      </p:sp>
      <p:pic>
        <p:nvPicPr>
          <p:cNvPr id="22" name="Picture 21" descr="gan_vs_diffusion_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6354" y="3017520"/>
            <a:ext cx="1326025" cy="17830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006354" y="4855464"/>
            <a:ext cx="150890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dirty="0">
                <a:solidFill>
                  <a:srgbClr val="98989E"/>
                </a:solidFill>
                <a:latin typeface="Noto Sans KR"/>
                <a:ea typeface="Noto Sans KR"/>
              </a:rPr>
              <a:t>GAN · HR-VITON</a:t>
            </a:r>
          </a:p>
        </p:txBody>
      </p:sp>
      <p:pic>
        <p:nvPicPr>
          <p:cNvPr id="24" name="Picture 23" descr="gan_vs_diffusion_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96971" y="3017520"/>
            <a:ext cx="1326025" cy="17830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496971" y="4855464"/>
            <a:ext cx="150890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30D158"/>
                </a:solidFill>
                <a:latin typeface="Noto Sans KR"/>
                <a:ea typeface="Noto Sans KR"/>
              </a:rPr>
              <a:t>diffusion · IDM-VTON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96048" y="5230368"/>
            <a:ext cx="18363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98989E"/>
                </a:solidFill>
                <a:latin typeface="Noto Sans KR"/>
                <a:ea typeface="Noto Sans KR"/>
              </a:rPr>
              <a:t>GAN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32392" y="5230368"/>
            <a:ext cx="18363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30D158"/>
                </a:solidFill>
                <a:latin typeface="Noto Sans KR"/>
                <a:ea typeface="Noto Sans KR"/>
              </a:rPr>
              <a:t>diffusion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507328" y="5504688"/>
            <a:ext cx="4861407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507328" y="5559552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5A5A5E"/>
                </a:solidFill>
                <a:latin typeface="Noto Sans KR Medium"/>
                <a:ea typeface="Noto Sans KR Medium"/>
              </a:rPr>
              <a:t>자연스러움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96048" y="5559552"/>
            <a:ext cx="18363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98989E"/>
                </a:solidFill>
                <a:latin typeface="Noto Sans KR DemiLight"/>
                <a:ea typeface="Noto Sans KR DemiLight"/>
              </a:rPr>
              <a:t>어색함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32392" y="5559552"/>
            <a:ext cx="18363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FFFFFF"/>
                </a:solidFill>
                <a:latin typeface="Noto Sans KR"/>
                <a:ea typeface="Noto Sans KR"/>
              </a:rPr>
              <a:t>자연스러움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07328" y="5833872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5A5A5E"/>
                </a:solidFill>
                <a:latin typeface="Noto Sans KR Medium"/>
                <a:ea typeface="Noto Sans KR Medium"/>
              </a:rPr>
              <a:t>일반 사진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96048" y="5833872"/>
            <a:ext cx="18363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98989E"/>
                </a:solidFill>
                <a:latin typeface="Noto Sans KR DemiLight"/>
                <a:ea typeface="Noto Sans KR DemiLight"/>
              </a:rPr>
              <a:t>약함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32392" y="5833872"/>
            <a:ext cx="18363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FFFFFF"/>
                </a:solidFill>
                <a:latin typeface="Noto Sans KR"/>
                <a:ea typeface="Noto Sans KR"/>
              </a:rPr>
              <a:t>강함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07328" y="6108192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5A5A5E"/>
                </a:solidFill>
                <a:latin typeface="Noto Sans KR Medium"/>
                <a:ea typeface="Noto Sans KR Medium"/>
              </a:rPr>
              <a:t>속도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96048" y="6108192"/>
            <a:ext cx="18363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98989E"/>
                </a:solidFill>
                <a:latin typeface="Noto Sans KR DemiLight"/>
                <a:ea typeface="Noto Sans KR DemiLight"/>
              </a:rPr>
              <a:t>빠름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32392" y="6108192"/>
            <a:ext cx="18363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98989E"/>
                </a:solidFill>
                <a:latin typeface="Noto Sans KR DemiLight"/>
                <a:ea typeface="Noto Sans KR DemiLight"/>
              </a:rPr>
              <a:t>느림</a:t>
            </a:r>
          </a:p>
        </p:txBody>
      </p:sp>
      <p:pic>
        <p:nvPicPr>
          <p:cNvPr id="38" name="Picture 37" descr="fitcheck_wordmark_dim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9412AC67-B5A9-C0C1-0B2E-6501BD3D679E}"/>
              </a:ext>
            </a:extLst>
          </p:cNvPr>
          <p:cNvSpPr txBox="1"/>
          <p:nvPr/>
        </p:nvSpPr>
        <p:spPr>
          <a:xfrm>
            <a:off x="10454335" y="6172200"/>
            <a:ext cx="9144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>
                <a:solidFill>
                  <a:srgbClr val="5A5A5E"/>
                </a:solidFill>
                <a:latin typeface="Noto Sans KR"/>
                <a:ea typeface="Noto Sans KR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480235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13232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90">
                <a:solidFill>
                  <a:srgbClr val="98989E"/>
                </a:solidFill>
                <a:latin typeface="Noto Sans KR Medium"/>
                <a:ea typeface="Noto Sans KR Medium"/>
              </a:rPr>
              <a:t>모델 후보</a:t>
            </a:r>
          </a:p>
        </p:txBody>
      </p:sp>
      <p:pic>
        <p:nvPicPr>
          <p:cNvPr id="22" name="Picture 21" descr="fitcheck_wordmark_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454335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 dirty="0">
                <a:solidFill>
                  <a:srgbClr val="5A5A5E"/>
                </a:solidFill>
                <a:latin typeface="Noto Sans KR"/>
                <a:ea typeface="Noto Sans KR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1280160"/>
            <a:ext cx="1054577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dirty="0">
                <a:solidFill>
                  <a:srgbClr val="FFFFFF"/>
                </a:solidFill>
                <a:latin typeface="Noto Sans KR Light"/>
                <a:ea typeface="Noto Sans KR Light"/>
              </a:rPr>
              <a:t>네 </a:t>
            </a:r>
            <a:r>
              <a:rPr sz="32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후보를</a:t>
            </a:r>
            <a:r>
              <a:rPr sz="32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32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같은</a:t>
            </a:r>
            <a:r>
              <a:rPr sz="32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32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조건에서</a:t>
            </a:r>
            <a:r>
              <a:rPr sz="32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32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비교</a:t>
            </a:r>
            <a:endParaRPr sz="3200" dirty="0">
              <a:solidFill>
                <a:srgbClr val="FFFFFF"/>
              </a:solidFill>
              <a:latin typeface="Noto Sans KR Light"/>
              <a:ea typeface="Noto Sans KR Ligh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22960" y="1938528"/>
            <a:ext cx="10545775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같은</a:t>
            </a:r>
            <a:r>
              <a:rPr sz="13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3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인물</a:t>
            </a:r>
            <a:r>
              <a:rPr sz="13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3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사진</a:t>
            </a:r>
            <a:r>
              <a:rPr sz="13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· </a:t>
            </a:r>
            <a:r>
              <a:rPr sz="13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같은</a:t>
            </a:r>
            <a:r>
              <a:rPr sz="13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3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옷으로</a:t>
            </a:r>
            <a:r>
              <a:rPr sz="13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네 </a:t>
            </a:r>
            <a:r>
              <a:rPr sz="13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모델을</a:t>
            </a:r>
            <a:r>
              <a:rPr sz="13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3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비교한다</a:t>
            </a:r>
            <a:endParaRPr sz="1300" dirty="0">
              <a:solidFill>
                <a:srgbClr val="98989E"/>
              </a:solidFill>
              <a:latin typeface="Noto Sans KR DemiLight"/>
              <a:ea typeface="Noto Sans KR DemiLight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822960" y="2468880"/>
            <a:ext cx="10545775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148840" y="2578608"/>
            <a:ext cx="216781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FFFFFF"/>
                </a:solidFill>
                <a:latin typeface="Noto Sans KR"/>
                <a:ea typeface="Noto Sans KR"/>
              </a:rPr>
              <a:t>CatVTON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2889504"/>
            <a:ext cx="216781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spc="60">
                <a:solidFill>
                  <a:srgbClr val="98989E"/>
                </a:solidFill>
                <a:latin typeface="Noto Sans KR Medium"/>
                <a:ea typeface="Noto Sans KR Medium"/>
              </a:rPr>
              <a:t>diffusion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53814" y="2578608"/>
            <a:ext cx="216781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FFFFFF"/>
                </a:solidFill>
                <a:latin typeface="Noto Sans KR"/>
                <a:ea typeface="Noto Sans KR"/>
              </a:rPr>
              <a:t>IDM-VTON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53814" y="2889504"/>
            <a:ext cx="216781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spc="60">
                <a:solidFill>
                  <a:srgbClr val="98989E"/>
                </a:solidFill>
                <a:latin typeface="Noto Sans KR Medium"/>
                <a:ea typeface="Noto Sans KR Medium"/>
              </a:rPr>
              <a:t>diffusion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58788" y="2578608"/>
            <a:ext cx="216781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dirty="0">
                <a:solidFill>
                  <a:srgbClr val="FFFFFF"/>
                </a:solidFill>
                <a:latin typeface="Noto Sans KR"/>
                <a:ea typeface="Noto Sans KR"/>
              </a:rPr>
              <a:t>FASHN VTON v1.5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58788" y="2889504"/>
            <a:ext cx="216781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spc="60">
                <a:solidFill>
                  <a:srgbClr val="98989E"/>
                </a:solidFill>
                <a:latin typeface="Noto Sans KR Medium"/>
                <a:ea typeface="Noto Sans KR Medium"/>
              </a:rPr>
              <a:t>diffusion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63762" y="2578608"/>
            <a:ext cx="216781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FFFFFF"/>
                </a:solidFill>
                <a:latin typeface="Noto Sans KR"/>
                <a:ea typeface="Noto Sans KR"/>
              </a:rPr>
              <a:t>HR-VITON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63762" y="2889504"/>
            <a:ext cx="216781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spc="60" dirty="0">
                <a:solidFill>
                  <a:srgbClr val="5A5A5E"/>
                </a:solidFill>
                <a:latin typeface="Noto Sans KR Medium"/>
                <a:ea typeface="Noto Sans KR Medium"/>
              </a:rPr>
              <a:t>GAN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22960" y="3182112"/>
            <a:ext cx="10545775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22960" y="3319272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spc="40">
                <a:solidFill>
                  <a:srgbClr val="5A5A5E"/>
                </a:solidFill>
                <a:latin typeface="Noto Sans KR Medium"/>
                <a:ea typeface="Noto Sans KR Medium"/>
              </a:rPr>
              <a:t>공개 연도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48840" y="3310128"/>
            <a:ext cx="216781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FFFFFF"/>
                </a:solidFill>
                <a:latin typeface="Noto Sans KR DemiLight"/>
                <a:ea typeface="Noto Sans KR DemiLight"/>
              </a:rPr>
              <a:t>2024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53814" y="3310128"/>
            <a:ext cx="216781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FFFFFF"/>
                </a:solidFill>
                <a:latin typeface="Noto Sans KR DemiLight"/>
                <a:ea typeface="Noto Sans KR DemiLight"/>
              </a:rPr>
              <a:t>2024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58788" y="3310128"/>
            <a:ext cx="216781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FFFFFF"/>
                </a:solidFill>
                <a:latin typeface="Noto Sans KR DemiLight"/>
                <a:ea typeface="Noto Sans KR DemiLight"/>
              </a:rPr>
              <a:t>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63762" y="3310128"/>
            <a:ext cx="216781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dirty="0">
                <a:solidFill>
                  <a:srgbClr val="FFFFFF"/>
                </a:solidFill>
                <a:latin typeface="Noto Sans KR DemiLight"/>
                <a:ea typeface="Noto Sans KR DemiLight"/>
              </a:rPr>
              <a:t>2022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22960" y="3694176"/>
            <a:ext cx="10545775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22960" y="3831336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spc="40">
                <a:solidFill>
                  <a:srgbClr val="5A5A5E"/>
                </a:solidFill>
                <a:latin typeface="Noto Sans KR Medium"/>
                <a:ea typeface="Noto Sans KR Medium"/>
              </a:rPr>
              <a:t>발표처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48840" y="3822192"/>
            <a:ext cx="216781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FFFFFF"/>
                </a:solidFill>
                <a:latin typeface="Noto Sans KR DemiLight"/>
                <a:ea typeface="Noto Sans KR DemiLight"/>
              </a:rPr>
              <a:t>ICLR 2025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53814" y="3822192"/>
            <a:ext cx="216781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FFFFFF"/>
                </a:solidFill>
                <a:latin typeface="Noto Sans KR DemiLight"/>
                <a:ea typeface="Noto Sans KR DemiLight"/>
              </a:rPr>
              <a:t>ECCV 2024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58788" y="3822192"/>
            <a:ext cx="2167814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300" dirty="0" err="1">
                <a:solidFill>
                  <a:srgbClr val="FFFFFF"/>
                </a:solidFill>
                <a:latin typeface="Noto Sans KR DemiLight"/>
                <a:ea typeface="Noto Sans KR DemiLight"/>
              </a:rPr>
              <a:t>Github</a:t>
            </a:r>
            <a:r>
              <a:rPr lang="en-US" sz="1300" dirty="0">
                <a:solidFill>
                  <a:srgbClr val="FFFFFF"/>
                </a:solidFill>
                <a:latin typeface="Noto Sans KR DemiLight"/>
                <a:ea typeface="Noto Sans KR DemiLight"/>
              </a:rPr>
              <a:t>, </a:t>
            </a:r>
            <a:r>
              <a:rPr lang="ko-KR" altLang="en-US" sz="1300" dirty="0">
                <a:solidFill>
                  <a:srgbClr val="FFFFFF"/>
                </a:solidFill>
                <a:latin typeface="Noto Sans KR DemiLight"/>
                <a:ea typeface="Noto Sans KR DemiLight"/>
              </a:rPr>
              <a:t>논문 </a:t>
            </a:r>
            <a:r>
              <a:rPr lang="en-US" altLang="ko-KR" sz="1300" dirty="0">
                <a:solidFill>
                  <a:srgbClr val="FFFFFF"/>
                </a:solidFill>
                <a:latin typeface="Noto Sans KR DemiLight"/>
                <a:ea typeface="Noto Sans KR DemiLight"/>
              </a:rPr>
              <a:t>X</a:t>
            </a:r>
            <a:endParaRPr sz="1300" dirty="0">
              <a:solidFill>
                <a:srgbClr val="FFFFFF"/>
              </a:solidFill>
              <a:latin typeface="Noto Sans KR DemiLight"/>
              <a:ea typeface="Noto Sans KR DemiLight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063762" y="3822192"/>
            <a:ext cx="216781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FFFFFF"/>
                </a:solidFill>
                <a:latin typeface="Noto Sans KR DemiLight"/>
                <a:ea typeface="Noto Sans KR DemiLight"/>
              </a:rPr>
              <a:t>ECCV 2022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22960" y="4206240"/>
            <a:ext cx="10545775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22960" y="4343400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spc="40">
                <a:solidFill>
                  <a:srgbClr val="5A5A5E"/>
                </a:solidFill>
                <a:latin typeface="Noto Sans KR Medium"/>
                <a:ea typeface="Noto Sans KR Medium"/>
              </a:rPr>
              <a:t>특징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48840" y="4334256"/>
            <a:ext cx="216781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FFFFFF"/>
                </a:solidFill>
                <a:latin typeface="Noto Sans KR DemiLight"/>
                <a:ea typeface="Noto Sans KR DemiLight"/>
              </a:rPr>
              <a:t>가벼운 diffusion 모델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53814" y="4334256"/>
            <a:ext cx="216781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FFFFFF"/>
                </a:solidFill>
                <a:latin typeface="Noto Sans KR DemiLight"/>
                <a:ea typeface="Noto Sans KR DemiLight"/>
              </a:rPr>
              <a:t>대형 모델(SDXL) 기반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58788" y="4334256"/>
            <a:ext cx="216781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FFFFFF"/>
                </a:solidFill>
                <a:latin typeface="Noto Sans KR DemiLight"/>
                <a:ea typeface="Noto Sans KR DemiLight"/>
              </a:rPr>
              <a:t>사진을 압축 없이 생성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63762" y="4334256"/>
            <a:ext cx="216781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FFFFFF"/>
                </a:solidFill>
                <a:latin typeface="Noto Sans KR DemiLight"/>
                <a:ea typeface="Noto Sans KR DemiLight"/>
              </a:rPr>
              <a:t>옷 사진을 변형해 합성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22960" y="4718304"/>
            <a:ext cx="10545775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822960" y="4855464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spc="40">
                <a:solidFill>
                  <a:srgbClr val="5A5A5E"/>
                </a:solidFill>
                <a:latin typeface="Noto Sans KR Medium"/>
                <a:ea typeface="Noto Sans KR Medium"/>
              </a:rPr>
              <a:t>장점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48840" y="4846320"/>
            <a:ext cx="216781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FFFFFF"/>
                </a:solidFill>
                <a:latin typeface="Noto Sans KR DemiLight"/>
                <a:ea typeface="Noto Sans KR DemiLight"/>
              </a:rPr>
              <a:t>적은 메모리로 실행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53814" y="4846320"/>
            <a:ext cx="216781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FFFFFF"/>
                </a:solidFill>
                <a:latin typeface="Noto Sans KR DemiLight"/>
                <a:ea typeface="Noto Sans KR DemiLight"/>
              </a:rPr>
              <a:t>옷 디테일 보존 우수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58788" y="4846320"/>
            <a:ext cx="216781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FFFFFF"/>
                </a:solidFill>
                <a:latin typeface="Noto Sans KR DemiLight"/>
                <a:ea typeface="Noto Sans KR DemiLight"/>
              </a:rPr>
              <a:t>상업적 사용 가능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63762" y="4846320"/>
            <a:ext cx="216781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FFFFFF"/>
                </a:solidFill>
                <a:latin typeface="Noto Sans KR DemiLight"/>
                <a:ea typeface="Noto Sans KR DemiLight"/>
              </a:rPr>
              <a:t>빠르고 가벼움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22960" y="5230368"/>
            <a:ext cx="10545775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22960" y="5367528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spc="40">
                <a:solidFill>
                  <a:srgbClr val="5A5A5E"/>
                </a:solidFill>
                <a:latin typeface="Noto Sans KR Medium"/>
                <a:ea typeface="Noto Sans KR Medium"/>
              </a:rPr>
              <a:t>단점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48840" y="5358384"/>
            <a:ext cx="216781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FFFFFF"/>
                </a:solidFill>
                <a:latin typeface="Noto Sans KR DemiLight"/>
                <a:ea typeface="Noto Sans KR DemiLight"/>
              </a:rPr>
              <a:t>작은 프린트가 흐려짐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453814" y="5358384"/>
            <a:ext cx="216781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FFFFFF"/>
                </a:solidFill>
                <a:latin typeface="Noto Sans KR DemiLight"/>
                <a:ea typeface="Noto Sans KR DemiLight"/>
              </a:rPr>
              <a:t>무겁고 느림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758788" y="5358384"/>
            <a:ext cx="216781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FFFFFF"/>
                </a:solidFill>
                <a:latin typeface="Noto Sans KR DemiLight"/>
                <a:ea typeface="Noto Sans KR DemiLight"/>
              </a:rPr>
              <a:t>결과 해상도가 낮음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63762" y="5358384"/>
            <a:ext cx="216781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FFFFFF"/>
                </a:solidFill>
                <a:latin typeface="Noto Sans KR DemiLight"/>
                <a:ea typeface="Noto Sans KR DemiLight"/>
              </a:rPr>
              <a:t>흰 배경 사진 위주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822960" y="5742432"/>
            <a:ext cx="10545775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>
            <a:cxnSpLocks/>
          </p:cNvCxnSpPr>
          <p:nvPr/>
        </p:nvCxnSpPr>
        <p:spPr>
          <a:xfrm>
            <a:off x="8954034" y="2468880"/>
            <a:ext cx="0" cy="3273552"/>
          </a:xfrm>
          <a:prstGeom prst="line">
            <a:avLst/>
          </a:prstGeom>
          <a:ln w="12700">
            <a:solidFill>
              <a:srgbClr val="5A5A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2124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13232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90">
                <a:solidFill>
                  <a:srgbClr val="98989E"/>
                </a:solidFill>
                <a:latin typeface="Noto Sans KR Medium"/>
                <a:ea typeface="Noto Sans KR Medium"/>
              </a:rPr>
              <a:t>진행 계획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4577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>
                <a:solidFill>
                  <a:srgbClr val="FFFFFF"/>
                </a:solidFill>
                <a:latin typeface="Noto Sans KR Light"/>
                <a:ea typeface="Noto Sans KR Light"/>
              </a:rPr>
              <a:t>언제까지 무엇을 끝내는가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926080"/>
            <a:ext cx="10545775" cy="0"/>
          </a:xfrm>
          <a:prstGeom prst="line">
            <a:avLst/>
          </a:prstGeom>
          <a:ln w="19050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240280"/>
            <a:ext cx="2362124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dirty="0">
                <a:solidFill>
                  <a:srgbClr val="FFFFFF"/>
                </a:solidFill>
                <a:latin typeface="Noto Sans KR Light"/>
                <a:ea typeface="Noto Sans KR Light"/>
              </a:rPr>
              <a:t>9월</a:t>
            </a:r>
            <a:r>
              <a:rPr sz="1100" dirty="0">
                <a:solidFill>
                  <a:srgbClr val="30D158"/>
                </a:solidFill>
                <a:latin typeface="Noto Sans KR Medium"/>
                <a:ea typeface="Noto Sans KR Medium"/>
              </a:rPr>
              <a:t>   </a:t>
            </a:r>
            <a:r>
              <a:rPr lang="ko-KR" altLang="en-US" sz="1100" dirty="0">
                <a:solidFill>
                  <a:srgbClr val="30D158"/>
                </a:solidFill>
                <a:latin typeface="Noto Sans KR Medium"/>
                <a:ea typeface="Noto Sans KR Medium"/>
              </a:rPr>
              <a:t>지금</a:t>
            </a:r>
            <a:endParaRPr sz="1100" dirty="0">
              <a:solidFill>
                <a:srgbClr val="30D158"/>
              </a:solidFill>
              <a:latin typeface="Noto Sans KR Medium"/>
              <a:ea typeface="Noto Sans KR Medium"/>
            </a:endParaRPr>
          </a:p>
        </p:txBody>
      </p:sp>
      <p:sp>
        <p:nvSpPr>
          <p:cNvPr id="6" name="Oval 5"/>
          <p:cNvSpPr/>
          <p:nvPr/>
        </p:nvSpPr>
        <p:spPr>
          <a:xfrm>
            <a:off x="822960" y="2843784"/>
            <a:ext cx="164592" cy="164592"/>
          </a:xfrm>
          <a:prstGeom prst="ellipse">
            <a:avLst/>
          </a:prstGeom>
          <a:solidFill>
            <a:srgbClr val="30D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3200400"/>
            <a:ext cx="23621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dirty="0" err="1">
                <a:solidFill>
                  <a:srgbClr val="FFFFFF"/>
                </a:solidFill>
                <a:latin typeface="Noto Sans KR"/>
                <a:ea typeface="Noto Sans KR"/>
              </a:rPr>
              <a:t>조사</a:t>
            </a:r>
            <a:r>
              <a:rPr sz="1700" dirty="0">
                <a:solidFill>
                  <a:srgbClr val="FFFFFF"/>
                </a:solidFill>
                <a:latin typeface="Noto Sans KR"/>
                <a:ea typeface="Noto Sans KR"/>
              </a:rPr>
              <a:t> · </a:t>
            </a:r>
            <a:r>
              <a:rPr sz="1700" dirty="0" err="1">
                <a:solidFill>
                  <a:srgbClr val="FFFFFF"/>
                </a:solidFill>
                <a:latin typeface="Noto Sans KR"/>
                <a:ea typeface="Noto Sans KR"/>
              </a:rPr>
              <a:t>설계</a:t>
            </a:r>
            <a:endParaRPr sz="1700" dirty="0">
              <a:solidFill>
                <a:srgbClr val="FFFFFF"/>
              </a:solidFill>
              <a:latin typeface="Noto Sans KR"/>
              <a:ea typeface="Noto Sans K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3703320"/>
            <a:ext cx="2362124" cy="774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·  </a:t>
            </a:r>
            <a:r>
              <a:rPr sz="125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관련</a:t>
            </a:r>
            <a:r>
              <a:rPr sz="125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25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연구</a:t>
            </a:r>
            <a:r>
              <a:rPr sz="125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· </a:t>
            </a:r>
            <a:r>
              <a:rPr sz="125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모델</a:t>
            </a:r>
            <a:r>
              <a:rPr sz="125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25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조사</a:t>
            </a:r>
            <a:endParaRPr sz="1250" dirty="0">
              <a:solidFill>
                <a:srgbClr val="98989E"/>
              </a:solidFill>
              <a:latin typeface="Noto Sans KR DemiLight"/>
              <a:ea typeface="Noto Sans KR DemiLight"/>
            </a:endParaRP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·  </a:t>
            </a:r>
            <a:r>
              <a:rPr sz="125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모델</a:t>
            </a:r>
            <a:r>
              <a:rPr sz="125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25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후보</a:t>
            </a:r>
            <a:r>
              <a:rPr sz="125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4종 </a:t>
            </a:r>
            <a:r>
              <a:rPr sz="125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선정</a:t>
            </a:r>
            <a:endParaRPr sz="1250" dirty="0">
              <a:solidFill>
                <a:srgbClr val="98989E"/>
              </a:solidFill>
              <a:latin typeface="Noto Sans KR DemiLight"/>
              <a:ea typeface="Noto Sans KR DemiLight"/>
            </a:endParaRP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lang="en-US" altLang="ko-KR" sz="125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·</a:t>
            </a:r>
            <a:r>
              <a:rPr lang="ko-KR" altLang="en-US" sz="125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 </a:t>
            </a:r>
            <a:r>
              <a:rPr lang="en-US" altLang="ko-KR" sz="125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UI</a:t>
            </a:r>
            <a:r>
              <a:rPr lang="ko-KR" altLang="en-US" sz="125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설계</a:t>
            </a:r>
            <a:endParaRPr sz="1250" dirty="0">
              <a:solidFill>
                <a:srgbClr val="98989E"/>
              </a:solidFill>
              <a:latin typeface="Noto Sans KR DemiLight"/>
              <a:ea typeface="Noto Sans KR DemiLight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22960" y="5029200"/>
            <a:ext cx="2362124" cy="457200"/>
          </a:xfrm>
          <a:prstGeom prst="roundRect">
            <a:avLst>
              <a:gd name="adj" fmla="val 20000"/>
            </a:avLst>
          </a:prstGeom>
          <a:solidFill>
            <a:srgbClr val="1E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5029200"/>
            <a:ext cx="236212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>
                <a:solidFill>
                  <a:srgbClr val="30D158"/>
                </a:solidFill>
                <a:latin typeface="Noto Sans KR"/>
                <a:ea typeface="Noto Sans KR"/>
              </a:rPr>
              <a:t>과제 계획서 제출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9404" y="2240280"/>
            <a:ext cx="236212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>
                <a:solidFill>
                  <a:srgbClr val="FFFFFF"/>
                </a:solidFill>
                <a:latin typeface="Noto Sans KR Light"/>
                <a:ea typeface="Noto Sans KR Light"/>
              </a:rPr>
              <a:t>10월</a:t>
            </a:r>
          </a:p>
        </p:txBody>
      </p:sp>
      <p:sp>
        <p:nvSpPr>
          <p:cNvPr id="12" name="Oval 11"/>
          <p:cNvSpPr/>
          <p:nvPr/>
        </p:nvSpPr>
        <p:spPr>
          <a:xfrm>
            <a:off x="3459404" y="2843784"/>
            <a:ext cx="164592" cy="164592"/>
          </a:xfrm>
          <a:prstGeom prst="ellipse">
            <a:avLst/>
          </a:prstGeom>
          <a:solidFill>
            <a:srgbClr val="5A5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59404" y="3200400"/>
            <a:ext cx="23621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>
                <a:solidFill>
                  <a:srgbClr val="FFFFFF"/>
                </a:solidFill>
                <a:latin typeface="Noto Sans KR"/>
                <a:ea typeface="Noto Sans KR"/>
              </a:rPr>
              <a:t>모델 검증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9404" y="3703320"/>
            <a:ext cx="236212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·  </a:t>
            </a:r>
            <a:r>
              <a:rPr sz="125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후보</a:t>
            </a:r>
            <a:r>
              <a:rPr sz="125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4종 </a:t>
            </a:r>
            <a:r>
              <a:rPr sz="125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같은</a:t>
            </a:r>
            <a:r>
              <a:rPr sz="125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25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조건</a:t>
            </a:r>
            <a:r>
              <a:rPr sz="125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25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비교</a:t>
            </a:r>
            <a:endParaRPr sz="1250" dirty="0">
              <a:solidFill>
                <a:srgbClr val="98989E"/>
              </a:solidFill>
              <a:latin typeface="Noto Sans KR DemiLight"/>
              <a:ea typeface="Noto Sans KR DemiLight"/>
            </a:endParaRP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·  </a:t>
            </a:r>
            <a:r>
              <a:rPr sz="125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휴대폰</a:t>
            </a:r>
            <a:r>
              <a:rPr sz="125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25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사진으로</a:t>
            </a:r>
            <a:r>
              <a:rPr sz="125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25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검증</a:t>
            </a:r>
            <a:endParaRPr sz="1250" dirty="0">
              <a:solidFill>
                <a:srgbClr val="98989E"/>
              </a:solidFill>
              <a:latin typeface="Noto Sans KR DemiLight"/>
              <a:ea typeface="Noto Sans KR DemiLight"/>
            </a:endParaRP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·  </a:t>
            </a:r>
            <a:r>
              <a:rPr sz="125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치수표</a:t>
            </a:r>
            <a:r>
              <a:rPr sz="125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25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데이터</a:t>
            </a:r>
            <a:r>
              <a:rPr sz="125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25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수집</a:t>
            </a:r>
            <a:endParaRPr sz="1250" dirty="0">
              <a:solidFill>
                <a:srgbClr val="98989E"/>
              </a:solidFill>
              <a:latin typeface="Noto Sans KR DemiLight"/>
              <a:ea typeface="Noto Sans KR DemiLight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459404" y="5029200"/>
            <a:ext cx="2362124" cy="457200"/>
          </a:xfrm>
          <a:prstGeom prst="roundRect">
            <a:avLst>
              <a:gd name="adj" fmla="val 20000"/>
            </a:avLst>
          </a:prstGeom>
          <a:solidFill>
            <a:srgbClr val="1E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59404" y="5029200"/>
            <a:ext cx="236212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>
                <a:solidFill>
                  <a:srgbClr val="FFFFFF"/>
                </a:solidFill>
                <a:latin typeface="Noto Sans KR"/>
                <a:ea typeface="Noto Sans KR"/>
              </a:rPr>
              <a:t>주력 모델 확정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5848" y="2240280"/>
            <a:ext cx="236212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>
                <a:solidFill>
                  <a:srgbClr val="FFFFFF"/>
                </a:solidFill>
                <a:latin typeface="Noto Sans KR Light"/>
                <a:ea typeface="Noto Sans KR Light"/>
              </a:rPr>
              <a:t>11월</a:t>
            </a:r>
          </a:p>
        </p:txBody>
      </p:sp>
      <p:sp>
        <p:nvSpPr>
          <p:cNvPr id="18" name="Oval 17"/>
          <p:cNvSpPr/>
          <p:nvPr/>
        </p:nvSpPr>
        <p:spPr>
          <a:xfrm>
            <a:off x="6095848" y="2843784"/>
            <a:ext cx="164592" cy="164592"/>
          </a:xfrm>
          <a:prstGeom prst="ellipse">
            <a:avLst/>
          </a:prstGeom>
          <a:solidFill>
            <a:srgbClr val="5A5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95848" y="3200400"/>
            <a:ext cx="23621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>
                <a:solidFill>
                  <a:srgbClr val="FFFFFF"/>
                </a:solidFill>
                <a:latin typeface="Noto Sans KR"/>
                <a:ea typeface="Noto Sans KR"/>
              </a:rPr>
              <a:t>구현 · 통합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5848" y="3703320"/>
            <a:ext cx="2362124" cy="774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·  </a:t>
            </a:r>
            <a:r>
              <a:rPr sz="125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사이즈</a:t>
            </a:r>
            <a:r>
              <a:rPr sz="125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25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추천</a:t>
            </a:r>
            <a:r>
              <a:rPr sz="125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25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로직</a:t>
            </a:r>
            <a:r>
              <a:rPr sz="125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25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구현</a:t>
            </a:r>
            <a:endParaRPr sz="1250" dirty="0">
              <a:solidFill>
                <a:srgbClr val="98989E"/>
              </a:solidFill>
              <a:latin typeface="Noto Sans KR DemiLight"/>
              <a:ea typeface="Noto Sans KR DemiLight"/>
            </a:endParaRP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·  </a:t>
            </a:r>
            <a:r>
              <a:rPr sz="125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합성</a:t>
            </a:r>
            <a:r>
              <a:rPr sz="125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+ </a:t>
            </a:r>
            <a:r>
              <a:rPr sz="125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추천</a:t>
            </a:r>
            <a:r>
              <a:rPr sz="125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25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연결</a:t>
            </a:r>
            <a:endParaRPr sz="1250" dirty="0">
              <a:solidFill>
                <a:srgbClr val="98989E"/>
              </a:solidFill>
              <a:latin typeface="Noto Sans KR DemiLight"/>
              <a:ea typeface="Noto Sans KR DemiLight"/>
            </a:endParaRP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·  </a:t>
            </a:r>
            <a:r>
              <a:rPr lang="en-US" sz="125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UI </a:t>
            </a:r>
            <a:r>
              <a:rPr sz="125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구현</a:t>
            </a:r>
            <a:endParaRPr sz="1250" dirty="0">
              <a:solidFill>
                <a:srgbClr val="98989E"/>
              </a:solidFill>
              <a:latin typeface="Noto Sans KR DemiLight"/>
              <a:ea typeface="Noto Sans KR DemiLight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095848" y="5029200"/>
            <a:ext cx="2362124" cy="457200"/>
          </a:xfrm>
          <a:prstGeom prst="roundRect">
            <a:avLst>
              <a:gd name="adj" fmla="val 20000"/>
            </a:avLst>
          </a:prstGeom>
          <a:solidFill>
            <a:srgbClr val="1E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95848" y="5161620"/>
            <a:ext cx="2362124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dirty="0" err="1">
                <a:solidFill>
                  <a:srgbClr val="FFFFFF"/>
                </a:solidFill>
                <a:latin typeface="Noto Sans KR"/>
                <a:ea typeface="Noto Sans KR"/>
              </a:rPr>
              <a:t>중간발표</a:t>
            </a:r>
            <a:r>
              <a:rPr sz="1250" dirty="0">
                <a:solidFill>
                  <a:srgbClr val="FFFFFF"/>
                </a:solidFill>
                <a:latin typeface="Noto Sans KR"/>
                <a:ea typeface="Noto Sans KR"/>
              </a:rPr>
              <a:t> (11월 </a:t>
            </a:r>
            <a:r>
              <a:rPr lang="ko-KR" altLang="en-US" sz="1250" dirty="0">
                <a:solidFill>
                  <a:srgbClr val="FFFFFF"/>
                </a:solidFill>
                <a:latin typeface="Noto Sans KR"/>
                <a:ea typeface="Noto Sans KR"/>
              </a:rPr>
              <a:t>２일</a:t>
            </a:r>
            <a:r>
              <a:rPr sz="1250" dirty="0">
                <a:solidFill>
                  <a:srgbClr val="FFFFFF"/>
                </a:solidFill>
                <a:latin typeface="Noto Sans KR"/>
                <a:ea typeface="Noto Sans KR"/>
              </a:rPr>
              <a:t>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292" y="2240280"/>
            <a:ext cx="236212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>
                <a:solidFill>
                  <a:srgbClr val="FFFFFF"/>
                </a:solidFill>
                <a:latin typeface="Noto Sans KR Light"/>
                <a:ea typeface="Noto Sans KR Light"/>
              </a:rPr>
              <a:t>12월</a:t>
            </a:r>
          </a:p>
        </p:txBody>
      </p:sp>
      <p:sp>
        <p:nvSpPr>
          <p:cNvPr id="24" name="Oval 23"/>
          <p:cNvSpPr/>
          <p:nvPr/>
        </p:nvSpPr>
        <p:spPr>
          <a:xfrm>
            <a:off x="8732292" y="2843784"/>
            <a:ext cx="164592" cy="164592"/>
          </a:xfrm>
          <a:prstGeom prst="ellipse">
            <a:avLst/>
          </a:prstGeom>
          <a:solidFill>
            <a:srgbClr val="5A5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32292" y="3200400"/>
            <a:ext cx="23621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>
                <a:solidFill>
                  <a:srgbClr val="FFFFFF"/>
                </a:solidFill>
                <a:latin typeface="Noto Sans KR"/>
                <a:ea typeface="Noto Sans KR"/>
              </a:rPr>
              <a:t>평가 · 발표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292" y="3703320"/>
            <a:ext cx="236212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>
                <a:solidFill>
                  <a:srgbClr val="98989E"/>
                </a:solidFill>
                <a:latin typeface="Noto Sans KR DemiLight"/>
                <a:ea typeface="Noto Sans KR DemiLight"/>
              </a:rPr>
              <a:t>·  품질 개선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>
                <a:solidFill>
                  <a:srgbClr val="98989E"/>
                </a:solidFill>
                <a:latin typeface="Noto Sans KR DemiLight"/>
                <a:ea typeface="Noto Sans KR DemiLight"/>
              </a:rPr>
              <a:t>·  사용자 평가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>
                <a:solidFill>
                  <a:srgbClr val="98989E"/>
                </a:solidFill>
                <a:latin typeface="Noto Sans KR DemiLight"/>
                <a:ea typeface="Noto Sans KR DemiLight"/>
              </a:rPr>
              <a:t>·  시연 준비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32292" y="5029200"/>
            <a:ext cx="2362124" cy="457200"/>
          </a:xfrm>
          <a:prstGeom prst="roundRect">
            <a:avLst>
              <a:gd name="adj" fmla="val 20000"/>
            </a:avLst>
          </a:prstGeom>
          <a:solidFill>
            <a:srgbClr val="1E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732292" y="5029200"/>
            <a:ext cx="236212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>
                <a:solidFill>
                  <a:srgbClr val="FFFFFF"/>
                </a:solidFill>
                <a:latin typeface="Noto Sans KR"/>
                <a:ea typeface="Noto Sans KR"/>
              </a:rPr>
              <a:t>최종발표 · 시연</a:t>
            </a:r>
          </a:p>
        </p:txBody>
      </p:sp>
      <p:pic>
        <p:nvPicPr>
          <p:cNvPr id="29" name="Picture 28" descr="fitcheck_wordmark_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645C935F-78D9-CE78-1E22-559EC9214F6C}"/>
              </a:ext>
            </a:extLst>
          </p:cNvPr>
          <p:cNvSpPr txBox="1"/>
          <p:nvPr/>
        </p:nvSpPr>
        <p:spPr>
          <a:xfrm>
            <a:off x="10454335" y="6172200"/>
            <a:ext cx="9144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>
                <a:solidFill>
                  <a:srgbClr val="5A5A5E"/>
                </a:solidFill>
                <a:latin typeface="Noto Sans KR"/>
                <a:ea typeface="Noto Sans KR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3224773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13232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90">
                <a:solidFill>
                  <a:srgbClr val="98989E"/>
                </a:solidFill>
                <a:latin typeface="Noto Sans KR Medium"/>
                <a:ea typeface="Noto Sans KR Medium"/>
              </a:rPr>
              <a:t>우려되는 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4577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>
                <a:solidFill>
                  <a:srgbClr val="FFFFFF"/>
                </a:solidFill>
                <a:latin typeface="Noto Sans KR Light"/>
                <a:ea typeface="Noto Sans KR Light"/>
              </a:rPr>
              <a:t>예상되는 어려움과 대응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94560"/>
            <a:ext cx="10545775" cy="1115568"/>
          </a:xfrm>
          <a:prstGeom prst="roundRect">
            <a:avLst>
              <a:gd name="adj" fmla="val 10000"/>
            </a:avLst>
          </a:prstGeom>
          <a:solidFill>
            <a:srgbClr val="1E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246888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98989E"/>
                </a:solidFill>
                <a:latin typeface="Noto Sans KR Medium"/>
                <a:ea typeface="Noto Sans KR Medium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2432304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>
                <a:solidFill>
                  <a:srgbClr val="FFFFFF"/>
                </a:solidFill>
                <a:latin typeface="Noto Sans KR"/>
                <a:ea typeface="Noto Sans KR"/>
              </a:rPr>
              <a:t>사진 찍는 방식에 따라 결과가 달라진다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852928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98989E"/>
                </a:solidFill>
                <a:latin typeface="Noto Sans KR DemiLight"/>
                <a:ea typeface="Noto Sans KR DemiLight"/>
              </a:rPr>
              <a:t>자세 · 배경 · 조명에 따라 합성 품질이 크게 바뀐다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46888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30D158"/>
                </a:solidFill>
                <a:latin typeface="Noto Sans KR Medium"/>
                <a:ea typeface="Noto Sans KR Medium"/>
              </a:rPr>
              <a:t>대응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450592"/>
            <a:ext cx="368777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>
                <a:solidFill>
                  <a:srgbClr val="FFFFFF"/>
                </a:solidFill>
                <a:latin typeface="Noto Sans KR"/>
                <a:ea typeface="Noto Sans KR"/>
              </a:rPr>
              <a:t>촬영 가이드로 원하는 포즈를 지시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511296"/>
            <a:ext cx="10545775" cy="1115568"/>
          </a:xfrm>
          <a:prstGeom prst="roundRect">
            <a:avLst>
              <a:gd name="adj" fmla="val 10000"/>
            </a:avLst>
          </a:prstGeom>
          <a:solidFill>
            <a:srgbClr val="1E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3785616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98989E"/>
                </a:solidFill>
                <a:latin typeface="Noto Sans KR Medium"/>
                <a:ea typeface="Noto Sans KR Medium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74904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>
                <a:solidFill>
                  <a:srgbClr val="FFFFFF"/>
                </a:solidFill>
                <a:latin typeface="Noto Sans KR"/>
                <a:ea typeface="Noto Sans KR"/>
              </a:rPr>
              <a:t>이미지 생성에 시간이 오래 걸린다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4169664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98989E"/>
                </a:solidFill>
                <a:latin typeface="Noto Sans KR DemiLight"/>
                <a:ea typeface="Noto Sans KR DemiLight"/>
              </a:rPr>
              <a:t>품질 좋은 모델일수록 한 장에 수십 초 이상 걸린다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785616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30D158"/>
                </a:solidFill>
                <a:latin typeface="Noto Sans KR Medium"/>
                <a:ea typeface="Noto Sans KR Medium"/>
              </a:rPr>
              <a:t>대응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3767328"/>
            <a:ext cx="368777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>
                <a:solidFill>
                  <a:srgbClr val="FFFFFF"/>
                </a:solidFill>
                <a:latin typeface="Noto Sans KR"/>
                <a:ea typeface="Noto Sans KR"/>
              </a:rPr>
              <a:t>더 좋은 GPU 채택 · 모델 경량화 추진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828032"/>
            <a:ext cx="10545775" cy="1115568"/>
          </a:xfrm>
          <a:prstGeom prst="roundRect">
            <a:avLst>
              <a:gd name="adj" fmla="val 10000"/>
            </a:avLst>
          </a:prstGeom>
          <a:solidFill>
            <a:srgbClr val="1E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88720" y="5102352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98989E"/>
                </a:solidFill>
                <a:latin typeface="Noto Sans KR Medium"/>
                <a:ea typeface="Noto Sans KR Medium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5065776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>
                <a:solidFill>
                  <a:srgbClr val="FFFFFF"/>
                </a:solidFill>
                <a:latin typeface="Noto Sans KR"/>
                <a:ea typeface="Noto Sans KR"/>
              </a:rPr>
              <a:t>결과 품질을 일정하게 유지하기 어렵다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548640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98989E"/>
                </a:solidFill>
                <a:latin typeface="Noto Sans KR DemiLight"/>
                <a:ea typeface="Noto Sans KR DemiLight"/>
              </a:rPr>
              <a:t>같은 입력으로도 결과가 매번 조금씩 달라진다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5102352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30D158"/>
                </a:solidFill>
                <a:latin typeface="Noto Sans KR Medium"/>
                <a:ea typeface="Noto Sans KR Medium"/>
              </a:rPr>
              <a:t>대응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5084064"/>
            <a:ext cx="368777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>
                <a:solidFill>
                  <a:srgbClr val="FFFFFF"/>
                </a:solidFill>
                <a:latin typeface="Noto Sans KR"/>
                <a:ea typeface="Noto Sans KR"/>
              </a:rPr>
              <a:t>기준으로 점검하고, 여러 장 중 최선을 선택</a:t>
            </a:r>
          </a:p>
        </p:txBody>
      </p:sp>
      <p:pic>
        <p:nvPicPr>
          <p:cNvPr id="22" name="Picture 21" descr="fitcheck_wordmark_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763D6D3-ED55-A9FD-A328-3235049176CA}"/>
              </a:ext>
            </a:extLst>
          </p:cNvPr>
          <p:cNvSpPr txBox="1"/>
          <p:nvPr/>
        </p:nvSpPr>
        <p:spPr>
          <a:xfrm>
            <a:off x="10454335" y="6172200"/>
            <a:ext cx="9144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 dirty="0">
                <a:solidFill>
                  <a:srgbClr val="5A5A5E"/>
                </a:solidFill>
                <a:latin typeface="Noto Sans KR"/>
                <a:ea typeface="Noto Sans KR"/>
              </a:rPr>
              <a:t>1</a:t>
            </a:r>
            <a:r>
              <a:rPr lang="en-US" sz="1050" spc="80" dirty="0">
                <a:solidFill>
                  <a:srgbClr val="5A5A5E"/>
                </a:solidFill>
                <a:latin typeface="Noto Sans KR"/>
                <a:ea typeface="Noto Sans KR"/>
              </a:rPr>
              <a:t>2</a:t>
            </a:r>
            <a:endParaRPr sz="1050" spc="80" dirty="0">
              <a:solidFill>
                <a:srgbClr val="5A5A5E"/>
              </a:solidFill>
              <a:latin typeface="Noto Sans KR"/>
              <a:ea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4706916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606040"/>
            <a:ext cx="1054577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>
                <a:solidFill>
                  <a:srgbClr val="FFFFFF"/>
                </a:solidFill>
                <a:latin typeface="Noto Sans KR Light"/>
                <a:ea typeface="Noto Sans KR Light"/>
              </a:rPr>
              <a:t>감사합니다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611880"/>
            <a:ext cx="105457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spc="120">
                <a:solidFill>
                  <a:srgbClr val="98989E"/>
                </a:solidFill>
                <a:latin typeface="Noto Sans KR DemiLight"/>
                <a:ea typeface="Noto Sans KR DemiLight"/>
              </a:rPr>
              <a:t>Q  &amp;  A</a:t>
            </a:r>
          </a:p>
        </p:txBody>
      </p:sp>
      <p:pic>
        <p:nvPicPr>
          <p:cNvPr id="4" name="Picture 3" descr="fitcheck_lockup_v_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4364" y="4617720"/>
            <a:ext cx="1022966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8511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13232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90">
                <a:solidFill>
                  <a:srgbClr val="98989E"/>
                </a:solidFill>
                <a:latin typeface="Noto Sans KR Medium"/>
                <a:ea typeface="Noto Sans KR Medium"/>
              </a:rPr>
              <a:t>APPENDIX  ·  참고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5A5A5E"/>
                </a:solidFill>
                <a:latin typeface="Noto Sans KR Medium"/>
                <a:ea typeface="Noto Sans KR Medium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234440"/>
            <a:ext cx="10042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FFFFFF"/>
                </a:solidFill>
                <a:latin typeface="Noto Sans KR"/>
                <a:ea typeface="Noto Sans KR"/>
              </a:rPr>
              <a:t>국내 이커머스 반품 약 9억 3,500만 건, 반품 처리 비용 약 4조 6,700억 원 (2023년 추정)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463040"/>
            <a:ext cx="10042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98989E"/>
                </a:solidFill>
                <a:latin typeface="Noto Sans KR DemiLight"/>
                <a:ea typeface="Noto Sans KR DemiLight"/>
              </a:rPr>
              <a:t>머니투데이 (2024. 9. 11.) — 택배 물량 × 반품률 20%(eMarketer)로 산출한 언론 추정치</a:t>
            </a:r>
            <a:r>
              <a:rPr sz="950">
                <a:solidFill>
                  <a:srgbClr val="5A5A5E"/>
                </a:solidFill>
                <a:latin typeface="Noto Sans KR"/>
                <a:ea typeface="Noto Sans KR"/>
              </a:rPr>
              <a:t>   mt.co.kr/living/2024/09/11/2024091022404176342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5A5A5E"/>
                </a:solidFill>
                <a:latin typeface="Noto Sans KR Medium"/>
                <a:ea typeface="Noto Sans KR Medium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783080"/>
            <a:ext cx="10042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FFFFFF"/>
                </a:solidFill>
                <a:latin typeface="Noto Sans KR"/>
                <a:ea typeface="Noto Sans KR"/>
              </a:rPr>
              <a:t>패션 평균 반품률 약 30%, 오프라인의 3배 이상 · 사이즈·핏·색상 문제로 인한 반품 45%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011680"/>
            <a:ext cx="10042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98989E"/>
                </a:solidFill>
                <a:latin typeface="Noto Sans KR DemiLight"/>
                <a:ea typeface="Noto Sans KR DemiLight"/>
              </a:rPr>
              <a:t>물류신문, "성장하는 패션 물류 시장, 경쟁 키워드 '반품'" (2024) — Narvar 소비자 조사 인용</a:t>
            </a:r>
            <a:r>
              <a:rPr sz="950">
                <a:solidFill>
                  <a:srgbClr val="5A5A5E"/>
                </a:solidFill>
                <a:latin typeface="Noto Sans KR"/>
                <a:ea typeface="Noto Sans KR"/>
              </a:rPr>
              <a:t>   klnews.co.kr/news/articleView.html?idxno=312851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5A5A5E"/>
                </a:solidFill>
                <a:latin typeface="Noto Sans KR Medium"/>
                <a:ea typeface="Noto Sans KR Medium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331720"/>
            <a:ext cx="10042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FFFFFF"/>
                </a:solidFill>
                <a:latin typeface="Noto Sans KR"/>
                <a:ea typeface="Noto Sans KR"/>
              </a:rPr>
              <a:t>의류 판매자의 53%가 사이즈·핏을 반품 사유 1순위로 지목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560320"/>
            <a:ext cx="10042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98989E"/>
                </a:solidFill>
                <a:latin typeface="Noto Sans KR DemiLight"/>
                <a:ea typeface="Noto Sans KR DemiLight"/>
              </a:rPr>
              <a:t>Coresight Research (2023) — 업계 보고서 2차 인용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880360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5A5A5E"/>
                </a:solidFill>
                <a:latin typeface="Noto Sans KR Medium"/>
                <a:ea typeface="Noto Sans KR Medium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80360"/>
            <a:ext cx="10042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FFFFFF"/>
                </a:solidFill>
                <a:latin typeface="Noto Sans KR"/>
                <a:ea typeface="Noto Sans KR"/>
              </a:rPr>
              <a:t>화면 속 사이즈와 실제 치수의 차이가 주요 반품 사유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108960"/>
            <a:ext cx="10042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98989E"/>
                </a:solidFill>
                <a:latin typeface="Noto Sans KR DemiLight"/>
                <a:ea typeface="Noto Sans KR DemiLight"/>
              </a:rPr>
              <a:t>김지수 · 나영주 (2020). 패션 온라인 쇼핑몰 유형에 따른 반품이유와 반품물류서비스 만족도. 감성과학, 23(1), 3–16.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29000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5A5A5E"/>
                </a:solidFill>
                <a:latin typeface="Noto Sans KR Medium"/>
                <a:ea typeface="Noto Sans KR Medium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429000"/>
            <a:ext cx="10042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FFFFFF"/>
                </a:solidFill>
                <a:latin typeface="Noto Sans KR"/>
                <a:ea typeface="Noto Sans KR"/>
              </a:rPr>
              <a:t>모델 후보 — CatVTON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657600"/>
            <a:ext cx="10042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98989E"/>
                </a:solidFill>
                <a:latin typeface="Noto Sans KR DemiLight"/>
                <a:ea typeface="Noto Sans KR DemiLight"/>
              </a:rPr>
              <a:t>Chong, Z. et al. (2024). CatVTON: Concatenation Is All You Need for Virtual Try-On with Diffusion Models.</a:t>
            </a:r>
            <a:r>
              <a:rPr sz="950">
                <a:solidFill>
                  <a:srgbClr val="5A5A5E"/>
                </a:solidFill>
                <a:latin typeface="Noto Sans KR"/>
                <a:ea typeface="Noto Sans KR"/>
              </a:rPr>
              <a:t>   arXiv:2407.15886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977640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5A5A5E"/>
                </a:solidFill>
                <a:latin typeface="Noto Sans KR Medium"/>
                <a:ea typeface="Noto Sans KR Medium"/>
              </a:rP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977640"/>
            <a:ext cx="10042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FFFFFF"/>
                </a:solidFill>
                <a:latin typeface="Noto Sans KR"/>
                <a:ea typeface="Noto Sans KR"/>
              </a:rPr>
              <a:t>모델 후보 — IDM-VTON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206240"/>
            <a:ext cx="10042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98989E"/>
                </a:solidFill>
                <a:latin typeface="Noto Sans KR DemiLight"/>
                <a:ea typeface="Noto Sans KR DemiLight"/>
              </a:rPr>
              <a:t>Choi, Y. et al. (2024). Improving Diffusion Models for Authentic Virtual Try-on in the Wild. ECCV 2024.</a:t>
            </a:r>
            <a:r>
              <a:rPr sz="950">
                <a:solidFill>
                  <a:srgbClr val="5A5A5E"/>
                </a:solidFill>
                <a:latin typeface="Noto Sans KR"/>
                <a:ea typeface="Noto Sans KR"/>
              </a:rPr>
              <a:t>   arXiv:2403.05139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526280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5A5A5E"/>
                </a:solidFill>
                <a:latin typeface="Noto Sans KR Medium"/>
                <a:ea typeface="Noto Sans KR Medium"/>
              </a:rPr>
              <a:t>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526280"/>
            <a:ext cx="10042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FFFFFF"/>
                </a:solidFill>
                <a:latin typeface="Noto Sans KR"/>
                <a:ea typeface="Noto Sans KR"/>
              </a:rPr>
              <a:t>모델 후보 — FASHN VTON v1.5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754880"/>
            <a:ext cx="10042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98989E"/>
                </a:solidFill>
                <a:latin typeface="Noto Sans KR DemiLight"/>
                <a:ea typeface="Noto Sans KR DemiLight"/>
              </a:rPr>
              <a:t>FASHN AI. FASHN VTON v1.5: Efficient Maskless Virtual Try-On in Pixel Space (Apache 2.0 공개 모델).</a:t>
            </a:r>
            <a:r>
              <a:rPr sz="950">
                <a:solidFill>
                  <a:srgbClr val="5A5A5E"/>
                </a:solidFill>
                <a:latin typeface="Noto Sans KR"/>
                <a:ea typeface="Noto Sans KR"/>
              </a:rPr>
              <a:t>   github.com/fashn-AI/fashn-vton-1.5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074920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5A5A5E"/>
                </a:solidFill>
                <a:latin typeface="Noto Sans KR Medium"/>
                <a:ea typeface="Noto Sans KR Medium"/>
              </a:rPr>
              <a:t>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5074920"/>
            <a:ext cx="10042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FFFFFF"/>
                </a:solidFill>
                <a:latin typeface="Noto Sans KR"/>
                <a:ea typeface="Noto Sans KR"/>
              </a:rPr>
              <a:t>모델 후보 — HR-VITON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303520"/>
            <a:ext cx="10042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98989E"/>
                </a:solidFill>
                <a:latin typeface="Noto Sans KR DemiLight"/>
                <a:ea typeface="Noto Sans KR DemiLight"/>
              </a:rPr>
              <a:t>Lee, S. et al. (2022). High-Resolution Virtual Try-On with Misalignment and Occlusion-Handled Conditions. ECCV 2022.</a:t>
            </a:r>
            <a:r>
              <a:rPr sz="950">
                <a:solidFill>
                  <a:srgbClr val="5A5A5E"/>
                </a:solidFill>
                <a:latin typeface="Noto Sans KR"/>
                <a:ea typeface="Noto Sans KR"/>
              </a:rPr>
              <a:t>   arXiv:2206.14180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5641848"/>
            <a:ext cx="10042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5A5A5E"/>
                </a:solidFill>
                <a:latin typeface="Noto Sans KR DemiLight"/>
                <a:ea typeface="Noto Sans KR DemiLight"/>
              </a:rPr>
              <a:t>구현 화면은 팀이 직접 제작한 UI 목업이며, 2번 슬라이드 사진은 사이즈 실패 예시로 인용한 온라인 이미지다.</a:t>
            </a:r>
          </a:p>
        </p:txBody>
      </p:sp>
      <p:pic>
        <p:nvPicPr>
          <p:cNvPr id="28" name="Picture 27" descr="fitcheck_wordmark_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0454335" y="6172200"/>
            <a:ext cx="9144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>
                <a:solidFill>
                  <a:srgbClr val="5A5A5E"/>
                </a:solidFill>
                <a:latin typeface="Noto Sans KR"/>
                <a:ea typeface="Noto Sans KR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65424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7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56197A8-B624-44E7-9441-3487B9124806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f6247192-b831-499f-bef3-354168bc77c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506</TotalTime>
  <Words>928</Words>
  <Application>Microsoft Office PowerPoint</Application>
  <PresentationFormat>와이드스크린</PresentationFormat>
  <Paragraphs>220</Paragraphs>
  <Slides>13</Slides>
  <Notes>13</Notes>
  <HiddenSlides>1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0" baseType="lpstr">
      <vt:lpstr>Noto Sans KR</vt:lpstr>
      <vt:lpstr>Noto Sans KR DemiLight</vt:lpstr>
      <vt:lpstr>Noto Sans KR Light</vt:lpstr>
      <vt:lpstr>Noto Sans KR Medium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정지훈</cp:lastModifiedBy>
  <cp:revision>71</cp:revision>
  <dcterms:created xsi:type="dcterms:W3CDTF">2013-01-27T09:14:16Z</dcterms:created>
  <dcterms:modified xsi:type="dcterms:W3CDTF">2026-09-14T10:38:14Z</dcterms:modified>
  <cp:category/>
</cp:coreProperties>
</file>