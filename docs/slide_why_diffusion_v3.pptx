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35초]</a:t>
            </a:r>
          </a:p>
          <a:p/>
          <a:p>
            <a:r>
              <a:t>합성에는 diffusion 모델을 씁니다. 왼쪽 그림처럼 노이즈에서 시작해 조금씩 다듬어 사진을 완성하는 AI입니다.</a:t>
            </a:r>
          </a:p>
          <a:p/>
          <a:p>
            <a:r>
              <a:t>오른쪽은 같은 옷을 입힌 결과입니다. 예전 GAN 방식은 줄무늬가 사라지고 머리카락 주변이 뭉개졌지만, diffusion 방식은 옷의 무늬와 주름까지 자연스럽게 살아 있습니다.</a:t>
            </a:r>
          </a:p>
          <a:p/>
          <a:p>
            <a:r>
              <a:t>대신 속도는 느린데, 여러 장을 만들어 가장 자연스러운 한 장을 고르는 방식으로 보완합니다.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합성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diffusion 모델을 선택한 이유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8" y="2286000"/>
            <a:ext cx="0" cy="393192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86000"/>
            <a:ext cx="486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diffusion 모델이란?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86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노이즈에서 조금씩 다듬어 사진을 만드는 AI</a:t>
            </a:r>
          </a:p>
        </p:txBody>
      </p:sp>
      <p:pic>
        <p:nvPicPr>
          <p:cNvPr id="7" name="Picture 6" descr="diffusion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29000"/>
            <a:ext cx="1037044" cy="1382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노이즈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004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0" name="Picture 9" descr="diffusion_step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748" y="3429000"/>
            <a:ext cx="1037044" cy="1382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7748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윤곽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4792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3" name="Picture 12" descr="diffusion_step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536" y="3429000"/>
            <a:ext cx="1037044" cy="1382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536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형태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580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6" name="Picture 15" descr="diffusion_step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24" y="3429000"/>
            <a:ext cx="1037044" cy="13827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47324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2286000"/>
            <a:ext cx="48614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기존 방식(GAN)과 비교하면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2670048"/>
            <a:ext cx="486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5A5E"/>
                </a:solidFill>
                <a:latin typeface="Noto Sans KR"/>
                <a:ea typeface="Noto Sans KR"/>
              </a:rPr>
              <a:t>같은 옷을 입힌 결과  ·  출처: Choi et al., IDM-VTON (ECCV 2024) Fig. 4</a:t>
            </a:r>
          </a:p>
        </p:txBody>
      </p:sp>
      <p:pic>
        <p:nvPicPr>
          <p:cNvPr id="20" name="Picture 19" descr="gan_vs_diffusion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3017520"/>
            <a:ext cx="1334434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07328" y="4855464"/>
            <a:ext cx="15173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98989E"/>
                </a:solidFill>
                <a:latin typeface="Noto Sans KR"/>
                <a:ea typeface="Noto Sans KR"/>
              </a:rPr>
              <a:t>입력 옷</a:t>
            </a:r>
          </a:p>
        </p:txBody>
      </p:sp>
      <p:pic>
        <p:nvPicPr>
          <p:cNvPr id="22" name="Picture 21" descr="gan_vs_diffusion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354" y="3017520"/>
            <a:ext cx="1326025" cy="1783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06354" y="4855464"/>
            <a:ext cx="150890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98989E"/>
                </a:solidFill>
                <a:latin typeface="Noto Sans KR"/>
                <a:ea typeface="Noto Sans KR"/>
              </a:rPr>
              <a:t>GAN · HR-VITON</a:t>
            </a:r>
          </a:p>
        </p:txBody>
      </p:sp>
      <p:pic>
        <p:nvPicPr>
          <p:cNvPr id="24" name="Picture 23" descr="gan_vs_diffusion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971" y="3017520"/>
            <a:ext cx="1326025" cy="1783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96971" y="4855464"/>
            <a:ext cx="150890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30D158"/>
                </a:solidFill>
                <a:latin typeface="Noto Sans KR"/>
                <a:ea typeface="Noto Sans KR"/>
              </a:rPr>
              <a:t>diffusion · IDM-VTON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6048" y="5230368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2392" y="5230368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diffusion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07328" y="5504688"/>
            <a:ext cx="4861407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07328" y="55595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 Medium"/>
                <a:ea typeface="Noto Sans KR Medium"/>
              </a:rPr>
              <a:t>자연스러움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6048" y="5559552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어색함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2392" y="5559552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자연스러움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8" y="583387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 Medium"/>
                <a:ea typeface="Noto Sans KR Medium"/>
              </a:rPr>
              <a:t>일반 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6048" y="5833872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약함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2392" y="5833872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Noto Sans KR"/>
                <a:ea typeface="Noto Sans KR"/>
              </a:rPr>
              <a:t>강함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61081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 Medium"/>
                <a:ea typeface="Noto Sans KR Medium"/>
              </a:rPr>
              <a:t>속도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6048" y="6108192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빠름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2392" y="6108192"/>
            <a:ext cx="1836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8989E"/>
                </a:solidFill>
                <a:latin typeface="Noto Sans KR DemiLight"/>
                <a:ea typeface="Noto Sans KR DemiLight"/>
              </a:rPr>
              <a:t>느림</a:t>
            </a:r>
          </a:p>
        </p:txBody>
      </p:sp>
      <p:pic>
        <p:nvPicPr>
          <p:cNvPr id="38" name="Picture 37" descr="fitcheck_wordmark_di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